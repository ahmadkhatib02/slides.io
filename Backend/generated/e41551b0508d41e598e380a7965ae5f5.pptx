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0" d="100"/>
          <a:sy n="60" d="100"/>
        </p:scale>
        <p:origin x="1550" y="6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DC24C1A-9EF1-398F-74ED-AF2B9D5CE525}"/>
              </a:ext>
            </a:extLst>
          </p:cNvPr>
          <p:cNvPicPr>
            <a:picLocks noChangeAspect="1"/>
          </p:cNvPicPr>
          <p:nvPr userDrawn="1"/>
        </p:nvPicPr>
        <p:blipFill>
          <a:blip r:embed="rId2">
            <a:alphaModFix amt="60000"/>
            <a:extLst>
              <a:ext uri="{28A0092B-C50C-407E-A947-70E740481C1C}">
                <a14:useLocalDpi xmlns:a14="http://schemas.microsoft.com/office/drawing/2010/main" val="0"/>
              </a:ext>
            </a:extLst>
          </a:blip>
          <a:stretch>
            <a:fillRect/>
          </a:stretch>
        </p:blipFill>
        <p:spPr>
          <a:xfrm>
            <a:off x="0" y="717550"/>
            <a:ext cx="12192000" cy="5422900"/>
          </a:xfrm>
          <a:prstGeom prst="rect">
            <a:avLst/>
          </a:prstGeom>
        </p:spPr>
      </p:pic>
      <p:sp>
        <p:nvSpPr>
          <p:cNvPr id="2" name="Title 1">
            <a:extLst>
              <a:ext uri="{FF2B5EF4-FFF2-40B4-BE49-F238E27FC236}">
                <a16:creationId xmlns:a16="http://schemas.microsoft.com/office/drawing/2014/main" id="{72539291-9158-4961-66E0-092CAC4D507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B4052AF-61FA-8FB2-5815-FBA0E38D522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8FED454-C11E-24C6-BD8C-3AEC5DB77C9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2B208462-C68E-9DF6-14F7-C65ABDCB5C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700A60-94F0-F505-50C0-0F77D3CC2D3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09662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165ED-B947-A6AE-E541-A54EE8EEE2D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A90603B-D49F-733A-66CA-E1E00EB8CF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31EB94-E78F-4A0B-347B-E5A202CFF25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9EAE7A6C-6937-813D-228A-9DA90A64B50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2F556C-0784-17D4-1CA3-992CDCC86A8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3498840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D36DC-2819-DD4E-24E6-F54DD0213F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BA5174E-8694-28AC-A3E3-E30D63D032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E61FA-F231-227A-5270-8D4D6B68B402}"/>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067AC384-093E-95D0-7957-E7BA608255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472E69-FB3F-2B6D-CCF5-2EC59DD5B860}"/>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082021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0AC43-1D13-7B4F-EABB-46B1845B93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C906E18-EBA3-FB64-DD5F-E51C0A9D047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A5041F6-02E7-7F9C-F1A9-07A3A5C233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7F07CBF-4B1E-3700-E17B-A51E153DD8EF}"/>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144749A6-E28E-A4D7-A7DB-04EE12B73C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45B29AF-066D-5EBE-12AF-DBBA6E7EBF5C}"/>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10232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CF180-373D-A466-C965-2A371001DA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CB30AA-2D57-2E15-6EA1-145DBF7B6B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63C7B13-FE4E-BCB1-5DDF-8C3F9193533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47C3BD-0509-313D-B3FE-1C495621083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18FACDC-E06E-1B17-B332-ACE37909B4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C7D328B-1881-1118-C98C-8B4A02E17A16}"/>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8" name="Footer Placeholder 7">
            <a:extLst>
              <a:ext uri="{FF2B5EF4-FFF2-40B4-BE49-F238E27FC236}">
                <a16:creationId xmlns:a16="http://schemas.microsoft.com/office/drawing/2014/main" id="{BABFDD85-AE68-0806-B05F-B59D1F53B27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CD9DF2-A6E7-94E1-AC47-E315B10F64D3}"/>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6760718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F492-1037-F4F0-B483-3448956C8D5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405D18-F262-0FA4-5503-C42C47D81424}"/>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4" name="Footer Placeholder 3">
            <a:extLst>
              <a:ext uri="{FF2B5EF4-FFF2-40B4-BE49-F238E27FC236}">
                <a16:creationId xmlns:a16="http://schemas.microsoft.com/office/drawing/2014/main" id="{EAA87CF0-35E2-EB19-DA54-2829878A252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2686FAC-8BE3-C6A6-1B83-BF2851A53B3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7685972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F6B1AC7-71C1-ABCA-3283-BAEB3E8D34B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3" name="Footer Placeholder 2">
            <a:extLst>
              <a:ext uri="{FF2B5EF4-FFF2-40B4-BE49-F238E27FC236}">
                <a16:creationId xmlns:a16="http://schemas.microsoft.com/office/drawing/2014/main" id="{C909B97C-9896-5DAF-7564-C59F53213C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61EFEF-04A4-C049-3D77-EF342FE377FB}"/>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412079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C305E-0945-F4D5-1B67-346E6420D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66C38CF-DCA2-A75C-D2CC-848455F7BE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064AA46-5F79-87F4-51A3-855F5DB237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7888DB-EE1C-8324-BD8E-996CA5E3EA0C}"/>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BC19833A-A3E2-E8E6-8586-4EA5EE13A4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031E21-7CBC-DEB9-EFD3-8B385244B582}"/>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111044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B4DF0-7ED4-101F-C741-1B20A77D15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539E0D8-4EC6-52A3-173D-2410F54908C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652DB431-72A3-05BD-7786-AA774E3753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62AB7-B53F-7645-C9A3-0CDECE36A7AA}"/>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6" name="Footer Placeholder 5">
            <a:extLst>
              <a:ext uri="{FF2B5EF4-FFF2-40B4-BE49-F238E27FC236}">
                <a16:creationId xmlns:a16="http://schemas.microsoft.com/office/drawing/2014/main" id="{A8B7A183-B586-8D6A-7B5E-15E108F55E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9E04090-CB42-9775-F644-74BBA1246CDD}"/>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2992584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51CC3-5960-0398-968D-6856A59B82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578193-3DCD-0B5A-5C06-44D29BD4BA8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739F56-7084-6025-0027-F2711433C2DD}"/>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880B541-D20E-BC80-FE9E-BC13100AFCD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250DBD1-C7D3-A730-1CAD-572345426DAA}"/>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42101005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06F4185-CDEA-6A9A-97C8-5571F4A0690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DA9C551-A0FA-1542-4865-12B8709579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190D4C-8772-441C-EE94-B536B762D917}"/>
              </a:ext>
            </a:extLst>
          </p:cNvPr>
          <p:cNvSpPr>
            <a:spLocks noGrp="1"/>
          </p:cNvSpPr>
          <p:nvPr>
            <p:ph type="dt" sz="half" idx="10"/>
          </p:nvPr>
        </p:nvSpPr>
        <p:spPr/>
        <p:txBody>
          <a:body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5BD5FC30-7569-6ECF-2930-003F73AE7C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927DD49-1AB1-10FE-4DE2-82812AE9F285}"/>
              </a:ext>
            </a:extLst>
          </p:cNvPr>
          <p:cNvSpPr>
            <a:spLocks noGrp="1"/>
          </p:cNvSpPr>
          <p:nvPr>
            <p:ph type="sldNum" sz="quarter" idx="12"/>
          </p:nvPr>
        </p:nvSpPr>
        <p:spPr/>
        <p:txBody>
          <a:bodyPr/>
          <a:lstStyle/>
          <a:p>
            <a:fld id="{CA98CD80-5438-4D89-B0E3-67EC0E099088}" type="slidenum">
              <a:rPr lang="en-IN" smtClean="0"/>
              <a:t>‹#›</a:t>
            </a:fld>
            <a:endParaRPr lang="en-IN"/>
          </a:p>
        </p:txBody>
      </p:sp>
    </p:spTree>
    <p:extLst>
      <p:ext uri="{BB962C8B-B14F-4D97-AF65-F5344CB8AC3E}">
        <p14:creationId xmlns:p14="http://schemas.microsoft.com/office/powerpoint/2010/main" val="61236203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BE38357-564B-B521-66A2-250517FEB260}"/>
              </a:ext>
            </a:extLst>
          </p:cNvPr>
          <p:cNvPicPr>
            <a:picLocks/>
          </p:cNvPicPr>
          <p:nvPr userDrawn="1"/>
        </p:nvPicPr>
        <p:blipFill>
          <a:blip r:embed="rId13">
            <a:alphaModFix amt="5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5D8FE9BB-C25A-09D5-15C5-72A53640E6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4217DCC-8A06-142D-0E4C-8FF6F3B19C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58403E-AED9-8D8C-B768-9C5E0327A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5F0EAC-318F-40E5-838A-5DE65186082A}" type="datetimeFigureOut">
              <a:rPr lang="en-IN" smtClean="0"/>
              <a:t>27-04-2024</a:t>
            </a:fld>
            <a:endParaRPr lang="en-IN"/>
          </a:p>
        </p:txBody>
      </p:sp>
      <p:sp>
        <p:nvSpPr>
          <p:cNvPr id="5" name="Footer Placeholder 4">
            <a:extLst>
              <a:ext uri="{FF2B5EF4-FFF2-40B4-BE49-F238E27FC236}">
                <a16:creationId xmlns:a16="http://schemas.microsoft.com/office/drawing/2014/main" id="{775788B3-65E8-B40F-4C8C-807B5981E8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80A6B65-51E7-61F0-5F24-71DC685EC2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98CD80-5438-4D89-B0E3-67EC0E099088}" type="slidenum">
              <a:rPr lang="en-IN" smtClean="0"/>
              <a:t>‹#›</a:t>
            </a:fld>
            <a:endParaRPr lang="en-IN"/>
          </a:p>
        </p:txBody>
      </p:sp>
    </p:spTree>
    <p:extLst>
      <p:ext uri="{BB962C8B-B14F-4D97-AF65-F5344CB8AC3E}">
        <p14:creationId xmlns:p14="http://schemas.microsoft.com/office/powerpoint/2010/main" val="1574242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hyperlink" Target="https://github.com/barun-saha/slide-deck-ai/tree/main/icons/png128" TargetMode="External"/><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AI Ethics: Building a Responsible Future with Artificial Intelligence</a:t>
            </a:r>
          </a:p>
        </p:txBody>
      </p:sp>
      <p:sp>
        <p:nvSpPr>
          <p:cNvPr id="3" name="Subtitle 2"/>
          <p:cNvSpPr>
            <a:spLocks noGrp="1"/>
          </p:cNvSpPr>
          <p:nvPr>
            <p:ph type="subTitle" idx="1"/>
          </p:nvPr>
        </p:nvSpPr>
        <p:spPr/>
        <p:txBody>
          <a:bodyPr/>
          <a:lstStyle/>
          <a:p>
            <a:r>
              <a:t>by Myself and SlideDeck AI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Understanding AI Ethics: A Foundation for Responsible Innovation</a:t>
            </a:r>
          </a:p>
        </p:txBody>
      </p:sp>
      <p:sp>
        <p:nvSpPr>
          <p:cNvPr id="3" name="Content Placeholder 2"/>
          <p:cNvSpPr>
            <a:spLocks noGrp="1"/>
          </p:cNvSpPr>
          <p:nvPr>
            <p:ph idx="1"/>
          </p:nvPr>
        </p:nvSpPr>
        <p:spPr/>
        <p:txBody>
          <a:bodyPr/>
          <a:lstStyle/>
          <a:p>
            <a:r>
              <a:rPr i="1"/>
              <a:t>Defining AI Ethics</a:t>
            </a:r>
            <a:r>
              <a:t>: A multidisciplinary field dedicated to ensuring the responsible design, development, deployment, and use of artificial intelligence systems.</a:t>
            </a:r>
          </a:p>
          <a:p>
            <a:pPr/>
            <a:r>
              <a:rPr i="1"/>
              <a:t>Beyond Technical Prowess</a:t>
            </a:r>
            <a:r>
              <a:t>: It's not just about what AI </a:t>
            </a:r>
            <a:r>
              <a:rPr i="1"/>
              <a:t>can</a:t>
            </a:r>
            <a:r>
              <a:t> do, but what it </a:t>
            </a:r>
            <a:r>
              <a:rPr i="1"/>
              <a:t>should</a:t>
            </a:r>
            <a:r>
              <a:t> do, considering its profound societal impact and human implications.</a:t>
            </a:r>
          </a:p>
          <a:p>
            <a:pPr/>
            <a:r>
              <a:rPr i="1"/>
              <a:t>Why it Matters Now</a:t>
            </a:r>
            <a:r>
              <a:t>: The rapid advancement and pervasive integration of AI across all sectors necessitate proactive ethical frameworks to prevent harm, foster public trust, and ensure equitable benefits for all.</a:t>
            </a:r>
          </a:p>
          <a:p>
            <a:pPr/>
            <a:r>
              <a:rPr i="1"/>
              <a:t>Core Objective</a:t>
            </a:r>
            <a:r>
              <a:t>: To align AI development with fundamental human values, rights, and societal well-being, ensuring AI serves humanity rather than undermining it.</a:t>
            </a:r>
          </a:p>
          <a:p>
            <a:pPr/>
            <a:r>
              <a:rPr b="1"/>
              <a:t>Example</a:t>
            </a:r>
            <a:r>
              <a:t>: While an AI might efficiently automate customer service, ethical considerations ensure it doesn't replace human empathy or create inaccessible barriers for certain users.</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AI ethics is crucial for guiding the development and deployment of AI systems to ensure they benefit humanity and uphold fundamental values, moving beyond mere technical capability to societal responsibility.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Core Pillars of Ethical AI</a:t>
            </a:r>
          </a:p>
        </p:txBody>
      </p:sp>
      <p:sp>
        <p:nvSpPr>
          <p:cNvPr id="3" name="Rounded Rectangle 2"/>
          <p:cNvSpPr/>
          <p:nvPr/>
        </p:nvSpPr>
        <p:spPr>
          <a:xfrm>
            <a:off x="1023257" y="2651760"/>
            <a:ext cx="914400" cy="914400"/>
          </a:xfrm>
          <a:prstGeom prst="roundRect">
            <a:avLst/>
          </a:prstGeom>
          <a:solidFill>
            <a:srgbClr val="5F9EA0"/>
          </a:solidFill>
          <a:ln>
            <a:solidFill>
              <a:srgbClr val="5F9E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fairness.png"/>
          <p:cNvPicPr>
            <a:picLocks noChangeAspect="1"/>
          </p:cNvPicPr>
          <p:nvPr/>
        </p:nvPicPr>
        <p:blipFill>
          <a:blip r:embed="rId2"/>
          <a:stretch>
            <a:fillRect/>
          </a:stretch>
        </p:blipFill>
        <p:spPr>
          <a:xfrm>
            <a:off x="1114697" y="2743200"/>
            <a:ext cx="731520" cy="731520"/>
          </a:xfrm>
          <a:prstGeom prst="rect">
            <a:avLst/>
          </a:prstGeom>
        </p:spPr>
      </p:pic>
      <p:sp>
        <p:nvSpPr>
          <p:cNvPr id="5" name="Rounded Rectangle 4"/>
          <p:cNvSpPr/>
          <p:nvPr/>
        </p:nvSpPr>
        <p:spPr>
          <a:xfrm>
            <a:off x="566057"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Fairness &amp; Non-Discrimination</a:t>
            </a:r>
            <a:r>
              <a:rPr>
                <a:solidFill>
                  <a:schemeClr val="tx2"/>
                </a:solidFill>
              </a:rPr>
              <a:t>: Ensuring AI systems treat all individuals and groups equitably, avoiding biased outcomes and preventing discrimination based on protected characteristics.</a:t>
            </a:r>
          </a:p>
        </p:txBody>
      </p:sp>
      <p:sp>
        <p:nvSpPr>
          <p:cNvPr id="6" name="TextBox 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7" name="Rounded Rectangle 6"/>
          <p:cNvSpPr/>
          <p:nvPr/>
        </p:nvSpPr>
        <p:spPr>
          <a:xfrm>
            <a:off x="2869474" y="2651760"/>
            <a:ext cx="914400" cy="914400"/>
          </a:xfrm>
          <a:prstGeom prst="roundRect">
            <a:avLst/>
          </a:prstGeom>
          <a:solidFill>
            <a:srgbClr val="2F4F4F"/>
          </a:solidFill>
          <a:ln>
            <a:solidFill>
              <a:srgbClr val="2F4F4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fairness.png"/>
          <p:cNvPicPr>
            <a:picLocks noChangeAspect="1"/>
          </p:cNvPicPr>
          <p:nvPr/>
        </p:nvPicPr>
        <p:blipFill>
          <a:blip r:embed="rId2"/>
          <a:stretch>
            <a:fillRect/>
          </a:stretch>
        </p:blipFill>
        <p:spPr>
          <a:xfrm>
            <a:off x="2960914" y="2743200"/>
            <a:ext cx="731520" cy="731520"/>
          </a:xfrm>
          <a:prstGeom prst="rect">
            <a:avLst/>
          </a:prstGeom>
        </p:spPr>
      </p:pic>
      <p:sp>
        <p:nvSpPr>
          <p:cNvPr id="9" name="Rounded Rectangle 8"/>
          <p:cNvSpPr/>
          <p:nvPr/>
        </p:nvSpPr>
        <p:spPr>
          <a:xfrm>
            <a:off x="2412274"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Transparency &amp; Explainability</a:t>
            </a:r>
            <a:r>
              <a:rPr>
                <a:solidFill>
                  <a:schemeClr val="tx2"/>
                </a:solidFill>
              </a:rPr>
              <a:t>: Making AI decisions understandable and interpretable to humans, fostering trust, enabling scrutiny, and ensuring accountability for its actions.</a:t>
            </a:r>
          </a:p>
        </p:txBody>
      </p:sp>
      <p:sp>
        <p:nvSpPr>
          <p:cNvPr id="10" name="TextBox 9"/>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1" name="Rounded Rectangle 10"/>
          <p:cNvSpPr/>
          <p:nvPr/>
        </p:nvSpPr>
        <p:spPr>
          <a:xfrm>
            <a:off x="4715691" y="2651760"/>
            <a:ext cx="914400" cy="914400"/>
          </a:xfrm>
          <a:prstGeom prst="roundRect">
            <a:avLst/>
          </a:prstGeom>
          <a:solidFill>
            <a:srgbClr val="556B2F"/>
          </a:solidFill>
          <a:ln>
            <a:solidFill>
              <a:srgbClr val="556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fairness.png"/>
          <p:cNvPicPr>
            <a:picLocks noChangeAspect="1"/>
          </p:cNvPicPr>
          <p:nvPr/>
        </p:nvPicPr>
        <p:blipFill>
          <a:blip r:embed="rId2"/>
          <a:stretch>
            <a:fillRect/>
          </a:stretch>
        </p:blipFill>
        <p:spPr>
          <a:xfrm>
            <a:off x="4807131" y="2743200"/>
            <a:ext cx="731520" cy="731520"/>
          </a:xfrm>
          <a:prstGeom prst="rect">
            <a:avLst/>
          </a:prstGeom>
        </p:spPr>
      </p:pic>
      <p:sp>
        <p:nvSpPr>
          <p:cNvPr id="13" name="Rounded Rectangle 12"/>
          <p:cNvSpPr/>
          <p:nvPr/>
        </p:nvSpPr>
        <p:spPr>
          <a:xfrm>
            <a:off x="4258491"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Accountability &amp; Governance</a:t>
            </a:r>
            <a:r>
              <a:rPr>
                <a:solidFill>
                  <a:schemeClr val="tx2"/>
                </a:solidFill>
              </a:rPr>
              <a:t>: Establishing clear responsibility for AI system outcomes, implementing robust oversight mechanisms, and providing avenues for redress when harm occurs.</a:t>
            </a:r>
          </a:p>
        </p:txBody>
      </p:sp>
      <p:sp>
        <p:nvSpPr>
          <p:cNvPr id="14" name="TextBox 13"/>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5" name="Rounded Rectangle 14"/>
          <p:cNvSpPr/>
          <p:nvPr/>
        </p:nvSpPr>
        <p:spPr>
          <a:xfrm>
            <a:off x="6561908" y="2651760"/>
            <a:ext cx="914400" cy="914400"/>
          </a:xfrm>
          <a:prstGeom prst="roundRect">
            <a:avLst/>
          </a:prstGeom>
          <a:solidFill>
            <a:srgbClr val="5F9EA0"/>
          </a:solidFill>
          <a:ln>
            <a:solidFill>
              <a:srgbClr val="5F9E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folder.png"/>
          <p:cNvPicPr>
            <a:picLocks noChangeAspect="1"/>
          </p:cNvPicPr>
          <p:nvPr/>
        </p:nvPicPr>
        <p:blipFill>
          <a:blip r:embed="rId4"/>
          <a:stretch>
            <a:fillRect/>
          </a:stretch>
        </p:blipFill>
        <p:spPr>
          <a:xfrm>
            <a:off x="6653348" y="2743200"/>
            <a:ext cx="731520" cy="731520"/>
          </a:xfrm>
          <a:prstGeom prst="rect">
            <a:avLst/>
          </a:prstGeom>
        </p:spPr>
      </p:pic>
      <p:sp>
        <p:nvSpPr>
          <p:cNvPr id="17" name="Rounded Rectangle 16"/>
          <p:cNvSpPr/>
          <p:nvPr/>
        </p:nvSpPr>
        <p:spPr>
          <a:xfrm>
            <a:off x="6104708"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Privacy &amp; Data Protection</a:t>
            </a:r>
            <a:r>
              <a:rPr>
                <a:solidFill>
                  <a:schemeClr val="tx2"/>
                </a:solidFill>
              </a:rPr>
              <a:t>: Safeguarding personal data used by AI systems, adhering to stringent privacy regulations (e.g., GDPR), and respecting individual consent and autonomy.</a:t>
            </a:r>
          </a:p>
        </p:txBody>
      </p:sp>
      <p:sp>
        <p:nvSpPr>
          <p:cNvPr id="18" name="TextBox 17"/>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19" name="Rounded Rectangle 18"/>
          <p:cNvSpPr/>
          <p:nvPr/>
        </p:nvSpPr>
        <p:spPr>
          <a:xfrm>
            <a:off x="8408125" y="2651760"/>
            <a:ext cx="914400" cy="914400"/>
          </a:xfrm>
          <a:prstGeom prst="roundRect">
            <a:avLst/>
          </a:prstGeom>
          <a:solidFill>
            <a:srgbClr val="800000"/>
          </a:solidFill>
          <a:ln>
            <a:solidFill>
              <a:srgbClr val="8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lock.png"/>
          <p:cNvPicPr>
            <a:picLocks noChangeAspect="1"/>
          </p:cNvPicPr>
          <p:nvPr/>
        </p:nvPicPr>
        <p:blipFill>
          <a:blip r:embed="rId5"/>
          <a:stretch>
            <a:fillRect/>
          </a:stretch>
        </p:blipFill>
        <p:spPr>
          <a:xfrm>
            <a:off x="8499565" y="2743200"/>
            <a:ext cx="731520" cy="731520"/>
          </a:xfrm>
          <a:prstGeom prst="rect">
            <a:avLst/>
          </a:prstGeom>
        </p:spPr>
      </p:pic>
      <p:sp>
        <p:nvSpPr>
          <p:cNvPr id="21" name="Rounded Rectangle 20"/>
          <p:cNvSpPr/>
          <p:nvPr/>
        </p:nvSpPr>
        <p:spPr>
          <a:xfrm>
            <a:off x="7950925"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Safety &amp; Reliability</a:t>
            </a:r>
            <a:r>
              <a:rPr>
                <a:solidFill>
                  <a:schemeClr val="tx2"/>
                </a:solidFill>
              </a:rPr>
              <a:t>: Designing AI systems to operate securely, predictably, and robustly, minimizing risks of unintended harm, errors, or malicious exploitation.</a:t>
            </a:r>
          </a:p>
        </p:txBody>
      </p:sp>
      <p:sp>
        <p:nvSpPr>
          <p:cNvPr id="22" name="TextBox 21"/>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
        <p:nvSpPr>
          <p:cNvPr id="23" name="Rounded Rectangle 22"/>
          <p:cNvSpPr/>
          <p:nvPr/>
        </p:nvSpPr>
        <p:spPr>
          <a:xfrm>
            <a:off x="10254342" y="2651760"/>
            <a:ext cx="914400" cy="914400"/>
          </a:xfrm>
          <a:prstGeom prst="roundRect">
            <a:avLst/>
          </a:prstGeom>
          <a:solidFill>
            <a:srgbClr val="5F9EA0"/>
          </a:solidFill>
          <a:ln>
            <a:solidFill>
              <a:srgbClr val="5F9EA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currency-bitcoin.png"/>
          <p:cNvPicPr>
            <a:picLocks noChangeAspect="1"/>
          </p:cNvPicPr>
          <p:nvPr/>
        </p:nvPicPr>
        <p:blipFill>
          <a:blip r:embed="rId6"/>
          <a:stretch>
            <a:fillRect/>
          </a:stretch>
        </p:blipFill>
        <p:spPr>
          <a:xfrm>
            <a:off x="10345782" y="2743200"/>
            <a:ext cx="731520" cy="731520"/>
          </a:xfrm>
          <a:prstGeom prst="rect">
            <a:avLst/>
          </a:prstGeom>
        </p:spPr>
      </p:pic>
      <p:sp>
        <p:nvSpPr>
          <p:cNvPr id="25" name="Rounded Rectangle 24"/>
          <p:cNvSpPr/>
          <p:nvPr/>
        </p:nvSpPr>
        <p:spPr>
          <a:xfrm>
            <a:off x="9797142" y="3657600"/>
            <a:ext cx="1828800" cy="1828800"/>
          </a:xfrm>
          <a:prstGeom prst="round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i="1">
                <a:solidFill>
                  <a:schemeClr val="tx2"/>
                </a:solidFill>
              </a:rPr>
              <a:t>Human-Centricity &amp; Control</a:t>
            </a:r>
            <a:r>
              <a:rPr>
                <a:solidFill>
                  <a:schemeClr val="tx2"/>
                </a:solidFill>
              </a:rPr>
              <a:t>: Prioritizing human well-being, autonomy, and dignity, ensuring AI augments human capabilities and maintaining meaningful human oversight over critical AI decisions.</a:t>
            </a:r>
          </a:p>
        </p:txBody>
      </p:sp>
      <p:sp>
        <p:nvSpPr>
          <p:cNvPr id="26" name="TextBox 25"/>
          <p:cNvSpPr txBox="1"/>
          <p:nvPr/>
        </p:nvSpPr>
        <p:spPr>
          <a:xfrm>
            <a:off x="914400" y="6400800"/>
            <a:ext cx="12191999" cy="457200"/>
          </a:xfrm>
          <a:prstGeom prst="rect">
            <a:avLst/>
          </a:prstGeom>
          <a:noFill/>
        </p:spPr>
        <p:txBody>
          <a:bodyPr wrap="none">
            <a:spAutoFit/>
          </a:bodyPr>
          <a:lstStyle/>
          <a:p>
            <a:r>
              <a:rPr sz="1000" u="none">
                <a:hlinkClick r:id="rId3"/>
              </a:rPr>
              <a:t>More icons available in the SlideDeck AI repository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the Ethical Landscape: Key Challenges</a:t>
            </a:r>
          </a:p>
        </p:txBody>
      </p:sp>
      <p:sp>
        <p:nvSpPr>
          <p:cNvPr id="3" name="Text Placeholder 2"/>
          <p:cNvSpPr>
            <a:spLocks noGrp="1"/>
          </p:cNvSpPr>
          <p:nvPr>
            <p:ph type="body" idx="1"/>
          </p:nvPr>
        </p:nvSpPr>
        <p:spPr/>
        <p:txBody>
          <a:bodyPr/>
          <a:lstStyle/>
          <a:p>
            <a:r>
              <a:t>Emerging Ethical Dilemmas</a:t>
            </a:r>
          </a:p>
        </p:txBody>
      </p:sp>
      <p:sp>
        <p:nvSpPr>
          <p:cNvPr id="4" name="Content Placeholder 3"/>
          <p:cNvSpPr>
            <a:spLocks noGrp="1"/>
          </p:cNvSpPr>
          <p:nvPr>
            <p:ph idx="2" sz="half"/>
          </p:nvPr>
        </p:nvSpPr>
        <p:spPr/>
        <p:txBody>
          <a:bodyPr/>
          <a:lstStyle/>
          <a:p>
            <a:r>
              <a:rPr i="1"/>
              <a:t>Algorithmic Bias</a:t>
            </a:r>
            <a:r>
              <a:t>: AI systems inheriting and amplifying biases present in training data, leading to discriminatory outcomes against certain demographic groups.</a:t>
            </a:r>
          </a:p>
          <a:p>
            <a:pPr/>
            <a:r>
              <a:rPr b="1"/>
              <a:t>Example</a:t>
            </a:r>
            <a:r>
              <a:t>: A credit scoring AI trained on historical data might inadvertently penalize applicants from specific socio-economic backgrounds, perpetuating financial inequality.</a:t>
            </a:r>
          </a:p>
          <a:p>
            <a:pPr/>
            <a:r>
              <a:rPr i="1"/>
              <a:t>Lack of Explainability (Black Box Problem)</a:t>
            </a:r>
            <a:r>
              <a:t>: Complex AI models making decisions without clear, human-understandable reasoning, hindering trust and auditing.</a:t>
            </a:r>
          </a:p>
          <a:p>
            <a:pPr/>
            <a:r>
              <a:rPr b="1"/>
              <a:t>Example</a:t>
            </a:r>
            <a:r>
              <a:t>: A medical diagnostic AI provides a diagnosis but cannot articulate </a:t>
            </a:r>
            <a:r>
              <a:rPr i="1"/>
              <a:t>why</a:t>
            </a:r>
            <a:r>
              <a:t> it reached that conclusion, making it difficult for doctors to verify or explain to patients.</a:t>
            </a:r>
          </a:p>
          <a:p>
            <a:pPr/>
            <a:r>
              <a:rPr i="1"/>
              <a:t>Privacy Erosion</a:t>
            </a:r>
            <a:r>
              <a:t>: Extensive data collection and analysis by AI raising significant concerns about surveillance, individual privacy, and the potential for misuse of personal information.</a:t>
            </a:r>
          </a:p>
        </p:txBody>
      </p:sp>
      <p:sp>
        <p:nvSpPr>
          <p:cNvPr id="5" name="Text Placeholder 4"/>
          <p:cNvSpPr>
            <a:spLocks noGrp="1"/>
          </p:cNvSpPr>
          <p:nvPr>
            <p:ph type="body" idx="3" sz="quarter"/>
          </p:nvPr>
        </p:nvSpPr>
        <p:spPr/>
        <p:txBody>
          <a:bodyPr/>
          <a:lstStyle/>
          <a:p>
            <a:r>
              <a:t>Societal &amp; Governance Implications</a:t>
            </a:r>
          </a:p>
        </p:txBody>
      </p:sp>
      <p:sp>
        <p:nvSpPr>
          <p:cNvPr id="6" name="Content Placeholder 5"/>
          <p:cNvSpPr>
            <a:spLocks noGrp="1"/>
          </p:cNvSpPr>
          <p:nvPr>
            <p:ph idx="4" sz="quarter"/>
          </p:nvPr>
        </p:nvSpPr>
        <p:spPr/>
        <p:txBody>
          <a:bodyPr/>
          <a:lstStyle/>
          <a:p>
            <a:r>
              <a:rPr i="1"/>
              <a:t>Job Displacement &amp; Economic Inequality</a:t>
            </a:r>
            <a:r>
              <a:t>: Automation by AI leading to significant shifts in labor markets, potentially exacerbating unemployment and widening the gap between skilled and unskilled workers.</a:t>
            </a:r>
          </a:p>
          <a:p>
            <a:pPr/>
            <a:r>
              <a:rPr i="1"/>
              <a:t>Misinformation &amp; Manipulation</a:t>
            </a:r>
            <a:r>
              <a:t>: AI-generated content (e.g., deepfakes, sophisticated chatbots) used to spread false information, manipulate public opinion, or create realistic but fabricated scenarios.</a:t>
            </a:r>
          </a:p>
          <a:p>
            <a:pPr/>
            <a:r>
              <a:rPr i="1"/>
              <a:t>Autonomous Decision-Making</a:t>
            </a:r>
            <a:r>
              <a:t>: Questions of moral agency, responsibility, and control when AI systems make critical decisions in high-stakes domains like warfare or critical infrastructure without direct human intervention.</a:t>
            </a:r>
          </a:p>
          <a:p>
            <a:pPr/>
            <a:r>
              <a:rPr i="1"/>
              <a:t>Regulatory Lag</a:t>
            </a:r>
            <a:r>
              <a:t>: The pace of AI innovation often outstrips the ability of legal and ethical frameworks to adapt, creating a gap in governance.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Unmasking Bias in AI Systems</a:t>
            </a:r>
          </a:p>
        </p:txBody>
      </p:sp>
      <p:sp>
        <p:nvSpPr>
          <p:cNvPr id="3" name="Content Placeholder 2"/>
          <p:cNvSpPr>
            <a:spLocks noGrp="1"/>
          </p:cNvSpPr>
          <p:nvPr>
            <p:ph idx="1"/>
          </p:nvPr>
        </p:nvSpPr>
        <p:spPr/>
        <p:txBody>
          <a:bodyPr/>
          <a:lstStyle/>
          <a:p>
            <a:r>
              <a:rPr i="1"/>
              <a:t>What is Algorithmic Bias?</a:t>
            </a:r>
            <a:r>
              <a:t>: A systematic and repeatable error in a computer system that creates unfair outcomes, such as favoring one arbitrary group over others, often leading to discriminatory impacts.</a:t>
            </a:r>
          </a:p>
          <a:p>
            <a:pPr/>
            <a:r>
              <a:rPr i="1"/>
              <a:t>Sources of Bias</a:t>
            </a:r>
            <a:r>
              <a:t>:</a:t>
            </a:r>
          </a:p>
          <a:p>
            <a:pPr lvl="1"/>
            <a:r>
              <a:rPr i="1"/>
              <a:t>Data Bias</a:t>
            </a:r>
            <a:r>
              <a:t>: Occurs when the training data used to build AI models reflects historical, societal, or sampling prejudices.</a:t>
            </a:r>
          </a:p>
          <a:p>
            <a:pPr lvl="1"/>
            <a:r>
              <a:rPr b="1"/>
              <a:t>Example</a:t>
            </a:r>
            <a:r>
              <a:t>: A facial recognition system trained predominantly on images of lighter-skinned individuals may exhibit significantly lower accuracy when identifying people with darker skin tones, leading to misidentification or exclusion.</a:t>
            </a:r>
          </a:p>
          <a:p>
            <a:pPr lvl="1"/>
            <a:r>
              <a:rPr i="1"/>
              <a:t>Algorithmic Bias</a:t>
            </a:r>
            <a:r>
              <a:t>: Flaws in the algorithm's design, objective function, or optimization process that inadvertently lead to biased outcomes.</a:t>
            </a:r>
          </a:p>
          <a:p>
            <a:pPr lvl="1"/>
            <a:r>
              <a:rPr i="1"/>
              <a:t>Interaction Bias</a:t>
            </a:r>
            <a:r>
              <a:t>: Bias introduced or amplified through human interaction with the AI system, where user feedback or deployment context reinforces existing prejudices.</a:t>
            </a:r>
          </a:p>
          <a:p>
            <a:pPr/>
            <a:r>
              <a:rPr i="1"/>
              <a:t>Impacts</a:t>
            </a:r>
            <a:r>
              <a:t>: Algorithmic bias can lead to discriminatory practices in critical areas such as credit scoring, criminal justice, healthcare access, employment decisions, and educational opportunities.</a:t>
            </a:r>
          </a:p>
          <a:p>
            <a:pPr/>
            <a:r>
              <a:rPr i="1"/>
              <a:t>Mitigation Strategies</a:t>
            </a:r>
            <a:r>
              <a:t>: Diverse and representative data collection, rigorous bias detection tools, development of fairness-aware algorithms, and continuous auditing and monitoring of AI systems post-deployment.</a:t>
            </a:r>
          </a:p>
        </p:txBody>
      </p:sp>
      <p:sp>
        <p:nvSpPr>
          <p:cNvPr id="4" name="Rounded Rectangle 3"/>
          <p:cNvSpPr/>
          <p:nvPr/>
        </p:nvSpPr>
        <p:spPr>
          <a:xfrm>
            <a:off x="3445565" y="5303520"/>
            <a:ext cx="5300869" cy="1463040"/>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t>Algorithmic bias, often stemming from biased training data, is a critical ethical challenge that can perpetuate and amplify societal inequalities, demanding proactive detection and mitigation strategies throughout the AI lifecycle.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Imperative of Transparency and Explainability</a:t>
            </a:r>
          </a:p>
        </p:txBody>
      </p:sp>
      <p:sp>
        <p:nvSpPr>
          <p:cNvPr id="3" name="Content Placeholder 2"/>
          <p:cNvSpPr>
            <a:spLocks noGrp="1"/>
          </p:cNvSpPr>
          <p:nvPr>
            <p:ph idx="1"/>
          </p:nvPr>
        </p:nvSpPr>
        <p:spPr/>
        <p:txBody>
          <a:bodyPr/>
          <a:lstStyle/>
          <a:p>
            <a:r>
              <a:rPr i="1"/>
              <a:t>Why Explainability Matters</a:t>
            </a:r>
            <a:r>
              <a:t>:</a:t>
            </a:r>
          </a:p>
          <a:p>
            <a:pPr lvl="1"/>
            <a:r>
              <a:rPr i="1"/>
              <a:t>Trust &amp; Acceptance</a:t>
            </a:r>
            <a:r>
              <a:t>: Users are more likely to trust and adopt AI systems if they understand the rationale behind their decisions, fostering confidence and reducing skepticism.</a:t>
            </a:r>
          </a:p>
          <a:p>
            <a:pPr lvl="1"/>
            <a:r>
              <a:rPr i="1"/>
              <a:t>Accountability</a:t>
            </a:r>
            <a:r>
              <a:t>: Essential for auditing, debugging, and assigning responsibility for AI decisions, especially in high-stakes applications where errors can have severe consequences.</a:t>
            </a:r>
          </a:p>
          <a:p>
            <a:pPr lvl="1"/>
            <a:r>
              <a:rPr i="1"/>
              <a:t>Compliance</a:t>
            </a:r>
            <a:r>
              <a:t>: Meeting regulatory requirements, such as the EU's GDPR, which grants individuals a 'right to explanation' regarding automated decisions affecting them.</a:t>
            </a:r>
          </a:p>
          <a:p>
            <a:pPr/>
            <a:r>
              <a:rPr i="1"/>
              <a:t>Transparency vs. Explainability</a:t>
            </a:r>
            <a:r>
              <a:t>:</a:t>
            </a:r>
          </a:p>
          <a:p>
            <a:pPr lvl="1"/>
            <a:r>
              <a:rPr i="1"/>
              <a:t>Transparency</a:t>
            </a:r>
            <a:r>
              <a:t>: Refers to understanding </a:t>
            </a:r>
            <a:r>
              <a:rPr i="1"/>
              <a:t>how</a:t>
            </a:r>
            <a:r>
              <a:t> an AI system works internally, often through open-source code, clear documentation, or understandable architecture.</a:t>
            </a:r>
          </a:p>
          <a:p>
            <a:pPr lvl="1"/>
            <a:r>
              <a:rPr i="1"/>
              <a:t>Explainability (XAI)</a:t>
            </a:r>
            <a:r>
              <a:t>: Focuses on understanding </a:t>
            </a:r>
            <a:r>
              <a:rPr i="1"/>
              <a:t>why</a:t>
            </a:r>
            <a:r>
              <a:t> an AI system made a specific decision in a human-interpretable way, often for a particular input or outcome.</a:t>
            </a:r>
          </a:p>
          <a:p>
            <a:pPr/>
            <a:r>
              <a:rPr i="1"/>
              <a:t>Methods for XAI</a:t>
            </a:r>
            <a:r>
              <a:t>:</a:t>
            </a:r>
          </a:p>
          <a:p>
            <a:pPr lvl="1"/>
            <a:r>
              <a:rPr i="1"/>
              <a:t>Post-hoc Explanations</a:t>
            </a:r>
            <a:r>
              <a:t>: Analyzing a trained 'black box' model's behavior to generate explanations (e.g., LIME, SHAP values that highlight feature importance).</a:t>
            </a:r>
          </a:p>
          <a:p>
            <a:pPr lvl="1"/>
            <a:r>
              <a:rPr i="1"/>
              <a:t>Interpretable Models</a:t>
            </a:r>
            <a:r>
              <a:t>: Using inherently simpler and more transparent models (e.g., decision trees, linear regression) where their performance is sufficient.</a:t>
            </a:r>
          </a:p>
          <a:p>
            <a:pPr/>
            <a:r>
              <a:rPr b="1"/>
              <a:t>Example</a:t>
            </a:r>
            <a:r>
              <a:t>: A bank's AI system denying a loan application should not only state the denial but also provide clear, understandable reasons, such as 'insufficient income based on X' or 'high debt-to-income ratio due to Y', allowing the applicant to understand and potentially appeal.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Ethical AI: A Development Framework</a:t>
            </a:r>
          </a:p>
        </p:txBody>
      </p:sp>
      <p:sp>
        <p:nvSpPr>
          <p:cNvPr id="3" name="Content Placeholder 2"/>
          <p:cNvSpPr>
            <a:spLocks noGrp="1"/>
          </p:cNvSpPr>
          <p:nvPr>
            <p:ph idx="1"/>
          </p:nvPr>
        </p:nvSpPr>
        <p:spPr/>
        <p:txBody>
          <a:bodyPr/>
          <a:lstStyle/>
          <a:p/>
        </p:txBody>
      </p:sp>
      <p:sp>
        <p:nvSpPr>
          <p:cNvPr id="4" name="Pentagon 3"/>
          <p:cNvSpPr/>
          <p:nvPr/>
        </p:nvSpPr>
        <p:spPr>
          <a:xfrm>
            <a:off x="914400" y="171450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rPr i="1"/>
              <a:t>Define Ethical Principles &amp; Goals</a:t>
            </a:r>
            <a:r>
              <a:t>: Establish clear ethical guidelines, values, and objectives at the project's inception, aligning with organizational values, legal requirements, and societal norms. This includes identifying potential risks early.</a:t>
            </a:r>
          </a:p>
        </p:txBody>
      </p:sp>
      <p:sp>
        <p:nvSpPr>
          <p:cNvPr id="5" name="Pentagon 4"/>
          <p:cNvSpPr/>
          <p:nvPr/>
        </p:nvSpPr>
        <p:spPr>
          <a:xfrm>
            <a:off x="1371600" y="258318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rPr i="1"/>
              <a:t>Data Sourcing &amp; Preparation with Care</a:t>
            </a:r>
            <a:r>
              <a:t>: Rigorously audit data for potential biases, ensure diversity and representativeness, implement robust privacy protection measures, and obtain informed consent where necessary.</a:t>
            </a:r>
          </a:p>
        </p:txBody>
      </p:sp>
      <p:sp>
        <p:nvSpPr>
          <p:cNvPr id="6" name="Pentagon 5"/>
          <p:cNvSpPr/>
          <p:nvPr/>
        </p:nvSpPr>
        <p:spPr>
          <a:xfrm>
            <a:off x="1828800" y="345186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rPr i="1"/>
              <a:t>Design &amp; Develop for Fairness &amp; Transparency</a:t>
            </a:r>
            <a:r>
              <a:t>: Incorporate fairness metrics, explainability techniques, and robust testing throughout the model development phase. Prioritize human oversight and control in the design.</a:t>
            </a:r>
          </a:p>
        </p:txBody>
      </p:sp>
      <p:sp>
        <p:nvSpPr>
          <p:cNvPr id="7" name="Pentagon 6"/>
          <p:cNvSpPr/>
          <p:nvPr/>
        </p:nvSpPr>
        <p:spPr>
          <a:xfrm>
            <a:off x="2286000" y="432054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rPr i="1"/>
              <a:t>Deployment with Human Oversight</a:t>
            </a:r>
            <a:r>
              <a:t>: Implement human-in-the-loop mechanisms for critical decisions, ensure clear communication of AI capabilities and limitations to users, and conduct thorough impact assessments before launch.</a:t>
            </a:r>
          </a:p>
        </p:txBody>
      </p:sp>
      <p:sp>
        <p:nvSpPr>
          <p:cNvPr id="8" name="Pentagon 7"/>
          <p:cNvSpPr/>
          <p:nvPr/>
        </p:nvSpPr>
        <p:spPr>
          <a:xfrm>
            <a:off x="2743200" y="518922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rPr i="1"/>
              <a:t>Monitor, Audit &amp; Iterate Continuously</a:t>
            </a:r>
            <a:r>
              <a:t>: Regularly evaluate AI systems post-deployment for performance, bias, ethical compliance, and unintended consequences. Establish feedback loops for continuous improvement and adaptation.</a:t>
            </a:r>
          </a:p>
        </p:txBody>
      </p:sp>
      <p:sp>
        <p:nvSpPr>
          <p:cNvPr id="9" name="Pentagon 8"/>
          <p:cNvSpPr/>
          <p:nvPr/>
        </p:nvSpPr>
        <p:spPr>
          <a:xfrm>
            <a:off x="3200400" y="6057900"/>
            <a:ext cx="8127999" cy="594360"/>
          </a:xfrm>
          <a:prstGeom prst="homePlate">
            <a:avLst/>
          </a:prstGeom>
        </p:spPr>
        <p:style>
          <a:lnRef idx="1">
            <a:schemeClr val="accent1"/>
          </a:lnRef>
          <a:fillRef idx="3">
            <a:schemeClr val="accent1"/>
          </a:fillRef>
          <a:effectRef idx="2">
            <a:schemeClr val="accent1"/>
          </a:effectRef>
          <a:fontRef idx="minor">
            <a:schemeClr val="lt1"/>
          </a:fontRef>
        </p:style>
        <p:txBody>
          <a:bodyPr rtlCol="0" anchor="ctr"/>
          <a:lstStyle/>
          <a:p>
            <a:pPr algn="l"/>
            <a:r>
              <a:rPr i="1"/>
              <a:t>Stakeholder Engagement &amp; Education</a:t>
            </a:r>
            <a:r>
              <a:t>: Involve diverse stakeholders (users, ethicists, legal experts, affected communities) throughout the process and educate users and the public on ethical AI use and its implications.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Global Approaches to AI Ethics Regulation</a:t>
            </a:r>
          </a:p>
        </p:txBody>
      </p:sp>
      <p:sp>
        <p:nvSpPr>
          <p:cNvPr id="3" name="Content Placeholder 2"/>
          <p:cNvSpPr>
            <a:spLocks noGrp="1"/>
          </p:cNvSpPr>
          <p:nvPr>
            <p:ph idx="1"/>
          </p:nvPr>
        </p:nvSpPr>
        <p:spPr/>
        <p:txBody>
          <a:bodyPr/>
          <a:lstStyle/>
          <a:p/>
        </p:txBody>
      </p:sp>
      <p:graphicFrame>
        <p:nvGraphicFramePr>
          <p:cNvPr id="4" name="Table 3"/>
          <p:cNvGraphicFramePr>
            <a:graphicFrameLocks noGrp="1"/>
          </p:cNvGraphicFramePr>
          <p:nvPr/>
        </p:nvGraphicFramePr>
        <p:xfrm>
          <a:off x="838200" y="1825625"/>
          <a:ext cx="10515600" cy="4351338"/>
        </p:xfrm>
        <a:graphic>
          <a:graphicData uri="http://schemas.openxmlformats.org/drawingml/2006/table">
            <a:tbl>
              <a:tblPr firstRow="1" bandRow="1">
                <a:tableStyleId>{5C22544A-7EE6-4342-B048-85BDC9FD1C3A}</a:tableStyleId>
              </a:tblPr>
              <a:tblGrid>
                <a:gridCol w="2628900"/>
                <a:gridCol w="2628900"/>
                <a:gridCol w="2628900"/>
                <a:gridCol w="2628900"/>
              </a:tblGrid>
              <a:tr h="725223">
                <a:tc>
                  <a:txBody>
                    <a:bodyPr/>
                    <a:lstStyle/>
                    <a:p>
                      <a:pPr>
                        <a:defRPr b="1"/>
                      </a:pPr>
                      <a:r>
                        <a:t>Region/Framework</a:t>
                      </a:r>
                    </a:p>
                  </a:txBody>
                  <a:tcPr/>
                </a:tc>
                <a:tc>
                  <a:txBody>
                    <a:bodyPr/>
                    <a:lstStyle/>
                    <a:p>
                      <a:pPr>
                        <a:defRPr b="1"/>
                      </a:pPr>
                      <a:r>
                        <a:t>Key Focus Areas</a:t>
                      </a:r>
                    </a:p>
                  </a:txBody>
                  <a:tcPr/>
                </a:tc>
                <a:tc>
                  <a:txBody>
                    <a:bodyPr/>
                    <a:lstStyle/>
                    <a:p>
                      <a:pPr>
                        <a:defRPr b="1"/>
                      </a:pPr>
                      <a:r>
                        <a:t>Approach</a:t>
                      </a:r>
                    </a:p>
                  </a:txBody>
                  <a:tcPr/>
                </a:tc>
                <a:tc>
                  <a:txBody>
                    <a:bodyPr/>
                    <a:lstStyle/>
                    <a:p>
                      <a:pPr>
                        <a:defRPr b="1"/>
                      </a:pPr>
                      <a:r>
                        <a:t>Status/Examples</a:t>
                      </a:r>
                    </a:p>
                  </a:txBody>
                  <a:tcPr/>
                </a:tc>
              </a:tr>
              <a:tr h="725223">
                <a:tc>
                  <a:txBody>
                    <a:bodyPr/>
                    <a:lstStyle/>
                    <a:p>
                      <a:r>
                        <a:t>European Union (EU AI Act)</a:t>
                      </a:r>
                    </a:p>
                  </a:txBody>
                  <a:tcPr/>
                </a:tc>
                <a:tc>
                  <a:txBody>
                    <a:bodyPr/>
                    <a:lstStyle/>
                    <a:p>
                      <a:r>
                        <a:t>High-risk AI, fundamental rights, safety, transparency</a:t>
                      </a:r>
                    </a:p>
                  </a:txBody>
                  <a:tcPr/>
                </a:tc>
                <a:tc>
                  <a:txBody>
                    <a:bodyPr/>
                    <a:lstStyle/>
                    <a:p>
                      <a:r>
                        <a:t>Risk-based, legally binding, comprehensive</a:t>
                      </a:r>
                    </a:p>
                  </a:txBody>
                  <a:tcPr/>
                </a:tc>
                <a:tc>
                  <a:txBody>
                    <a:bodyPr/>
                    <a:lstStyle/>
                    <a:p>
                      <a:r>
                        <a:t>Draft legislation, expected to be world's first comprehensive AI law.</a:t>
                      </a:r>
                    </a:p>
                  </a:txBody>
                  <a:tcPr/>
                </a:tc>
              </a:tr>
              <a:tr h="725223">
                <a:tc>
                  <a:txBody>
                    <a:bodyPr/>
                    <a:lstStyle/>
                    <a:p>
                      <a:r>
                        <a:t>United States (NIST AI RMF)</a:t>
                      </a:r>
                    </a:p>
                  </a:txBody>
                  <a:tcPr/>
                </a:tc>
                <a:tc>
                  <a:txBody>
                    <a:bodyPr/>
                    <a:lstStyle/>
                    <a:p>
                      <a:r>
                        <a:t>Trustworthy AI, risk management, voluntary standards, explainability</a:t>
                      </a:r>
                    </a:p>
                  </a:txBody>
                  <a:tcPr/>
                </a:tc>
                <a:tc>
                  <a:txBody>
                    <a:bodyPr/>
                    <a:lstStyle/>
                    <a:p>
                      <a:r>
                        <a:t>Voluntary framework, sector-specific guidance, collaboration</a:t>
                      </a:r>
                    </a:p>
                  </a:txBody>
                  <a:tcPr/>
                </a:tc>
                <a:tc>
                  <a:txBody>
                    <a:bodyPr/>
                    <a:lstStyle/>
                    <a:p>
                      <a:r>
                        <a:t>Published framework (2023), ongoing development of best practices.</a:t>
                      </a:r>
                    </a:p>
                  </a:txBody>
                  <a:tcPr/>
                </a:tc>
              </a:tr>
              <a:tr h="725223">
                <a:tc>
                  <a:txBody>
                    <a:bodyPr/>
                    <a:lstStyle/>
                    <a:p>
                      <a:r>
                        <a:t>China (AI Regulations)</a:t>
                      </a:r>
                    </a:p>
                  </a:txBody>
                  <a:tcPr/>
                </a:tc>
                <a:tc>
                  <a:txBody>
                    <a:bodyPr/>
                    <a:lstStyle/>
                    <a:p>
                      <a:r>
                        <a:t>Data security, algorithmic recommendations, deep synthesis, social stability</a:t>
                      </a:r>
                    </a:p>
                  </a:txBody>
                  <a:tcPr/>
                </a:tc>
                <a:tc>
                  <a:txBody>
                    <a:bodyPr/>
                    <a:lstStyle/>
                    <a:p>
                      <a:r>
                        <a:t>Sector-specific, state control, ethical guidelines, rapidly evolving</a:t>
                      </a:r>
                    </a:p>
                  </a:txBody>
                  <a:tcPr/>
                </a:tc>
                <a:tc>
                  <a:txBody>
                    <a:bodyPr/>
                    <a:lstStyle/>
                    <a:p>
                      <a:r>
                        <a:t>Multiple regulations (e.g., Algorithmic Recommendation Management Provisions, Deep Synthesis Rules).</a:t>
                      </a:r>
                    </a:p>
                  </a:txBody>
                  <a:tcPr/>
                </a:tc>
              </a:tr>
              <a:tr h="725223">
                <a:tc>
                  <a:txBody>
                    <a:bodyPr/>
                    <a:lstStyle/>
                    <a:p>
                      <a:r>
                        <a:t>OECD AI Principles</a:t>
                      </a:r>
                    </a:p>
                  </a:txBody>
                  <a:tcPr/>
                </a:tc>
                <a:tc>
                  <a:txBody>
                    <a:bodyPr/>
                    <a:lstStyle/>
                    <a:p>
                      <a:r>
                        <a:t>Inclusive growth, human values, transparency, accountability, robustness, security</a:t>
                      </a:r>
                    </a:p>
                  </a:txBody>
                  <a:tcPr/>
                </a:tc>
                <a:tc>
                  <a:txBody>
                    <a:bodyPr/>
                    <a:lstStyle/>
                    <a:p>
                      <a:r>
                        <a:t>Non-binding principles, international consensus, soft law</a:t>
                      </a:r>
                    </a:p>
                  </a:txBody>
                  <a:tcPr/>
                </a:tc>
                <a:tc>
                  <a:txBody>
                    <a:bodyPr/>
                    <a:lstStyle/>
                    <a:p>
                      <a:r>
                        <a:t>Adopted by 40+ countries, influencing national policies and frameworks.</a:t>
                      </a:r>
                    </a:p>
                  </a:txBody>
                  <a:tcPr/>
                </a:tc>
              </a:tr>
              <a:tr h="725223">
                <a:tc>
                  <a:txBody>
                    <a:bodyPr/>
                    <a:lstStyle/>
                    <a:p>
                      <a:r>
                        <a:t>UNESCO Recommendation on AI Ethics</a:t>
                      </a:r>
                    </a:p>
                  </a:txBody>
                  <a:tcPr/>
                </a:tc>
                <a:tc>
                  <a:txBody>
                    <a:bodyPr/>
                    <a:lstStyle/>
                    <a:p>
                      <a:r>
                        <a:t>Human rights, environmental sustainability, cultural diversity, gender equality</a:t>
                      </a:r>
                    </a:p>
                  </a:txBody>
                  <a:tcPr/>
                </a:tc>
                <a:tc>
                  <a:txBody>
                    <a:bodyPr/>
                    <a:lstStyle/>
                    <a:p>
                      <a:r>
                        <a:t>Global soft law, ethical guidelines, capacity building</a:t>
                      </a:r>
                    </a:p>
                  </a:txBody>
                  <a:tcPr/>
                </a:tc>
                <a:tc>
                  <a:txBody>
                    <a:bodyPr/>
                    <a:lstStyle/>
                    <a:p>
                      <a:r>
                        <a:t>Adopted by 193 member states, promoting global ethical standards.</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Real-World Ethical Dilemmas: Case Studies</a:t>
            </a:r>
          </a:p>
        </p:txBody>
      </p:sp>
      <p:sp>
        <p:nvSpPr>
          <p:cNvPr id="3" name="Content Placeholder 2"/>
          <p:cNvSpPr>
            <a:spLocks noGrp="1"/>
          </p:cNvSpPr>
          <p:nvPr>
            <p:ph idx="1"/>
          </p:nvPr>
        </p:nvSpPr>
        <p:spPr/>
        <p:txBody>
          <a:bodyPr/>
          <a:lstStyle/>
          <a:p>
            <a:r>
              <a:rPr i="1"/>
              <a:t>Case Study 1: Predictive Policing Algorithms</a:t>
            </a:r>
          </a:p>
          <a:p>
            <a:pPr lvl="1"/>
            <a:r>
              <a:rPr i="1"/>
              <a:t>Dilemma</a:t>
            </a:r>
            <a:r>
              <a:t>: AI algorithms used to predict crime hotspots can disproportionately target minority neighborhoods, reinforcing existing biases and leading to over-policing and increased arrests in those areas.</a:t>
            </a:r>
          </a:p>
          <a:p>
            <a:pPr lvl="1"/>
            <a:r>
              <a:rPr i="1"/>
              <a:t>Ethical Concern</a:t>
            </a:r>
            <a:r>
              <a:t>: Fairness, non-discrimination, potential for civil rights violations, and exacerbation of systemic inequalities. The 'black box' nature often makes it hard to challenge.</a:t>
            </a:r>
          </a:p>
          <a:p>
            <a:pPr/>
            <a:r>
              <a:rPr i="1"/>
              <a:t>Case Study 2: AI in Healthcare Diagnostics</a:t>
            </a:r>
          </a:p>
          <a:p>
            <a:pPr lvl="1"/>
            <a:r>
              <a:rPr i="1"/>
              <a:t>Dilemma</a:t>
            </a:r>
            <a:r>
              <a:t>: An AI system diagnosing medical conditions might be highly accurate but lacks transparency, making it difficult for doctors to understand its reasoning or challenge its conclusions, especially if it contradicts human expertise.</a:t>
            </a:r>
          </a:p>
          <a:p>
            <a:pPr lvl="1"/>
            <a:r>
              <a:rPr i="1"/>
              <a:t>Ethical Concern</a:t>
            </a:r>
            <a:r>
              <a:t>: Explainability, accountability for misdiagnosis, patient trust, and the need for meaningful human oversight in critical life-or-death decisions. Data privacy is also a major concern.</a:t>
            </a:r>
          </a:p>
          <a:p>
            <a:pPr/>
            <a:r>
              <a:rPr i="1"/>
              <a:t>Case Study 3: Autonomous Weapons Systems (LAWS)</a:t>
            </a:r>
          </a:p>
          <a:p>
            <a:pPr lvl="1"/>
            <a:r>
              <a:rPr i="1"/>
              <a:t>Dilemma</a:t>
            </a:r>
            <a:r>
              <a:t>: The development of AI-powered weapons that can select and engage targets without human intervention raises profound ethical and legal questions about accountability for harm and the moral implications of delegating life-and-death decisions to machines.</a:t>
            </a:r>
          </a:p>
          <a:p>
            <a:pPr lvl="1"/>
            <a:r>
              <a:rPr i="1"/>
              <a:t>Ethical Concern</a:t>
            </a:r>
            <a:r>
              <a:t>: Human control over lethal force, accountability in warfare, potential for escalation of conflict, and the erosion of human dignity in combat.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Future of AI Ethics: Towards a Human-Centric AI</a:t>
            </a:r>
          </a:p>
        </p:txBody>
      </p:sp>
      <p:sp>
        <p:nvSpPr>
          <p:cNvPr id="3" name="Content Placeholder 2"/>
          <p:cNvSpPr>
            <a:spLocks noGrp="1"/>
          </p:cNvSpPr>
          <p:nvPr>
            <p:ph idx="1"/>
          </p:nvPr>
        </p:nvSpPr>
        <p:spPr/>
        <p:txBody>
          <a:bodyPr/>
          <a:lstStyle/>
          <a:p>
            <a:r>
              <a:rPr i="1"/>
              <a:t>Proactive Ethical Integration</a:t>
            </a:r>
            <a:r>
              <a:t>: Moving beyond reactive problem-solving to embedding ethical considerations from the initial design phase of AI systems, making ethics a core component of innovation.</a:t>
            </a:r>
          </a:p>
          <a:p>
            <a:pPr/>
            <a:r>
              <a:rPr i="1"/>
              <a:t>Interdisciplinary Collaboration</a:t>
            </a:r>
            <a:r>
              <a:t>: The increasing need for ongoing dialogue and collaboration between ethicists, technologists, policymakers, legal experts, social scientists, and civil society to develop holistic solutions.</a:t>
            </a:r>
          </a:p>
          <a:p>
            <a:pPr/>
            <a:r>
              <a:rPr i="1"/>
              <a:t>Global Harmonization</a:t>
            </a:r>
            <a:r>
              <a:t>: Striving for common ethical principles and interoperable regulatory frameworks across borders to effectively manage global AI development and deployment, avoiding a 'race to the bottom'.</a:t>
            </a:r>
          </a:p>
          <a:p>
            <a:pPr/>
            <a:r>
              <a:rPr i="1"/>
              <a:t>Continuous Learning &amp; Adaptation</a:t>
            </a:r>
            <a:r>
              <a:t>: AI ethics is an evolving field; frameworks and guidelines must be dynamic, adapting to new technological advancements, unforeseen societal impacts, and changing public values.</a:t>
            </a:r>
          </a:p>
          <a:p>
            <a:pPr/>
            <a:r>
              <a:rPr i="1"/>
              <a:t>Empowering Individuals</a:t>
            </a:r>
            <a:r>
              <a:t>: Ensuring individuals have agency, understanding, and control over how AI impacts their lives, fostering digital literacy and critical thinking about AI.</a:t>
            </a:r>
          </a:p>
          <a:p>
            <a:pPr/>
            <a:r>
              <a:rPr b="1"/>
              <a:t>Example</a:t>
            </a:r>
            <a:r>
              <a:t>: Developing 'AI literacy' programs for the public to understand AI's capabilities, limitations, and ethical implications, fostering informed engagement and responsible use.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 Key Takeaways &amp; Call to Action</a:t>
            </a:r>
          </a:p>
        </p:txBody>
      </p:sp>
      <p:sp>
        <p:nvSpPr>
          <p:cNvPr id="3" name="Picture Placeholder 2"/>
          <p:cNvSpPr>
            <a:spLocks noGrp="1"/>
          </p:cNvSpPr>
          <p:nvPr>
            <p:ph type="pic" idx="1"/>
          </p:nvPr>
        </p:nvSpPr>
        <p:spPr/>
      </p:sp>
      <p:sp>
        <p:nvSpPr>
          <p:cNvPr id="4" name="Text Placeholder 3"/>
          <p:cNvSpPr>
            <a:spLocks noGrp="1"/>
          </p:cNvSpPr>
          <p:nvPr>
            <p:ph type="body" idx="2" sz="half"/>
          </p:nvPr>
        </p:nvSpPr>
        <p:spPr/>
        <p:txBody>
          <a:bodyPr/>
          <a:lstStyle/>
          <a:p>
            <a:r>
              <a:rPr i="1"/>
              <a:t>AI Ethics is Non-Negotiable</a:t>
            </a:r>
            <a:r>
              <a:t>: It is an essential foundation for harnessing AI's transformative potential while mitigating risks and ensuring societal benefit and human well-being.</a:t>
            </a:r>
          </a:p>
          <a:p>
            <a:pPr/>
            <a:r>
              <a:rPr i="1"/>
              <a:t>Multifaceted Challenge</a:t>
            </a:r>
            <a:r>
              <a:t>: Addressing AI ethics requires tackling complex issues like bias, ensuring transparency, establishing clear accountability, and rigorously protecting privacy.</a:t>
            </a:r>
          </a:p>
          <a:p>
            <a:pPr/>
            <a:r>
              <a:rPr i="1"/>
              <a:t>Collaborative Responsibility</a:t>
            </a:r>
            <a:r>
              <a:t>: Governments, industry, academia, and civil society must work together to shape ethical AI development and deployment through shared principles and robust governance.</a:t>
            </a:r>
          </a:p>
          <a:p>
            <a:pPr/>
            <a:r>
              <a:rPr i="1"/>
              <a:t>Continuous Evolution</a:t>
            </a:r>
            <a:r>
              <a:t>: Ethical frameworks must be dynamic and adaptable, continuously evolving to meet the challenges posed by new AI capabilities and changing societal needs.</a:t>
            </a:r>
          </a:p>
          <a:p>
            <a:pPr/>
            <a:r>
              <a:rPr i="1"/>
              <a:t>Call to Action</a:t>
            </a:r>
            <a:r>
              <a:t>: Engage actively in the discourse surrounding AI ethics, advocate for responsible AI practices, and integrate ethical considerations into every stage of AI development, deployment, and use. Let's build an AI future we can all trust.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Thank you!</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TotalTime>
  <Words>0</Words>
  <Application>Microsoft Office PowerPoint</Application>
  <PresentationFormat>Widescreen</PresentationFormat>
  <Paragraphs>0</Paragraphs>
  <Slides>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0</vt:i4>
      </vt:variant>
    </vt:vector>
  </HeadingPairs>
  <TitlesOfParts>
    <vt:vector size="4" baseType="lpstr">
      <vt:lpstr>Arial</vt:lpstr>
      <vt:lpstr>Calibri</vt:lpstr>
      <vt:lpstr>Calibri Light</vt:lpstr>
      <vt:lpstr>Office Theme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Barun Saha</dc:creator>
  <cp:lastModifiedBy>Barun Saha</cp:lastModifiedBy>
  <cp:revision>6</cp:revision>
  <dcterms:created xsi:type="dcterms:W3CDTF">2023-08-26T17:51:03Z</dcterms:created>
  <dcterms:modified xsi:type="dcterms:W3CDTF">2024-04-27T13:52:58Z</dcterms:modified>
</cp:coreProperties>
</file>