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0" d="100"/>
          <a:sy n="60" d="100"/>
        </p:scale>
        <p:origin x="1550" y="6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DC24C1A-9EF1-398F-74ED-AF2B9D5CE525}"/>
              </a:ext>
            </a:extLst>
          </p:cNvPr>
          <p:cNvPicPr>
            <a:picLocks noChangeAspect="1"/>
          </p:cNvPicPr>
          <p:nvPr userDrawn="1"/>
        </p:nvPicPr>
        <p:blipFill>
          <a:blip r:embed="rId2">
            <a:alphaModFix amt="60000"/>
            <a:extLst>
              <a:ext uri="{28A0092B-C50C-407E-A947-70E740481C1C}">
                <a14:useLocalDpi xmlns:a14="http://schemas.microsoft.com/office/drawing/2010/main" val="0"/>
              </a:ext>
            </a:extLst>
          </a:blip>
          <a:stretch>
            <a:fillRect/>
          </a:stretch>
        </p:blipFill>
        <p:spPr>
          <a:xfrm>
            <a:off x="0" y="717550"/>
            <a:ext cx="12192000" cy="5422900"/>
          </a:xfrm>
          <a:prstGeom prst="rect">
            <a:avLst/>
          </a:prstGeom>
        </p:spPr>
      </p:pic>
      <p:sp>
        <p:nvSpPr>
          <p:cNvPr id="2" name="Title 1">
            <a:extLst>
              <a:ext uri="{FF2B5EF4-FFF2-40B4-BE49-F238E27FC236}">
                <a16:creationId xmlns:a16="http://schemas.microsoft.com/office/drawing/2014/main" id="{72539291-9158-4961-66E0-092CAC4D50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4052AF-61FA-8FB2-5815-FBA0E38D52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FED454-C11E-24C6-BD8C-3AEC5DB77C9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2B208462-C68E-9DF6-14F7-C65ABDCB5C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700A60-94F0-F505-50C0-0F77D3CC2D3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09662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165ED-B947-A6AE-E541-A54EE8EEE2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90603B-D49F-733A-66CA-E1E00EB8CF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1EB94-E78F-4A0B-347B-E5A202CFF25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9EAE7A6C-6937-813D-228A-9DA90A64B5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2F556C-0784-17D4-1CA3-992CDCC86A8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3498840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36DC-2819-DD4E-24E6-F54DD0213F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A5174E-8694-28AC-A3E3-E30D63D032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E61FA-F231-227A-5270-8D4D6B68B402}"/>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067AC384-093E-95D0-7957-E7BA608255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472E69-FB3F-2B6D-CCF5-2EC59DD5B86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082021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0AC43-1D13-7B4F-EABB-46B1845B93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906E18-EBA3-FB64-DD5F-E51C0A9D0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5041F6-02E7-7F9C-F1A9-07A3A5C233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F07CBF-4B1E-3700-E17B-A51E153DD8EF}"/>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144749A6-E28E-A4D7-A7DB-04EE12B73C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B29AF-066D-5EBE-12AF-DBBA6E7EBF5C}"/>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10232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CF180-373D-A466-C965-2A371001DA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CB30AA-2D57-2E15-6EA1-145DBF7B6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C7B13-FE4E-BCB1-5DDF-8C3F919353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47C3BD-0509-313D-B3FE-1C49562108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8FACDC-E06E-1B17-B332-ACE37909B4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7D328B-1881-1118-C98C-8B4A02E17A16}"/>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8" name="Footer Placeholder 7">
            <a:extLst>
              <a:ext uri="{FF2B5EF4-FFF2-40B4-BE49-F238E27FC236}">
                <a16:creationId xmlns:a16="http://schemas.microsoft.com/office/drawing/2014/main" id="{BABFDD85-AE68-0806-B05F-B59D1F53B2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CD9DF2-A6E7-94E1-AC47-E315B10F64D3}"/>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76071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F492-1037-F4F0-B483-3448956C8D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405D18-F262-0FA4-5503-C42C47D81424}"/>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4" name="Footer Placeholder 3">
            <a:extLst>
              <a:ext uri="{FF2B5EF4-FFF2-40B4-BE49-F238E27FC236}">
                <a16:creationId xmlns:a16="http://schemas.microsoft.com/office/drawing/2014/main" id="{EAA87CF0-35E2-EB19-DA54-2829878A25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686FAC-8BE3-C6A6-1B83-BF2851A53B3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768597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B1AC7-71C1-ABCA-3283-BAEB3E8D34B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3" name="Footer Placeholder 2">
            <a:extLst>
              <a:ext uri="{FF2B5EF4-FFF2-40B4-BE49-F238E27FC236}">
                <a16:creationId xmlns:a16="http://schemas.microsoft.com/office/drawing/2014/main" id="{C909B97C-9896-5DAF-7564-C59F53213C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61EFEF-04A4-C049-3D77-EF342FE377FB}"/>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41207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C305E-0945-F4D5-1B67-346E6420D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6C38CF-DCA2-A75C-D2CC-848455F7BE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64AA46-5F79-87F4-51A3-855F5DB23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888DB-EE1C-8324-BD8E-996CA5E3EA0C}"/>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BC19833A-A3E2-E8E6-8586-4EA5EE13A4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031E21-7CBC-DEB9-EFD3-8B385244B582}"/>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11044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4DF0-7ED4-101F-C741-1B20A77D15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39E0D8-4EC6-52A3-173D-2410F5490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2DB431-72A3-05BD-7786-AA774E375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62AB7-B53F-7645-C9A3-0CDECE36A7AA}"/>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A8B7A183-B586-8D6A-7B5E-15E108F55E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E04090-CB42-9775-F644-74BBA1246CD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992584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1CC3-5960-0398-968D-6856A59B82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578193-3DCD-0B5A-5C06-44D29BD4B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739F56-7084-6025-0027-F2711433C2D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880B541-D20E-BC80-FE9E-BC13100AFC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50DBD1-C7D3-A730-1CAD-572345426DA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4210100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6F4185-CDEA-6A9A-97C8-5571F4A069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A9C551-A0FA-1542-4865-12B8709579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190D4C-8772-441C-EE94-B536B762D91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BD5FC30-7569-6ECF-2930-003F73AE7C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27DD49-1AB1-10FE-4DE2-82812AE9F285}"/>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6123620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E38357-564B-B521-66A2-250517FEB260}"/>
              </a:ext>
            </a:extLst>
          </p:cNvPr>
          <p:cNvPicPr>
            <a:picLocks/>
          </p:cNvPicPr>
          <p:nvPr userDrawn="1"/>
        </p:nvPicPr>
        <p:blipFill>
          <a:blip r:embed="rId13">
            <a:alphaModFix amt="5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5D8FE9BB-C25A-09D5-15C5-72A53640E6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217DCC-8A06-142D-0E4C-8FF6F3B19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58403E-AED9-8D8C-B768-9C5E0327A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775788B3-65E8-B40F-4C8C-807B5981E8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0A6B65-51E7-61F0-5F24-71DC685EC2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8CD80-5438-4D89-B0E3-67EC0E099088}" type="slidenum">
              <a:rPr lang="en-IN" smtClean="0"/>
              <a:t>‹#›</a:t>
            </a:fld>
            <a:endParaRPr lang="en-IN"/>
          </a:p>
        </p:txBody>
      </p:sp>
    </p:spTree>
    <p:extLst>
      <p:ext uri="{BB962C8B-B14F-4D97-AF65-F5344CB8AC3E}">
        <p14:creationId xmlns:p14="http://schemas.microsoft.com/office/powerpoint/2010/main" val="157424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hyperlink" Target="https://github.com/barun-saha/slide-deck-ai/tree/main/icons/png128" TargetMode="External"/><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Navigating the Moral Compass: An Introduction to AI Ethics</a:t>
            </a:r>
          </a:p>
        </p:txBody>
      </p:sp>
      <p:sp>
        <p:nvSpPr>
          <p:cNvPr id="3" name="Subtitle 2"/>
          <p:cNvSpPr>
            <a:spLocks noGrp="1"/>
          </p:cNvSpPr>
          <p:nvPr>
            <p:ph type="subTitle" idx="1"/>
          </p:nvPr>
        </p:nvSpPr>
        <p:spPr/>
        <p:txBody>
          <a:bodyPr/>
          <a:lstStyle/>
          <a:p>
            <a:r>
              <a:t>by Myself and SlideDeck AI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Navigating the Moral Compass: An Introduction to AI Ethics</a:t>
            </a:r>
          </a:p>
        </p:txBody>
      </p:sp>
      <p:sp>
        <p:nvSpPr>
          <p:cNvPr id="3" name="Content Placeholder 2"/>
          <p:cNvSpPr>
            <a:spLocks noGrp="1"/>
          </p:cNvSpPr>
          <p:nvPr>
            <p:ph idx="1"/>
          </p:nvPr>
        </p:nvSpPr>
        <p:spPr/>
        <p:txBody>
          <a:bodyPr/>
          <a:lstStyle/>
          <a:p>
            <a:r>
              <a:t>Welcome to a critical exploration of </a:t>
            </a:r>
            <a:r>
              <a:rPr i="1"/>
              <a:t>AI Ethics</a:t>
            </a:r>
            <a:r>
              <a:t>, a field paramount to the future of technology and society.</a:t>
            </a:r>
          </a:p>
          <a:p>
            <a:pPr/>
            <a:r>
              <a:t>This presentation will delve into understanding the profound impact of Artificial Intelligence on our world.</a:t>
            </a:r>
          </a:p>
          <a:p>
            <a:pPr/>
            <a:r>
              <a:t>We will explore the foundational principles, significant challenges, and practical solutions for developing and deploying AI responsibly.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Defining AI Ethics: A Foundation for Responsible Innovation</a:t>
            </a:r>
          </a:p>
        </p:txBody>
      </p:sp>
      <p:sp>
        <p:nvSpPr>
          <p:cNvPr id="3" name="Content Placeholder 2"/>
          <p:cNvSpPr>
            <a:spLocks noGrp="1"/>
          </p:cNvSpPr>
          <p:nvPr>
            <p:ph idx="1"/>
          </p:nvPr>
        </p:nvSpPr>
        <p:spPr/>
        <p:txBody>
          <a:bodyPr/>
          <a:lstStyle/>
          <a:p>
            <a:r>
              <a:rPr i="1"/>
              <a:t>AI Ethics</a:t>
            </a:r>
            <a:r>
              <a:t> refers to the set of moral principles and values that guide the design, development, deployment, and use of artificial intelligence systems.</a:t>
            </a:r>
          </a:p>
          <a:p>
            <a:pPr/>
            <a:r>
              <a:t>It addresses the potential societal impacts of AI, both positive and negative, ensuring that technology serves humanity's best interests and aligns with human values.</a:t>
            </a:r>
          </a:p>
          <a:p>
            <a:pPr/>
            <a:r>
              <a:rPr i="1"/>
              <a:t>Scope:</a:t>
            </a:r>
            <a:r>
              <a:t> Encompasses a wide array of issues, from data privacy and algorithmic bias to accountability, human autonomy, and the future of work.</a:t>
            </a:r>
          </a:p>
          <a:p>
            <a:pPr/>
            <a:r>
              <a:rPr i="1"/>
              <a:t>Why it's Crucial:</a:t>
            </a:r>
            <a:r>
              <a:t> As AI becomes increasingly pervasive and integrated into daily life, ethical considerations are paramount to prevent harm, build public trust, and foster sustainable, beneficial innovation.</a:t>
            </a:r>
          </a:p>
          <a:p>
            <a:pPr/>
            <a:r>
              <a:rPr i="1"/>
              <a:t>Example:</a:t>
            </a:r>
            <a:r>
              <a:t> Consider an AI system used for loan applications. Without robust ethical guidelines, it might inadvertently discriminate against certain demographics based on historical data patterns, leading to unfair financial exclusion for qualified individuals.</a:t>
            </a:r>
          </a:p>
        </p:txBody>
      </p:sp>
      <p:sp>
        <p:nvSpPr>
          <p:cNvPr id="4" name="Rounded Rectangle 3"/>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AI Ethics is the essential framework for ensuring AI development aligns with human values and societal well-being, moving beyond mere technical capability to consider moral responsibility.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Principles: Building Trustworthy AI</a:t>
            </a:r>
          </a:p>
        </p:txBody>
      </p:sp>
      <p:sp>
        <p:nvSpPr>
          <p:cNvPr id="3" name="Rounded Rectangle 2"/>
          <p:cNvSpPr/>
          <p:nvPr/>
        </p:nvSpPr>
        <p:spPr>
          <a:xfrm>
            <a:off x="1023257" y="2651760"/>
            <a:ext cx="914400" cy="914400"/>
          </a:xfrm>
          <a:prstGeom prst="roundRect">
            <a:avLst/>
          </a:prstGeom>
          <a:solidFill>
            <a:srgbClr val="4682B4"/>
          </a:solidFill>
          <a:ln>
            <a:solidFill>
              <a:srgbClr val="468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irness.png"/>
          <p:cNvPicPr>
            <a:picLocks noChangeAspect="1"/>
          </p:cNvPicPr>
          <p:nvPr/>
        </p:nvPicPr>
        <p:blipFill>
          <a:blip r:embed="rId2"/>
          <a:stretch>
            <a:fillRect/>
          </a:stretch>
        </p:blipFill>
        <p:spPr>
          <a:xfrm>
            <a:off x="1114697" y="2743200"/>
            <a:ext cx="731520" cy="731520"/>
          </a:xfrm>
          <a:prstGeom prst="rect">
            <a:avLst/>
          </a:prstGeom>
        </p:spPr>
      </p:pic>
      <p:sp>
        <p:nvSpPr>
          <p:cNvPr id="5" name="Rounded Rectangle 4"/>
          <p:cNvSpPr/>
          <p:nvPr/>
        </p:nvSpPr>
        <p:spPr>
          <a:xfrm>
            <a:off x="566057"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Fairness &amp; Non-discrimination:</a:t>
            </a:r>
            <a:r>
              <a:rPr>
                <a:solidFill>
                  <a:schemeClr val="tx2"/>
                </a:solidFill>
              </a:rPr>
              <a:t> Ensuring AI systems treat all individuals and groups equitably, avoiding biased outcomes and promoting equal opportunities.</a:t>
            </a:r>
          </a:p>
        </p:txBody>
      </p:sp>
      <p:sp>
        <p:nvSpPr>
          <p:cNvPr id="6" name="TextBox 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7" name="Rounded Rectangle 6"/>
          <p:cNvSpPr/>
          <p:nvPr/>
        </p:nvSpPr>
        <p:spPr>
          <a:xfrm>
            <a:off x="2869474" y="2651760"/>
            <a:ext cx="914400" cy="914400"/>
          </a:xfrm>
          <a:prstGeom prst="roundRect">
            <a:avLst/>
          </a:prstGeom>
          <a:solidFill>
            <a:srgbClr val="2F4F4F"/>
          </a:solidFill>
          <a:ln>
            <a:solidFill>
              <a:srgbClr val="2F4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irness.png"/>
          <p:cNvPicPr>
            <a:picLocks noChangeAspect="1"/>
          </p:cNvPicPr>
          <p:nvPr/>
        </p:nvPicPr>
        <p:blipFill>
          <a:blip r:embed="rId2"/>
          <a:stretch>
            <a:fillRect/>
          </a:stretch>
        </p:blipFill>
        <p:spPr>
          <a:xfrm>
            <a:off x="2960914" y="2743200"/>
            <a:ext cx="731520" cy="731520"/>
          </a:xfrm>
          <a:prstGeom prst="rect">
            <a:avLst/>
          </a:prstGeom>
        </p:spPr>
      </p:pic>
      <p:sp>
        <p:nvSpPr>
          <p:cNvPr id="9" name="Rounded Rectangle 8"/>
          <p:cNvSpPr/>
          <p:nvPr/>
        </p:nvSpPr>
        <p:spPr>
          <a:xfrm>
            <a:off x="2412274"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Transparency &amp; Explainability:</a:t>
            </a:r>
            <a:r>
              <a:rPr>
                <a:solidFill>
                  <a:schemeClr val="tx2"/>
                </a:solidFill>
              </a:rPr>
              <a:t> Making AI decisions understandable and interpretable to humans, fostering trust, enabling scrutiny, and ensuring accountability.</a:t>
            </a:r>
          </a:p>
        </p:txBody>
      </p:sp>
      <p:sp>
        <p:nvSpPr>
          <p:cNvPr id="10" name="TextBox 9"/>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1" name="Rounded Rectangle 10"/>
          <p:cNvSpPr/>
          <p:nvPr/>
        </p:nvSpPr>
        <p:spPr>
          <a:xfrm>
            <a:off x="4715691" y="2651760"/>
            <a:ext cx="914400" cy="914400"/>
          </a:xfrm>
          <a:prstGeom prst="roundRect">
            <a:avLst/>
          </a:prstGeom>
          <a:solidFill>
            <a:srgbClr val="6A5ACD"/>
          </a:solidFill>
          <a:ln>
            <a:solidFill>
              <a:srgbClr val="6A5A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png"/>
          <p:cNvPicPr>
            <a:picLocks noChangeAspect="1"/>
          </p:cNvPicPr>
          <p:nvPr/>
        </p:nvPicPr>
        <p:blipFill>
          <a:blip r:embed="rId4"/>
          <a:stretch>
            <a:fillRect/>
          </a:stretch>
        </p:blipFill>
        <p:spPr>
          <a:xfrm>
            <a:off x="4807131" y="2743200"/>
            <a:ext cx="731520" cy="731520"/>
          </a:xfrm>
          <a:prstGeom prst="rect">
            <a:avLst/>
          </a:prstGeom>
        </p:spPr>
      </p:pic>
      <p:sp>
        <p:nvSpPr>
          <p:cNvPr id="13" name="Rounded Rectangle 12"/>
          <p:cNvSpPr/>
          <p:nvPr/>
        </p:nvSpPr>
        <p:spPr>
          <a:xfrm>
            <a:off x="4258491"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Privacy &amp; Data Governance:</a:t>
            </a:r>
            <a:r>
              <a:rPr>
                <a:solidFill>
                  <a:schemeClr val="tx2"/>
                </a:solidFill>
              </a:rPr>
              <a:t> Protecting personal data, ensuring secure handling, respecting individual privacy rights, and obtaining informed consent for data use.</a:t>
            </a:r>
          </a:p>
        </p:txBody>
      </p:sp>
      <p:sp>
        <p:nvSpPr>
          <p:cNvPr id="14" name="TextBox 13"/>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5" name="Rounded Rectangle 14"/>
          <p:cNvSpPr/>
          <p:nvPr/>
        </p:nvSpPr>
        <p:spPr>
          <a:xfrm>
            <a:off x="6561908" y="2651760"/>
            <a:ext cx="914400" cy="914400"/>
          </a:xfrm>
          <a:prstGeom prst="roundRect">
            <a:avLst/>
          </a:prstGeom>
          <a:solidFill>
            <a:srgbClr val="2F4F4F"/>
          </a:solidFill>
          <a:ln>
            <a:solidFill>
              <a:srgbClr val="2F4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ock.png"/>
          <p:cNvPicPr>
            <a:picLocks noChangeAspect="1"/>
          </p:cNvPicPr>
          <p:nvPr/>
        </p:nvPicPr>
        <p:blipFill>
          <a:blip r:embed="rId5"/>
          <a:stretch>
            <a:fillRect/>
          </a:stretch>
        </p:blipFill>
        <p:spPr>
          <a:xfrm>
            <a:off x="6653348" y="2743200"/>
            <a:ext cx="731520" cy="731520"/>
          </a:xfrm>
          <a:prstGeom prst="rect">
            <a:avLst/>
          </a:prstGeom>
        </p:spPr>
      </p:pic>
      <p:sp>
        <p:nvSpPr>
          <p:cNvPr id="17" name="Rounded Rectangle 16"/>
          <p:cNvSpPr/>
          <p:nvPr/>
        </p:nvSpPr>
        <p:spPr>
          <a:xfrm>
            <a:off x="6104708"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Safety &amp; Reliability:</a:t>
            </a:r>
            <a:r>
              <a:rPr>
                <a:solidFill>
                  <a:schemeClr val="tx2"/>
                </a:solidFill>
              </a:rPr>
              <a:t> Designing AI systems to be robust, secure, and perform as intended without causing unintended harm or exhibiting unpredictable behavior.</a:t>
            </a:r>
          </a:p>
        </p:txBody>
      </p:sp>
      <p:sp>
        <p:nvSpPr>
          <p:cNvPr id="18" name="TextBox 17"/>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9" name="Rounded Rectangle 18"/>
          <p:cNvSpPr/>
          <p:nvPr/>
        </p:nvSpPr>
        <p:spPr>
          <a:xfrm>
            <a:off x="8408125" y="2651760"/>
            <a:ext cx="914400" cy="914400"/>
          </a:xfrm>
          <a:prstGeom prst="roundRect">
            <a:avLst/>
          </a:prstGeom>
          <a:solidFill>
            <a:srgbClr val="5F9EA0"/>
          </a:solidFill>
          <a:ln>
            <a:solidFill>
              <a:srgbClr val="5F9E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airness.png"/>
          <p:cNvPicPr>
            <a:picLocks noChangeAspect="1"/>
          </p:cNvPicPr>
          <p:nvPr/>
        </p:nvPicPr>
        <p:blipFill>
          <a:blip r:embed="rId2"/>
          <a:stretch>
            <a:fillRect/>
          </a:stretch>
        </p:blipFill>
        <p:spPr>
          <a:xfrm>
            <a:off x="8499565" y="2743200"/>
            <a:ext cx="731520" cy="731520"/>
          </a:xfrm>
          <a:prstGeom prst="rect">
            <a:avLst/>
          </a:prstGeom>
        </p:spPr>
      </p:pic>
      <p:sp>
        <p:nvSpPr>
          <p:cNvPr id="21" name="Rounded Rectangle 20"/>
          <p:cNvSpPr/>
          <p:nvPr/>
        </p:nvSpPr>
        <p:spPr>
          <a:xfrm>
            <a:off x="7950925"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Accountability &amp; Governance:</a:t>
            </a:r>
            <a:r>
              <a:rPr>
                <a:solidFill>
                  <a:schemeClr val="tx2"/>
                </a:solidFill>
              </a:rPr>
              <a:t> Establishing clear responsibility for AI system actions and outcomes, with mechanisms for oversight, redress, and compliance.</a:t>
            </a:r>
          </a:p>
        </p:txBody>
      </p:sp>
      <p:sp>
        <p:nvSpPr>
          <p:cNvPr id="22" name="TextBox 21"/>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23" name="Rounded Rectangle 22"/>
          <p:cNvSpPr/>
          <p:nvPr/>
        </p:nvSpPr>
        <p:spPr>
          <a:xfrm>
            <a:off x="10254342" y="2651760"/>
            <a:ext cx="914400" cy="914400"/>
          </a:xfrm>
          <a:prstGeom prst="roundRect">
            <a:avLst/>
          </a:prstGeom>
          <a:solidFill>
            <a:srgbClr val="800000"/>
          </a:solidFill>
          <a:ln>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rtificial-intelligence-brain.png"/>
          <p:cNvPicPr>
            <a:picLocks noChangeAspect="1"/>
          </p:cNvPicPr>
          <p:nvPr/>
        </p:nvPicPr>
        <p:blipFill>
          <a:blip r:embed="rId6"/>
          <a:stretch>
            <a:fillRect/>
          </a:stretch>
        </p:blipFill>
        <p:spPr>
          <a:xfrm>
            <a:off x="10345782" y="2743200"/>
            <a:ext cx="731520" cy="731520"/>
          </a:xfrm>
          <a:prstGeom prst="rect">
            <a:avLst/>
          </a:prstGeom>
        </p:spPr>
      </p:pic>
      <p:sp>
        <p:nvSpPr>
          <p:cNvPr id="25" name="Rounded Rectangle 24"/>
          <p:cNvSpPr/>
          <p:nvPr/>
        </p:nvSpPr>
        <p:spPr>
          <a:xfrm>
            <a:off x="9797142"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Human Oversight &amp; Control:</a:t>
            </a:r>
            <a:r>
              <a:rPr>
                <a:solidFill>
                  <a:schemeClr val="tx2"/>
                </a:solidFill>
              </a:rPr>
              <a:t> Maintaining meaningful human control over critical AI decisions, preventing full automation in sensitive areas, and preserving human agency.</a:t>
            </a:r>
          </a:p>
        </p:txBody>
      </p:sp>
      <p:sp>
        <p:nvSpPr>
          <p:cNvPr id="26" name="TextBox 2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Imperative of Ethical AI: Shaping a Better Future</a:t>
            </a:r>
          </a:p>
        </p:txBody>
      </p:sp>
      <p:sp>
        <p:nvSpPr>
          <p:cNvPr id="3" name="Content Placeholder 2"/>
          <p:cNvSpPr>
            <a:spLocks noGrp="1"/>
          </p:cNvSpPr>
          <p:nvPr>
            <p:ph idx="1"/>
          </p:nvPr>
        </p:nvSpPr>
        <p:spPr/>
        <p:txBody>
          <a:bodyPr/>
          <a:lstStyle/>
          <a:p>
            <a:r>
              <a:rPr i="1"/>
              <a:t>Mitigating Harm:</a:t>
            </a:r>
            <a:r>
              <a:t> Proactively prevents unintended negative consequences such as discrimination, privacy breaches, job displacement, or the spread of misinformation.</a:t>
            </a:r>
          </a:p>
          <a:p>
            <a:pPr/>
            <a:r>
              <a:rPr i="1"/>
              <a:t>Building Public Trust:</a:t>
            </a:r>
            <a:r>
              <a:t> Fosters confidence in AI technologies, encouraging broader adoption and societal acceptance by demonstrating a commitment to responsible use.</a:t>
            </a:r>
          </a:p>
          <a:p>
            <a:pPr/>
            <a:r>
              <a:rPr i="1"/>
              <a:t>Ensuring Societal Benefit:</a:t>
            </a:r>
            <a:r>
              <a:t> Directs AI development towards solutions that genuinely improve human lives, address global challenges, and contribute positively to society.</a:t>
            </a:r>
          </a:p>
          <a:p>
            <a:pPr/>
            <a:r>
              <a:rPr i="1"/>
              <a:t>Regulatory Compliance:</a:t>
            </a:r>
            <a:r>
              <a:t> Helps organizations adhere to evolving laws and standards (e.g., GDPR, EU AI Act), avoiding legal penalties, fines, and significant reputational damage.</a:t>
            </a:r>
          </a:p>
          <a:p>
            <a:pPr/>
            <a:r>
              <a:rPr i="1"/>
              <a:t>Competitive Advantage:</a:t>
            </a:r>
            <a:r>
              <a:t> Companies with strong ethical AI practices can attract top talent, gain customer loyalty, and secure investments from stakeholders who prioritize responsible innovation.</a:t>
            </a:r>
          </a:p>
          <a:p>
            <a:pPr/>
            <a:r>
              <a:rPr i="1"/>
              <a:t>Example:</a:t>
            </a:r>
            <a:r>
              <a:t> A healthcare AI that ethically handles patient data, provides transparent diagnostic explanations, and is regularly audited for bias will be more trusted by both patients and medical professionals, leading to better health outcomes and wider adoption.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Navigating the Complexities: Key Ethical Challenges in AI</a:t>
            </a:r>
          </a:p>
        </p:txBody>
      </p:sp>
      <p:sp>
        <p:nvSpPr>
          <p:cNvPr id="3" name="Text Placeholder 2"/>
          <p:cNvSpPr>
            <a:spLocks noGrp="1"/>
          </p:cNvSpPr>
          <p:nvPr>
            <p:ph type="body" idx="1"/>
          </p:nvPr>
        </p:nvSpPr>
        <p:spPr/>
        <p:txBody>
          <a:bodyPr/>
          <a:lstStyle/>
          <a:p>
            <a:r>
              <a:t>Technical Challenges</a:t>
            </a:r>
          </a:p>
        </p:txBody>
      </p:sp>
      <p:sp>
        <p:nvSpPr>
          <p:cNvPr id="4" name="Content Placeholder 3"/>
          <p:cNvSpPr>
            <a:spLocks noGrp="1"/>
          </p:cNvSpPr>
          <p:nvPr>
            <p:ph idx="2" sz="half"/>
          </p:nvPr>
        </p:nvSpPr>
        <p:spPr/>
        <p:txBody>
          <a:bodyPr/>
          <a:lstStyle/>
          <a:p>
            <a:r>
              <a:rPr i="1"/>
              <a:t>Algorithmic Bias:</a:t>
            </a:r>
            <a:r>
              <a:t> AI models learning and perpetuating biases present in training data, leading to unfair or discriminatory outcomes.</a:t>
            </a:r>
          </a:p>
          <a:p>
            <a:pPr/>
            <a:r>
              <a:rPr i="1"/>
              <a:t>Lack of Explainability (Black Box Problem):</a:t>
            </a:r>
            <a:r>
              <a:t> Difficulty in understanding how complex AI models arrive at their decisions, hindering trust and accountability.</a:t>
            </a:r>
          </a:p>
          <a:p>
            <a:pPr/>
            <a:r>
              <a:rPr i="1"/>
              <a:t>Data Privacy &amp; Security:</a:t>
            </a:r>
            <a:r>
              <a:t> Protecting vast amounts of sensitive data used by AI from breaches, misuse, and unauthorized access.</a:t>
            </a:r>
          </a:p>
          <a:p>
            <a:pPr/>
            <a:r>
              <a:rPr i="1"/>
              <a:t>Autonomous Decision-Making:</a:t>
            </a:r>
            <a:r>
              <a:t> Ensuring AI systems make decisions aligned with human values and intentions without constant human intervention, especially in critical applications.</a:t>
            </a:r>
          </a:p>
        </p:txBody>
      </p:sp>
      <p:sp>
        <p:nvSpPr>
          <p:cNvPr id="5" name="Text Placeholder 4"/>
          <p:cNvSpPr>
            <a:spLocks noGrp="1"/>
          </p:cNvSpPr>
          <p:nvPr>
            <p:ph type="body" idx="3" sz="quarter"/>
          </p:nvPr>
        </p:nvSpPr>
        <p:spPr/>
        <p:txBody>
          <a:bodyPr/>
          <a:lstStyle/>
          <a:p>
            <a:r>
              <a:t>Societal Challenges</a:t>
            </a:r>
          </a:p>
        </p:txBody>
      </p:sp>
      <p:sp>
        <p:nvSpPr>
          <p:cNvPr id="6" name="Content Placeholder 5"/>
          <p:cNvSpPr>
            <a:spLocks noGrp="1"/>
          </p:cNvSpPr>
          <p:nvPr>
            <p:ph idx="4" sz="quarter"/>
          </p:nvPr>
        </p:nvSpPr>
        <p:spPr/>
        <p:txBody>
          <a:bodyPr/>
          <a:lstStyle/>
          <a:p>
            <a:r>
              <a:rPr i="1"/>
              <a:t>Job Displacement:</a:t>
            </a:r>
            <a:r>
              <a:t> The significant impact of automation and AI on employment, requiring strategies for workforce retraining and social safety nets.</a:t>
            </a:r>
          </a:p>
          <a:p>
            <a:pPr/>
            <a:r>
              <a:rPr i="1"/>
              <a:t>Misinformation &amp; Manipulation:</a:t>
            </a:r>
            <a:r>
              <a:t> AI's potential to generate convincing fake content (e.g., deepfakes) or influence public opinion through targeted propaganda.</a:t>
            </a:r>
          </a:p>
          <a:p>
            <a:pPr/>
            <a:r>
              <a:rPr i="1"/>
              <a:t>Power Concentration:</a:t>
            </a:r>
            <a:r>
              <a:t> The risk of AI technology being controlled by a few powerful entities, exacerbating existing inequalities and creating new forms of digital divides.</a:t>
            </a:r>
          </a:p>
          <a:p>
            <a:pPr/>
            <a:r>
              <a:rPr i="1"/>
              <a:t>Human Autonomy &amp; Dignity:</a:t>
            </a:r>
            <a:r>
              <a:t> The potential for AI to diminish human agency, influence behavior, or devalue human contributions in various domains.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Confronting Bias: Ensuring Fair and Equitable AI</a:t>
            </a:r>
          </a:p>
        </p:txBody>
      </p:sp>
      <p:sp>
        <p:nvSpPr>
          <p:cNvPr id="3" name="Content Placeholder 2"/>
          <p:cNvSpPr>
            <a:spLocks noGrp="1"/>
          </p:cNvSpPr>
          <p:nvPr>
            <p:ph idx="1"/>
          </p:nvPr>
        </p:nvSpPr>
        <p:spPr/>
        <p:txBody>
          <a:bodyPr/>
          <a:lstStyle/>
          <a:p>
            <a:r>
              <a:rPr i="1"/>
              <a:t>Definition:</a:t>
            </a:r>
            <a:r>
              <a:t> Algorithmic bias occurs when an AI system produces unfair or discriminatory outcomes due to biased training data, flawed model design, or inappropriate application.</a:t>
            </a:r>
          </a:p>
          <a:p>
            <a:pPr/>
            <a:r>
              <a:rPr i="1"/>
              <a:t>Sources of Bias:</a:t>
            </a:r>
          </a:p>
          <a:p>
            <a:pPr lvl="1"/>
            <a:r>
              <a:rPr i="1"/>
              <a:t>Historical Bias:</a:t>
            </a:r>
            <a:r>
              <a:t> Reflecting societal inequalities present in past data (e.g., historical hiring patterns favoring certain demographics).</a:t>
            </a:r>
          </a:p>
          <a:p>
            <a:pPr lvl="1"/>
            <a:r>
              <a:rPr i="1"/>
              <a:t>Selection Bias:</a:t>
            </a:r>
            <a:r>
              <a:t> Training data not being representative of the target population the AI will interact with.</a:t>
            </a:r>
          </a:p>
          <a:p>
            <a:pPr lvl="1"/>
            <a:r>
              <a:rPr i="1"/>
              <a:t>Measurement Bias:</a:t>
            </a:r>
            <a:r>
              <a:t> Inaccurate, inconsistent, or culturally insensitive data collection methods.</a:t>
            </a:r>
          </a:p>
          <a:p>
            <a:pPr lvl="1"/>
            <a:r>
              <a:rPr i="1"/>
              <a:t>Algorithmic Bias:</a:t>
            </a:r>
            <a:r>
              <a:t> Flaws in the algorithm itself that inadvertently amplify or create new biases.</a:t>
            </a:r>
          </a:p>
          <a:p>
            <a:pPr/>
            <a:r>
              <a:rPr i="1"/>
              <a:t>Impact:</a:t>
            </a:r>
            <a:r>
              <a:t> Can lead to severe discriminatory practices in critical areas like hiring, lending, criminal justice, healthcare, and education, perpetuating systemic inequalities.</a:t>
            </a:r>
          </a:p>
          <a:p>
            <a:pPr/>
            <a:r>
              <a:rPr i="1"/>
              <a:t>Mitigation Strategies:</a:t>
            </a:r>
          </a:p>
          <a:p>
            <a:pPr lvl="1"/>
            <a:r>
              <a:rPr i="1"/>
              <a:t>Diverse Data Collection:</a:t>
            </a:r>
            <a:r>
              <a:t> Ensuring training data is representative, balanced, and inclusive across all relevant demographics.</a:t>
            </a:r>
          </a:p>
          <a:p>
            <a:pPr lvl="1"/>
            <a:r>
              <a:rPr i="1"/>
              <a:t>Bias Detection Tools:</a:t>
            </a:r>
            <a:r>
              <a:t> Using advanced metrics and techniques to identify, quantify, and understand bias within models.</a:t>
            </a:r>
          </a:p>
          <a:p>
            <a:pPr lvl="1"/>
            <a:r>
              <a:rPr i="1"/>
              <a:t>Fairness-Aware Algorithms:</a:t>
            </a:r>
            <a:r>
              <a:t> Developing and applying algorithms specifically designed to minimize discriminatory outcomes.</a:t>
            </a:r>
          </a:p>
          <a:p>
            <a:pPr lvl="1"/>
            <a:r>
              <a:rPr i="1"/>
              <a:t>Regular Auditing:</a:t>
            </a:r>
            <a:r>
              <a:t> Continuously monitoring AI systems for bias post-deployment and establishing mechanisms for redress.</a:t>
            </a:r>
          </a:p>
          <a:p>
            <a:pPr/>
            <a:r>
              <a:rPr i="1"/>
              <a:t>Example:</a:t>
            </a:r>
            <a:r>
              <a:t> A facial recognition system trained predominantly on lighter-skinned faces may perform poorly on darker-skinned individuals, leading to higher error rates and potential misidentification, which can have serious consequences in law enforcement or security applications.</a:t>
            </a:r>
          </a:p>
        </p:txBody>
      </p:sp>
      <p:sp>
        <p:nvSpPr>
          <p:cNvPr id="4" name="Rounded Rectangle 3"/>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Actively identifying and mitigating algorithmic bias is fundamental to building AI systems that are fair, just, and do not perpetuate or amplify existing societal inequalities.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the Black Box: Making AI Understandable</a:t>
            </a:r>
          </a:p>
        </p:txBody>
      </p:sp>
      <p:sp>
        <p:nvSpPr>
          <p:cNvPr id="3" name="Content Placeholder 2"/>
          <p:cNvSpPr>
            <a:spLocks noGrp="1"/>
          </p:cNvSpPr>
          <p:nvPr>
            <p:ph idx="1"/>
          </p:nvPr>
        </p:nvSpPr>
        <p:spPr/>
        <p:txBody>
          <a:bodyPr/>
          <a:lstStyle/>
          <a:p>
            <a:r>
              <a:rPr i="1"/>
              <a:t>Transparency:</a:t>
            </a:r>
            <a:r>
              <a:t> Refers to the openness of an AI system's operations, allowing stakeholders to understand its purpose, data sources, general logic, and limitations.</a:t>
            </a:r>
          </a:p>
          <a:p>
            <a:pPr/>
            <a:r>
              <a:rPr i="1"/>
              <a:t>Explainability (XAI):</a:t>
            </a:r>
            <a:r>
              <a:t> The ability to articulate </a:t>
            </a:r>
            <a:r>
              <a:rPr i="1"/>
              <a:t>why</a:t>
            </a:r>
            <a:r>
              <a:t> an AI system made a particular decision or prediction in human-understandable terms, providing insights into its reasoning.</a:t>
            </a:r>
          </a:p>
          <a:p>
            <a:pPr/>
            <a:r>
              <a:rPr i="1"/>
              <a:t>Why it Matters:</a:t>
            </a:r>
          </a:p>
          <a:p>
            <a:pPr lvl="1"/>
            <a:r>
              <a:rPr i="1"/>
              <a:t>Trust:</a:t>
            </a:r>
            <a:r>
              <a:t> Users are more likely to trust and adopt systems they can understand and verify.</a:t>
            </a:r>
          </a:p>
          <a:p>
            <a:pPr lvl="1"/>
            <a:r>
              <a:rPr i="1"/>
              <a:t>Accountability:</a:t>
            </a:r>
            <a:r>
              <a:t> Essential for identifying errors, biases, and assigning responsibility when AI systems make critical decisions.</a:t>
            </a:r>
          </a:p>
          <a:p>
            <a:pPr lvl="1"/>
            <a:r>
              <a:rPr i="1"/>
              <a:t>Debugging &amp; Improvement:</a:t>
            </a:r>
            <a:r>
              <a:t> Helps developers diagnose issues, refine models, and ensure robust performance.</a:t>
            </a:r>
          </a:p>
          <a:p>
            <a:pPr lvl="1"/>
            <a:r>
              <a:rPr i="1"/>
              <a:t>Regulatory Compliance:</a:t>
            </a:r>
            <a:r>
              <a:t> Increasingly mandated by regulations like GDPR's 'right to explanation' and emerging AI laws.</a:t>
            </a:r>
          </a:p>
          <a:p>
            <a:pPr/>
            <a:r>
              <a:rPr i="1"/>
              <a:t>Methods for XAI:</a:t>
            </a:r>
          </a:p>
          <a:p>
            <a:pPr lvl="1"/>
            <a:r>
              <a:rPr i="1"/>
              <a:t>Simpler Models:</a:t>
            </a:r>
            <a:r>
              <a:t> Using inherently interpretable models like decision trees or linear regressions for critical applications.</a:t>
            </a:r>
          </a:p>
          <a:p>
            <a:pPr lvl="1"/>
            <a:r>
              <a:rPr i="1"/>
              <a:t>Post-hoc Explanations:</a:t>
            </a:r>
            <a:r>
              <a:t> Techniques like LIME (Local Interpretable Model-agnostic Explanations) or SHAP (SHapley Additive exPlanations) to explain complex 'black box' model predictions.</a:t>
            </a:r>
          </a:p>
          <a:p>
            <a:pPr lvl="1"/>
            <a:r>
              <a:rPr i="1"/>
              <a:t>Feature Importance:</a:t>
            </a:r>
            <a:r>
              <a:t> Identifying which input features most influenced an AI's output for a given prediction.</a:t>
            </a:r>
          </a:p>
          <a:p>
            <a:pPr/>
            <a:r>
              <a:rPr i="1"/>
              <a:t>Example:</a:t>
            </a:r>
            <a:r>
              <a:t> In medical diagnosis, a doctor needs to understand </a:t>
            </a:r>
            <a:r>
              <a:rPr i="1"/>
              <a:t>why</a:t>
            </a:r>
            <a:r>
              <a:t> an AI suggests a particular treatment or diagnosis, not just </a:t>
            </a:r>
            <a:r>
              <a:rPr i="1"/>
              <a:t>what</a:t>
            </a:r>
            <a:r>
              <a:t> it suggests. This enables them to critically evaluate the recommendation, ensure patient safety, and obtain informed consent.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Safeguarding Information: The Bedrock of Ethical AI</a:t>
            </a:r>
          </a:p>
        </p:txBody>
      </p:sp>
      <p:sp>
        <p:nvSpPr>
          <p:cNvPr id="3" name="Content Placeholder 2"/>
          <p:cNvSpPr>
            <a:spLocks noGrp="1"/>
          </p:cNvSpPr>
          <p:nvPr>
            <p:ph idx="1"/>
          </p:nvPr>
        </p:nvSpPr>
        <p:spPr/>
        <p:txBody>
          <a:bodyPr/>
          <a:lstStyle/>
          <a:p>
            <a:r>
              <a:rPr i="1"/>
              <a:t>Core Principle:</a:t>
            </a:r>
            <a:r>
              <a:t> Respecting individual privacy and ensuring the secure handling of personal and sensitive data throughout the entire AI lifecycle, from collection to deployment and beyond.</a:t>
            </a:r>
          </a:p>
          <a:p>
            <a:pPr/>
            <a:r>
              <a:rPr i="1"/>
              <a:t>Key Concerns:</a:t>
            </a:r>
          </a:p>
          <a:p>
            <a:pPr lvl="1"/>
            <a:r>
              <a:rPr i="1"/>
              <a:t>Data Collection:</a:t>
            </a:r>
            <a:r>
              <a:t> What data is collected, how it's obtained (e.g., consent), and its relevance to the AI's purpose.</a:t>
            </a:r>
          </a:p>
          <a:p>
            <a:pPr lvl="1"/>
            <a:r>
              <a:rPr i="1"/>
              <a:t>Data Storage &amp; Processing:</a:t>
            </a:r>
            <a:r>
              <a:t> Implementing secure infrastructure, robust anonymization, and pseudonymization techniques to protect data.</a:t>
            </a:r>
          </a:p>
          <a:p>
            <a:pPr lvl="1"/>
            <a:r>
              <a:rPr i="1"/>
              <a:t>Data Usage:</a:t>
            </a:r>
            <a:r>
              <a:t> Ensuring data is used only for its intended purpose and not for secondary, unauthorized, or exploitative uses.</a:t>
            </a:r>
          </a:p>
          <a:p>
            <a:pPr lvl="1"/>
            <a:r>
              <a:rPr i="1"/>
              <a:t>Data Breaches:</a:t>
            </a:r>
            <a:r>
              <a:t> The significant risk of sensitive AI training data or outputs being compromised, leading to identity theft or other harms.</a:t>
            </a:r>
          </a:p>
          <a:p>
            <a:pPr/>
            <a:r>
              <a:rPr i="1"/>
              <a:t>Regulatory Landscape:</a:t>
            </a:r>
          </a:p>
          <a:p>
            <a:pPr lvl="1"/>
            <a:r>
              <a:rPr i="1"/>
              <a:t>GDPR (General Data Protection Regulation):</a:t>
            </a:r>
            <a:r>
              <a:t> Strict rules on data processing, consent, and individual rights across the European Union.</a:t>
            </a:r>
          </a:p>
          <a:p>
            <a:pPr lvl="1"/>
            <a:r>
              <a:rPr i="1"/>
              <a:t>CCPA (California Consumer Privacy Act):</a:t>
            </a:r>
            <a:r>
              <a:t> Grants consumers more control over their personal information in California.</a:t>
            </a:r>
          </a:p>
          <a:p>
            <a:pPr lvl="1"/>
            <a:r>
              <a:rPr i="1"/>
              <a:t>HIPAA (Health Insurance Portability and Accountability Act):</a:t>
            </a:r>
            <a:r>
              <a:t> Protects sensitive patient health information in the United States.</a:t>
            </a:r>
          </a:p>
          <a:p>
            <a:pPr/>
            <a:r>
              <a:rPr i="1"/>
              <a:t>Best Practices:</a:t>
            </a:r>
          </a:p>
          <a:p>
            <a:pPr lvl="1"/>
            <a:r>
              <a:rPr i="1"/>
              <a:t>Privacy-by-Design:</a:t>
            </a:r>
            <a:r>
              <a:t> Integrating privacy considerations and protections from the outset of AI system development, not as an afterthought.</a:t>
            </a:r>
          </a:p>
          <a:p>
            <a:pPr lvl="1"/>
            <a:r>
              <a:rPr i="1"/>
              <a:t>Differential Privacy:</a:t>
            </a:r>
            <a:r>
              <a:t> Adding statistical noise to data to protect individual records while maintaining the overall utility for analysis.</a:t>
            </a:r>
          </a:p>
          <a:p>
            <a:pPr lvl="1"/>
            <a:r>
              <a:rPr i="1"/>
              <a:t>Homomorphic Encryption:</a:t>
            </a:r>
            <a:r>
              <a:t> Performing computations on encrypted data without ever decrypting it, enhancing data security during processing.</a:t>
            </a:r>
          </a:p>
          <a:p>
            <a:pPr/>
            <a:r>
              <a:rPr i="1"/>
              <a:t>Example:</a:t>
            </a:r>
            <a:r>
              <a:t> An AI-powered smart home assistant must securely process voice commands and personal routines without unauthorized access or sharing of sensitive user data, ensuring that private conversations and habits remain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is Responsible? Frameworks for AI Governance</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838200" y="1825625"/>
          <a:ext cx="10515600" cy="4351338"/>
        </p:xfrm>
        <a:graphic>
          <a:graphicData uri="http://schemas.openxmlformats.org/drawingml/2006/table">
            <a:tbl>
              <a:tblPr firstRow="1" bandRow="1">
                <a:tableStyleId>{5C22544A-7EE6-4342-B048-85BDC9FD1C3A}</a:tableStyleId>
              </a:tblPr>
              <a:tblGrid>
                <a:gridCol w="3505200"/>
                <a:gridCol w="3505200"/>
                <a:gridCol w="3505200"/>
              </a:tblGrid>
              <a:tr h="725223">
                <a:tc>
                  <a:txBody>
                    <a:bodyPr/>
                    <a:lstStyle/>
                    <a:p>
                      <a:pPr>
                        <a:defRPr b="1"/>
                      </a:pPr>
                      <a:r>
                        <a:t>Aspect</a:t>
                      </a:r>
                    </a:p>
                  </a:txBody>
                  <a:tcPr/>
                </a:tc>
                <a:tc>
                  <a:txBody>
                    <a:bodyPr/>
                    <a:lstStyle/>
                    <a:p>
                      <a:pPr>
                        <a:defRPr b="1"/>
                      </a:pPr>
                      <a:r>
                        <a:t>Description</a:t>
                      </a:r>
                    </a:p>
                  </a:txBody>
                  <a:tcPr/>
                </a:tc>
                <a:tc>
                  <a:txBody>
                    <a:bodyPr/>
                    <a:lstStyle/>
                    <a:p>
                      <a:pPr>
                        <a:defRPr b="1"/>
                      </a:pPr>
                      <a:r>
                        <a:t>Example/Framework</a:t>
                      </a:r>
                    </a:p>
                  </a:txBody>
                  <a:tcPr/>
                </a:tc>
              </a:tr>
              <a:tr h="725223">
                <a:tc>
                  <a:txBody>
                    <a:bodyPr/>
                    <a:lstStyle/>
                    <a:p>
                      <a:r>
                        <a:t>*Accountability*</a:t>
                      </a:r>
                    </a:p>
                  </a:txBody>
                  <a:tcPr/>
                </a:tc>
                <a:tc>
                  <a:txBody>
                    <a:bodyPr/>
                    <a:lstStyle/>
                    <a:p>
                      <a:r>
                        <a:t>Identifying individuals or entities responsible for AI system outcomes, including errors, harms, or unintended consequences.</a:t>
                      </a:r>
                    </a:p>
                  </a:txBody>
                  <a:tcPr/>
                </a:tc>
                <a:tc>
                  <a:txBody>
                    <a:bodyPr/>
                    <a:lstStyle/>
                    <a:p>
                      <a:r>
                        <a:t>Designating an 'AI Ethics Officer' or a cross-functional ethics committee within an organization.</a:t>
                      </a:r>
                    </a:p>
                  </a:txBody>
                  <a:tcPr/>
                </a:tc>
              </a:tr>
              <a:tr h="725223">
                <a:tc>
                  <a:txBody>
                    <a:bodyPr/>
                    <a:lstStyle/>
                    <a:p>
                      <a:r>
                        <a:t>*Oversight Mechanisms*</a:t>
                      </a:r>
                    </a:p>
                  </a:txBody>
                  <a:tcPr/>
                </a:tc>
                <a:tc>
                  <a:txBody>
                    <a:bodyPr/>
                    <a:lstStyle/>
                    <a:p>
                      <a:r>
                        <a:t>Establishing processes for continuous monitoring, auditing, and reviewing AI systems throughout their lifecycle to ensure compliance and performance.</a:t>
                      </a:r>
                    </a:p>
                  </a:txBody>
                  <a:tcPr/>
                </a:tc>
                <a:tc>
                  <a:txBody>
                    <a:bodyPr/>
                    <a:lstStyle/>
                    <a:p>
                      <a:r>
                        <a:t>Independent AI ethics committees, external audits, or regulatory bodies like the EU AI Office.</a:t>
                      </a:r>
                    </a:p>
                  </a:txBody>
                  <a:tcPr/>
                </a:tc>
              </a:tr>
              <a:tr h="725223">
                <a:tc>
                  <a:txBody>
                    <a:bodyPr/>
                    <a:lstStyle/>
                    <a:p>
                      <a:r>
                        <a:t>*Ethical Guidelines*</a:t>
                      </a:r>
                    </a:p>
                  </a:txBody>
                  <a:tcPr/>
                </a:tc>
                <a:tc>
                  <a:txBody>
                    <a:bodyPr/>
                    <a:lstStyle/>
                    <a:p>
                      <a:r>
                        <a:t>Voluntary principles, codes of conduct, and recommendations for responsible AI development and deployment, often developed by international bodies or industry groups.</a:t>
                      </a:r>
                    </a:p>
                  </a:txBody>
                  <a:tcPr/>
                </a:tc>
                <a:tc>
                  <a:txBody>
                    <a:bodyPr/>
                    <a:lstStyle/>
                    <a:p>
                      <a:r>
                        <a:t>OECD AI Principles, IEEE Global Initiative on Ethics of Autonomous and Intelligent Systems, UNESCO Recommendation on the Ethics of AI.</a:t>
                      </a:r>
                    </a:p>
                  </a:txBody>
                  <a:tcPr/>
                </a:tc>
              </a:tr>
              <a:tr h="725223">
                <a:tc>
                  <a:txBody>
                    <a:bodyPr/>
                    <a:lstStyle/>
                    <a:p>
                      <a:r>
                        <a:t>*Regulatory Compliance*</a:t>
                      </a:r>
                    </a:p>
                  </a:txBody>
                  <a:tcPr/>
                </a:tc>
                <a:tc>
                  <a:txBody>
                    <a:bodyPr/>
                    <a:lstStyle/>
                    <a:p>
                      <a:r>
                        <a:t>Adhering to legal requirements and standards related to AI, data privacy, consumer protection, and sector-specific regulations.</a:t>
                      </a:r>
                    </a:p>
                  </a:txBody>
                  <a:tcPr/>
                </a:tc>
                <a:tc>
                  <a:txBody>
                    <a:bodyPr/>
                    <a:lstStyle/>
                    <a:p>
                      <a:r>
                        <a:t>Compliance with the EU AI Act, national data protection laws, or industry-specific safety standards.</a:t>
                      </a:r>
                    </a:p>
                  </a:txBody>
                  <a:tcPr/>
                </a:tc>
              </a:tr>
              <a:tr h="725223">
                <a:tc>
                  <a:txBody>
                    <a:bodyPr/>
                    <a:lstStyle/>
                    <a:p>
                      <a:r>
                        <a:t>*Impact Assessments*</a:t>
                      </a:r>
                    </a:p>
                  </a:txBody>
                  <a:tcPr/>
                </a:tc>
                <a:tc>
                  <a:txBody>
                    <a:bodyPr/>
                    <a:lstStyle/>
                    <a:p>
                      <a:r>
                        <a:t>Proactive evaluation of potential ethical, social, economic, and environmental impacts of AI systems before and during deployment.</a:t>
                      </a:r>
                    </a:p>
                  </a:txBody>
                  <a:tcPr/>
                </a:tc>
                <a:tc>
                  <a:txBody>
                    <a:bodyPr/>
                    <a:lstStyle/>
                    <a:p>
                      <a:r>
                        <a:t>Performing an 'Algorithmic Impact Assessment' (AIA) or 'Data Protection Impact Assessment' (DPIA) before deploying a new AI system.</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Principle to Practice: Building Ethical AI Systems</a:t>
            </a:r>
          </a:p>
        </p:txBody>
      </p:sp>
      <p:sp>
        <p:nvSpPr>
          <p:cNvPr id="3" name="Content Placeholder 2"/>
          <p:cNvSpPr>
            <a:spLocks noGrp="1"/>
          </p:cNvSpPr>
          <p:nvPr>
            <p:ph idx="1"/>
          </p:nvPr>
        </p:nvSpPr>
        <p:spPr/>
        <p:txBody>
          <a:bodyPr/>
          <a:lstStyle/>
          <a:p>
            <a:r>
              <a:rPr i="1"/>
              <a:t>Define Ethical Principles:</a:t>
            </a:r>
            <a:r>
              <a:t> Clearly articulate the core ethical values, goals, and boundaries for your AI project from the outset, aligning them with organizational and societal values.</a:t>
            </a:r>
          </a:p>
          <a:p>
            <a:pPr/>
            <a:r>
              <a:rPr i="1"/>
              <a:t>Conduct Ethical Impact Assessments:</a:t>
            </a:r>
            <a:r>
              <a:t> Proactively identify and analyze potential ethical, social, and economic risks (e.g., bias, privacy, job displacement) before development begins and throughout the project lifecycle.</a:t>
            </a:r>
          </a:p>
          <a:p>
            <a:pPr/>
            <a:r>
              <a:rPr i="1"/>
              <a:t>Implement Privacy-by-Design:</a:t>
            </a:r>
            <a:r>
              <a:t> Integrate robust data protection and privacy measures into every stage of the AI system's architecture, from data collection to storage and processing.</a:t>
            </a:r>
          </a:p>
          <a:p>
            <a:pPr/>
            <a:r>
              <a:rPr i="1"/>
              <a:t>Ensure Data Quality &amp; Fairness:</a:t>
            </a:r>
            <a:r>
              <a:t> Rigorously vet training data for biases, ensure representativeness, and apply advanced bias detection and mitigation techniques to promote equitable outcomes.</a:t>
            </a:r>
          </a:p>
          <a:p>
            <a:pPr/>
            <a:r>
              <a:rPr i="1"/>
              <a:t>Prioritize Transparency &amp; Explainability:</a:t>
            </a:r>
            <a:r>
              <a:t> Design models that can be understood by stakeholders, and provide clear mechanisms for explaining AI decisions to users in an accessible manner.</a:t>
            </a:r>
          </a:p>
          <a:p>
            <a:pPr/>
            <a:r>
              <a:rPr i="1"/>
              <a:t>Establish Human Oversight &amp; Control:</a:t>
            </a:r>
            <a:r>
              <a:t> Integrate human-in-the-loop mechanisms, especially for critical decisions, and define clear fallback procedures and human intervention points.</a:t>
            </a:r>
          </a:p>
          <a:p>
            <a:pPr/>
            <a:r>
              <a:rPr i="1"/>
              <a:t>Monitor, Audit, and Iterate:</a:t>
            </a:r>
            <a:r>
              <a:t> Continuously track AI system performance, conduct regular ethical audits, and be prepared to update, retrain, or even decommission models if ethical issues arise.</a:t>
            </a:r>
          </a:p>
          <a:p>
            <a:pPr/>
            <a:r>
              <a:rPr i="1"/>
              <a:t>Example:</a:t>
            </a:r>
            <a:r>
              <a:t> A company developing an AI hiring tool would first define principles of non-discrimination, then assess potential biases in historical hiring data, implement fairness-aware algorithms, establish human review for all final hiring recommendations, and continuously monitor the tool's impact on diversity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Horizons: Continuous Adaptation in AI Ethics</a:t>
            </a:r>
          </a:p>
        </p:txBody>
      </p:sp>
      <p:sp>
        <p:nvSpPr>
          <p:cNvPr id="3" name="Content Placeholder 2"/>
          <p:cNvSpPr>
            <a:spLocks noGrp="1"/>
          </p:cNvSpPr>
          <p:nvPr>
            <p:ph idx="1"/>
          </p:nvPr>
        </p:nvSpPr>
        <p:spPr/>
        <p:txBody>
          <a:bodyPr/>
          <a:lstStyle/>
          <a:p>
            <a:r>
              <a:rPr i="1"/>
              <a:t>Rapid Technological Advancement:</a:t>
            </a:r>
            <a:r>
              <a:t> New AI capabilities, such as Artificial General Intelligence (AGI), advanced synthetic media, and autonomous systems, constantly introduce novel and complex ethical dilemmas.</a:t>
            </a:r>
          </a:p>
          <a:p>
            <a:pPr/>
            <a:r>
              <a:rPr i="1"/>
              <a:t>Global Harmonization Efforts:</a:t>
            </a:r>
            <a:r>
              <a:t> Increasing international collaboration and dialogue to establish common ethical standards, best practices, and regulatory frameworks for AI across different jurisdictions.</a:t>
            </a:r>
          </a:p>
          <a:p>
            <a:pPr/>
            <a:r>
              <a:rPr i="1"/>
              <a:t>Focus on AI Safety:</a:t>
            </a:r>
            <a:r>
              <a:t> Growing emphasis on ensuring AI systems are robust, secure, and aligned with human intentions, particularly for advanced AI, to prevent catastrophic outcomes.</a:t>
            </a:r>
          </a:p>
          <a:p>
            <a:pPr/>
            <a:r>
              <a:rPr i="1"/>
              <a:t>Ethical AI Tooling:</a:t>
            </a:r>
            <a:r>
              <a:t> The development of specialized software, methodologies, and platforms to help practitioners build, test, and deploy ethical AI systems more effectively and efficiently.</a:t>
            </a:r>
          </a:p>
          <a:p>
            <a:pPr/>
            <a:r>
              <a:rPr i="1"/>
              <a:t>Public Engagement &amp; Education:</a:t>
            </a:r>
            <a:r>
              <a:t> The critical need for broader societal dialogue, public education, and citizen participation to inform policy, foster responsible AI adoption, and address public concerns.</a:t>
            </a:r>
          </a:p>
          <a:p>
            <a:pPr/>
            <a:r>
              <a:rPr i="1"/>
              <a:t>Example:</a:t>
            </a:r>
            <a:r>
              <a:t> The rise of sophisticated deepfake technology necessitates ongoing ethical discussions around truth, consent, and manipulation, driving the development of new detection and verification tools to combat misinformation and protect individuals.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Embracing Responsibility: Our Collective Path Forward</a:t>
            </a:r>
          </a:p>
        </p:txBody>
      </p:sp>
      <p:sp>
        <p:nvSpPr>
          <p:cNvPr id="3" name="Content Placeholder 2"/>
          <p:cNvSpPr>
            <a:spLocks noGrp="1"/>
          </p:cNvSpPr>
          <p:nvPr>
            <p:ph idx="1"/>
          </p:nvPr>
        </p:nvSpPr>
        <p:spPr/>
        <p:txBody>
          <a:bodyPr/>
          <a:lstStyle/>
          <a:p>
            <a:r>
              <a:t>*AI Ethics is Non-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Calibri Light</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Barun Saha</dc:creator>
  <cp:lastModifiedBy>Barun Saha</cp:lastModifiedBy>
  <cp:revision>6</cp:revision>
  <dcterms:created xsi:type="dcterms:W3CDTF">2023-08-26T17:51:03Z</dcterms:created>
  <dcterms:modified xsi:type="dcterms:W3CDTF">2024-04-27T13:52:58Z</dcterms:modified>
</cp:coreProperties>
</file>