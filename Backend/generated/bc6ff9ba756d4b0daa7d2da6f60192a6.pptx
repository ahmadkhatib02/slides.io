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60" d="100"/>
          <a:sy n="60" d="100"/>
        </p:scale>
        <p:origin x="1550" y="6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FDC24C1A-9EF1-398F-74ED-AF2B9D5CE525}"/>
              </a:ext>
            </a:extLst>
          </p:cNvPr>
          <p:cNvPicPr>
            <a:picLocks noChangeAspect="1"/>
          </p:cNvPicPr>
          <p:nvPr userDrawn="1"/>
        </p:nvPicPr>
        <p:blipFill>
          <a:blip r:embed="rId2">
            <a:alphaModFix amt="60000"/>
            <a:extLst>
              <a:ext uri="{28A0092B-C50C-407E-A947-70E740481C1C}">
                <a14:useLocalDpi xmlns:a14="http://schemas.microsoft.com/office/drawing/2010/main" val="0"/>
              </a:ext>
            </a:extLst>
          </a:blip>
          <a:stretch>
            <a:fillRect/>
          </a:stretch>
        </p:blipFill>
        <p:spPr>
          <a:xfrm>
            <a:off x="0" y="717550"/>
            <a:ext cx="12192000" cy="5422900"/>
          </a:xfrm>
          <a:prstGeom prst="rect">
            <a:avLst/>
          </a:prstGeom>
        </p:spPr>
      </p:pic>
      <p:sp>
        <p:nvSpPr>
          <p:cNvPr id="2" name="Title 1">
            <a:extLst>
              <a:ext uri="{FF2B5EF4-FFF2-40B4-BE49-F238E27FC236}">
                <a16:creationId xmlns:a16="http://schemas.microsoft.com/office/drawing/2014/main" id="{72539291-9158-4961-66E0-092CAC4D507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B4052AF-61FA-8FB2-5815-FBA0E38D52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8FED454-C11E-24C6-BD8C-3AEC5DB77C97}"/>
              </a:ext>
            </a:extLst>
          </p:cNvPr>
          <p:cNvSpPr>
            <a:spLocks noGrp="1"/>
          </p:cNvSpPr>
          <p:nvPr>
            <p:ph type="dt" sz="half" idx="10"/>
          </p:nvPr>
        </p:nvSpPr>
        <p:spPr/>
        <p:txBody>
          <a:bodyPr/>
          <a:lstStyle/>
          <a:p>
            <a:fld id="{245F0EAC-318F-40E5-838A-5DE65186082A}" type="datetimeFigureOut">
              <a:rPr lang="en-IN" smtClean="0"/>
              <a:t>27-04-2024</a:t>
            </a:fld>
            <a:endParaRPr lang="en-IN"/>
          </a:p>
        </p:txBody>
      </p:sp>
      <p:sp>
        <p:nvSpPr>
          <p:cNvPr id="5" name="Footer Placeholder 4">
            <a:extLst>
              <a:ext uri="{FF2B5EF4-FFF2-40B4-BE49-F238E27FC236}">
                <a16:creationId xmlns:a16="http://schemas.microsoft.com/office/drawing/2014/main" id="{2B208462-C68E-9DF6-14F7-C65ABDCB5C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700A60-94F0-F505-50C0-0F77D3CC2D3A}"/>
              </a:ext>
            </a:extLst>
          </p:cNvPr>
          <p:cNvSpPr>
            <a:spLocks noGrp="1"/>
          </p:cNvSpPr>
          <p:nvPr>
            <p:ph type="sldNum" sz="quarter" idx="12"/>
          </p:nvPr>
        </p:nvSpPr>
        <p:spPr/>
        <p:txBody>
          <a:bodyPr/>
          <a:lstStyle/>
          <a:p>
            <a:fld id="{CA98CD80-5438-4D89-B0E3-67EC0E099088}" type="slidenum">
              <a:rPr lang="en-IN" smtClean="0"/>
              <a:t>‹#›</a:t>
            </a:fld>
            <a:endParaRPr lang="en-IN"/>
          </a:p>
        </p:txBody>
      </p:sp>
    </p:spTree>
    <p:extLst>
      <p:ext uri="{BB962C8B-B14F-4D97-AF65-F5344CB8AC3E}">
        <p14:creationId xmlns:p14="http://schemas.microsoft.com/office/powerpoint/2010/main" val="1609662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165ED-B947-A6AE-E541-A54EE8EEE2D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A90603B-D49F-733A-66CA-E1E00EB8CF5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31EB94-E78F-4A0B-347B-E5A202CFF25D}"/>
              </a:ext>
            </a:extLst>
          </p:cNvPr>
          <p:cNvSpPr>
            <a:spLocks noGrp="1"/>
          </p:cNvSpPr>
          <p:nvPr>
            <p:ph type="dt" sz="half" idx="10"/>
          </p:nvPr>
        </p:nvSpPr>
        <p:spPr/>
        <p:txBody>
          <a:bodyPr/>
          <a:lstStyle/>
          <a:p>
            <a:fld id="{245F0EAC-318F-40E5-838A-5DE65186082A}" type="datetimeFigureOut">
              <a:rPr lang="en-IN" smtClean="0"/>
              <a:t>27-04-2024</a:t>
            </a:fld>
            <a:endParaRPr lang="en-IN"/>
          </a:p>
        </p:txBody>
      </p:sp>
      <p:sp>
        <p:nvSpPr>
          <p:cNvPr id="5" name="Footer Placeholder 4">
            <a:extLst>
              <a:ext uri="{FF2B5EF4-FFF2-40B4-BE49-F238E27FC236}">
                <a16:creationId xmlns:a16="http://schemas.microsoft.com/office/drawing/2014/main" id="{9EAE7A6C-6937-813D-228A-9DA90A64B50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72F556C-0784-17D4-1CA3-992CDCC86A80}"/>
              </a:ext>
            </a:extLst>
          </p:cNvPr>
          <p:cNvSpPr>
            <a:spLocks noGrp="1"/>
          </p:cNvSpPr>
          <p:nvPr>
            <p:ph type="sldNum" sz="quarter" idx="12"/>
          </p:nvPr>
        </p:nvSpPr>
        <p:spPr/>
        <p:txBody>
          <a:bodyPr/>
          <a:lstStyle/>
          <a:p>
            <a:fld id="{CA98CD80-5438-4D89-B0E3-67EC0E099088}" type="slidenum">
              <a:rPr lang="en-IN" smtClean="0"/>
              <a:t>‹#›</a:t>
            </a:fld>
            <a:endParaRPr lang="en-IN"/>
          </a:p>
        </p:txBody>
      </p:sp>
    </p:spTree>
    <p:extLst>
      <p:ext uri="{BB962C8B-B14F-4D97-AF65-F5344CB8AC3E}">
        <p14:creationId xmlns:p14="http://schemas.microsoft.com/office/powerpoint/2010/main" val="34988400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D36DC-2819-DD4E-24E6-F54DD0213F4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BA5174E-8694-28AC-A3E3-E30D63D0329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47E61FA-F231-227A-5270-8D4D6B68B402}"/>
              </a:ext>
            </a:extLst>
          </p:cNvPr>
          <p:cNvSpPr>
            <a:spLocks noGrp="1"/>
          </p:cNvSpPr>
          <p:nvPr>
            <p:ph type="dt" sz="half" idx="10"/>
          </p:nvPr>
        </p:nvSpPr>
        <p:spPr/>
        <p:txBody>
          <a:bodyPr/>
          <a:lstStyle/>
          <a:p>
            <a:fld id="{245F0EAC-318F-40E5-838A-5DE65186082A}" type="datetimeFigureOut">
              <a:rPr lang="en-IN" smtClean="0"/>
              <a:t>27-04-2024</a:t>
            </a:fld>
            <a:endParaRPr lang="en-IN"/>
          </a:p>
        </p:txBody>
      </p:sp>
      <p:sp>
        <p:nvSpPr>
          <p:cNvPr id="5" name="Footer Placeholder 4">
            <a:extLst>
              <a:ext uri="{FF2B5EF4-FFF2-40B4-BE49-F238E27FC236}">
                <a16:creationId xmlns:a16="http://schemas.microsoft.com/office/drawing/2014/main" id="{067AC384-093E-95D0-7957-E7BA608255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472E69-FB3F-2B6D-CCF5-2EC59DD5B860}"/>
              </a:ext>
            </a:extLst>
          </p:cNvPr>
          <p:cNvSpPr>
            <a:spLocks noGrp="1"/>
          </p:cNvSpPr>
          <p:nvPr>
            <p:ph type="sldNum" sz="quarter" idx="12"/>
          </p:nvPr>
        </p:nvSpPr>
        <p:spPr/>
        <p:txBody>
          <a:bodyPr/>
          <a:lstStyle/>
          <a:p>
            <a:fld id="{CA98CD80-5438-4D89-B0E3-67EC0E099088}" type="slidenum">
              <a:rPr lang="en-IN" smtClean="0"/>
              <a:t>‹#›</a:t>
            </a:fld>
            <a:endParaRPr lang="en-IN"/>
          </a:p>
        </p:txBody>
      </p:sp>
    </p:spTree>
    <p:extLst>
      <p:ext uri="{BB962C8B-B14F-4D97-AF65-F5344CB8AC3E}">
        <p14:creationId xmlns:p14="http://schemas.microsoft.com/office/powerpoint/2010/main" val="1082021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0AC43-1D13-7B4F-EABB-46B1845B933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C906E18-EBA3-FB64-DD5F-E51C0A9D047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A5041F6-02E7-7F9C-F1A9-07A3A5C233B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7F07CBF-4B1E-3700-E17B-A51E153DD8EF}"/>
              </a:ext>
            </a:extLst>
          </p:cNvPr>
          <p:cNvSpPr>
            <a:spLocks noGrp="1"/>
          </p:cNvSpPr>
          <p:nvPr>
            <p:ph type="dt" sz="half" idx="10"/>
          </p:nvPr>
        </p:nvSpPr>
        <p:spPr/>
        <p:txBody>
          <a:bodyPr/>
          <a:lstStyle/>
          <a:p>
            <a:fld id="{245F0EAC-318F-40E5-838A-5DE65186082A}" type="datetimeFigureOut">
              <a:rPr lang="en-IN" smtClean="0"/>
              <a:t>27-04-2024</a:t>
            </a:fld>
            <a:endParaRPr lang="en-IN"/>
          </a:p>
        </p:txBody>
      </p:sp>
      <p:sp>
        <p:nvSpPr>
          <p:cNvPr id="6" name="Footer Placeholder 5">
            <a:extLst>
              <a:ext uri="{FF2B5EF4-FFF2-40B4-BE49-F238E27FC236}">
                <a16:creationId xmlns:a16="http://schemas.microsoft.com/office/drawing/2014/main" id="{144749A6-E28E-A4D7-A7DB-04EE12B73C0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45B29AF-066D-5EBE-12AF-DBBA6E7EBF5C}"/>
              </a:ext>
            </a:extLst>
          </p:cNvPr>
          <p:cNvSpPr>
            <a:spLocks noGrp="1"/>
          </p:cNvSpPr>
          <p:nvPr>
            <p:ph type="sldNum" sz="quarter" idx="12"/>
          </p:nvPr>
        </p:nvSpPr>
        <p:spPr/>
        <p:txBody>
          <a:bodyPr/>
          <a:lstStyle/>
          <a:p>
            <a:fld id="{CA98CD80-5438-4D89-B0E3-67EC0E099088}" type="slidenum">
              <a:rPr lang="en-IN" smtClean="0"/>
              <a:t>‹#›</a:t>
            </a:fld>
            <a:endParaRPr lang="en-IN"/>
          </a:p>
        </p:txBody>
      </p:sp>
    </p:spTree>
    <p:extLst>
      <p:ext uri="{BB962C8B-B14F-4D97-AF65-F5344CB8AC3E}">
        <p14:creationId xmlns:p14="http://schemas.microsoft.com/office/powerpoint/2010/main" val="2102324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CF180-373D-A466-C965-2A371001DAD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BCB30AA-2D57-2E15-6EA1-145DBF7B6B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63C7B13-FE4E-BCB1-5DDF-8C3F9193533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847C3BD-0509-313D-B3FE-1C49562108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8FACDC-E06E-1B17-B332-ACE37909B4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C7D328B-1881-1118-C98C-8B4A02E17A16}"/>
              </a:ext>
            </a:extLst>
          </p:cNvPr>
          <p:cNvSpPr>
            <a:spLocks noGrp="1"/>
          </p:cNvSpPr>
          <p:nvPr>
            <p:ph type="dt" sz="half" idx="10"/>
          </p:nvPr>
        </p:nvSpPr>
        <p:spPr/>
        <p:txBody>
          <a:bodyPr/>
          <a:lstStyle/>
          <a:p>
            <a:fld id="{245F0EAC-318F-40E5-838A-5DE65186082A}" type="datetimeFigureOut">
              <a:rPr lang="en-IN" smtClean="0"/>
              <a:t>27-04-2024</a:t>
            </a:fld>
            <a:endParaRPr lang="en-IN"/>
          </a:p>
        </p:txBody>
      </p:sp>
      <p:sp>
        <p:nvSpPr>
          <p:cNvPr id="8" name="Footer Placeholder 7">
            <a:extLst>
              <a:ext uri="{FF2B5EF4-FFF2-40B4-BE49-F238E27FC236}">
                <a16:creationId xmlns:a16="http://schemas.microsoft.com/office/drawing/2014/main" id="{BABFDD85-AE68-0806-B05F-B59D1F53B27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6CD9DF2-A6E7-94E1-AC47-E315B10F64D3}"/>
              </a:ext>
            </a:extLst>
          </p:cNvPr>
          <p:cNvSpPr>
            <a:spLocks noGrp="1"/>
          </p:cNvSpPr>
          <p:nvPr>
            <p:ph type="sldNum" sz="quarter" idx="12"/>
          </p:nvPr>
        </p:nvSpPr>
        <p:spPr/>
        <p:txBody>
          <a:bodyPr/>
          <a:lstStyle/>
          <a:p>
            <a:fld id="{CA98CD80-5438-4D89-B0E3-67EC0E099088}" type="slidenum">
              <a:rPr lang="en-IN" smtClean="0"/>
              <a:t>‹#›</a:t>
            </a:fld>
            <a:endParaRPr lang="en-IN"/>
          </a:p>
        </p:txBody>
      </p:sp>
    </p:spTree>
    <p:extLst>
      <p:ext uri="{BB962C8B-B14F-4D97-AF65-F5344CB8AC3E}">
        <p14:creationId xmlns:p14="http://schemas.microsoft.com/office/powerpoint/2010/main" val="16760718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8F492-1037-F4F0-B483-3448956C8D5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1405D18-F262-0FA4-5503-C42C47D81424}"/>
              </a:ext>
            </a:extLst>
          </p:cNvPr>
          <p:cNvSpPr>
            <a:spLocks noGrp="1"/>
          </p:cNvSpPr>
          <p:nvPr>
            <p:ph type="dt" sz="half" idx="10"/>
          </p:nvPr>
        </p:nvSpPr>
        <p:spPr/>
        <p:txBody>
          <a:bodyPr/>
          <a:lstStyle/>
          <a:p>
            <a:fld id="{245F0EAC-318F-40E5-838A-5DE65186082A}" type="datetimeFigureOut">
              <a:rPr lang="en-IN" smtClean="0"/>
              <a:t>27-04-2024</a:t>
            </a:fld>
            <a:endParaRPr lang="en-IN"/>
          </a:p>
        </p:txBody>
      </p:sp>
      <p:sp>
        <p:nvSpPr>
          <p:cNvPr id="4" name="Footer Placeholder 3">
            <a:extLst>
              <a:ext uri="{FF2B5EF4-FFF2-40B4-BE49-F238E27FC236}">
                <a16:creationId xmlns:a16="http://schemas.microsoft.com/office/drawing/2014/main" id="{EAA87CF0-35E2-EB19-DA54-2829878A252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2686FAC-8BE3-C6A6-1B83-BF2851A53B3D}"/>
              </a:ext>
            </a:extLst>
          </p:cNvPr>
          <p:cNvSpPr>
            <a:spLocks noGrp="1"/>
          </p:cNvSpPr>
          <p:nvPr>
            <p:ph type="sldNum" sz="quarter" idx="12"/>
          </p:nvPr>
        </p:nvSpPr>
        <p:spPr/>
        <p:txBody>
          <a:bodyPr/>
          <a:lstStyle/>
          <a:p>
            <a:fld id="{CA98CD80-5438-4D89-B0E3-67EC0E099088}" type="slidenum">
              <a:rPr lang="en-IN" smtClean="0"/>
              <a:t>‹#›</a:t>
            </a:fld>
            <a:endParaRPr lang="en-IN"/>
          </a:p>
        </p:txBody>
      </p:sp>
    </p:spTree>
    <p:extLst>
      <p:ext uri="{BB962C8B-B14F-4D97-AF65-F5344CB8AC3E}">
        <p14:creationId xmlns:p14="http://schemas.microsoft.com/office/powerpoint/2010/main" val="17685972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6B1AC7-71C1-ABCA-3283-BAEB3E8D34B7}"/>
              </a:ext>
            </a:extLst>
          </p:cNvPr>
          <p:cNvSpPr>
            <a:spLocks noGrp="1"/>
          </p:cNvSpPr>
          <p:nvPr>
            <p:ph type="dt" sz="half" idx="10"/>
          </p:nvPr>
        </p:nvSpPr>
        <p:spPr/>
        <p:txBody>
          <a:bodyPr/>
          <a:lstStyle/>
          <a:p>
            <a:fld id="{245F0EAC-318F-40E5-838A-5DE65186082A}" type="datetimeFigureOut">
              <a:rPr lang="en-IN" smtClean="0"/>
              <a:t>27-04-2024</a:t>
            </a:fld>
            <a:endParaRPr lang="en-IN"/>
          </a:p>
        </p:txBody>
      </p:sp>
      <p:sp>
        <p:nvSpPr>
          <p:cNvPr id="3" name="Footer Placeholder 2">
            <a:extLst>
              <a:ext uri="{FF2B5EF4-FFF2-40B4-BE49-F238E27FC236}">
                <a16:creationId xmlns:a16="http://schemas.microsoft.com/office/drawing/2014/main" id="{C909B97C-9896-5DAF-7564-C59F53213C8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61EFEF-04A4-C049-3D77-EF342FE377FB}"/>
              </a:ext>
            </a:extLst>
          </p:cNvPr>
          <p:cNvSpPr>
            <a:spLocks noGrp="1"/>
          </p:cNvSpPr>
          <p:nvPr>
            <p:ph type="sldNum" sz="quarter" idx="12"/>
          </p:nvPr>
        </p:nvSpPr>
        <p:spPr/>
        <p:txBody>
          <a:bodyPr/>
          <a:lstStyle/>
          <a:p>
            <a:fld id="{CA98CD80-5438-4D89-B0E3-67EC0E099088}" type="slidenum">
              <a:rPr lang="en-IN" smtClean="0"/>
              <a:t>‹#›</a:t>
            </a:fld>
            <a:endParaRPr lang="en-IN"/>
          </a:p>
        </p:txBody>
      </p:sp>
    </p:spTree>
    <p:extLst>
      <p:ext uri="{BB962C8B-B14F-4D97-AF65-F5344CB8AC3E}">
        <p14:creationId xmlns:p14="http://schemas.microsoft.com/office/powerpoint/2010/main" val="1412079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C305E-0945-F4D5-1B67-346E6420D8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66C38CF-DCA2-A75C-D2CC-848455F7BE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064AA46-5F79-87F4-51A3-855F5DB237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7888DB-EE1C-8324-BD8E-996CA5E3EA0C}"/>
              </a:ext>
            </a:extLst>
          </p:cNvPr>
          <p:cNvSpPr>
            <a:spLocks noGrp="1"/>
          </p:cNvSpPr>
          <p:nvPr>
            <p:ph type="dt" sz="half" idx="10"/>
          </p:nvPr>
        </p:nvSpPr>
        <p:spPr/>
        <p:txBody>
          <a:bodyPr/>
          <a:lstStyle/>
          <a:p>
            <a:fld id="{245F0EAC-318F-40E5-838A-5DE65186082A}" type="datetimeFigureOut">
              <a:rPr lang="en-IN" smtClean="0"/>
              <a:t>27-04-2024</a:t>
            </a:fld>
            <a:endParaRPr lang="en-IN"/>
          </a:p>
        </p:txBody>
      </p:sp>
      <p:sp>
        <p:nvSpPr>
          <p:cNvPr id="6" name="Footer Placeholder 5">
            <a:extLst>
              <a:ext uri="{FF2B5EF4-FFF2-40B4-BE49-F238E27FC236}">
                <a16:creationId xmlns:a16="http://schemas.microsoft.com/office/drawing/2014/main" id="{BC19833A-A3E2-E8E6-8586-4EA5EE13A4C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B031E21-7CBC-DEB9-EFD3-8B385244B582}"/>
              </a:ext>
            </a:extLst>
          </p:cNvPr>
          <p:cNvSpPr>
            <a:spLocks noGrp="1"/>
          </p:cNvSpPr>
          <p:nvPr>
            <p:ph type="sldNum" sz="quarter" idx="12"/>
          </p:nvPr>
        </p:nvSpPr>
        <p:spPr/>
        <p:txBody>
          <a:bodyPr/>
          <a:lstStyle/>
          <a:p>
            <a:fld id="{CA98CD80-5438-4D89-B0E3-67EC0E099088}" type="slidenum">
              <a:rPr lang="en-IN" smtClean="0"/>
              <a:t>‹#›</a:t>
            </a:fld>
            <a:endParaRPr lang="en-IN"/>
          </a:p>
        </p:txBody>
      </p:sp>
    </p:spTree>
    <p:extLst>
      <p:ext uri="{BB962C8B-B14F-4D97-AF65-F5344CB8AC3E}">
        <p14:creationId xmlns:p14="http://schemas.microsoft.com/office/powerpoint/2010/main" val="11104431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B4DF0-7ED4-101F-C741-1B20A77D15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539E0D8-4EC6-52A3-173D-2410F54908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52DB431-72A3-05BD-7786-AA774E3753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062AB7-B53F-7645-C9A3-0CDECE36A7AA}"/>
              </a:ext>
            </a:extLst>
          </p:cNvPr>
          <p:cNvSpPr>
            <a:spLocks noGrp="1"/>
          </p:cNvSpPr>
          <p:nvPr>
            <p:ph type="dt" sz="half" idx="10"/>
          </p:nvPr>
        </p:nvSpPr>
        <p:spPr/>
        <p:txBody>
          <a:bodyPr/>
          <a:lstStyle/>
          <a:p>
            <a:fld id="{245F0EAC-318F-40E5-838A-5DE65186082A}" type="datetimeFigureOut">
              <a:rPr lang="en-IN" smtClean="0"/>
              <a:t>27-04-2024</a:t>
            </a:fld>
            <a:endParaRPr lang="en-IN"/>
          </a:p>
        </p:txBody>
      </p:sp>
      <p:sp>
        <p:nvSpPr>
          <p:cNvPr id="6" name="Footer Placeholder 5">
            <a:extLst>
              <a:ext uri="{FF2B5EF4-FFF2-40B4-BE49-F238E27FC236}">
                <a16:creationId xmlns:a16="http://schemas.microsoft.com/office/drawing/2014/main" id="{A8B7A183-B586-8D6A-7B5E-15E108F55EA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9E04090-CB42-9775-F644-74BBA1246CDD}"/>
              </a:ext>
            </a:extLst>
          </p:cNvPr>
          <p:cNvSpPr>
            <a:spLocks noGrp="1"/>
          </p:cNvSpPr>
          <p:nvPr>
            <p:ph type="sldNum" sz="quarter" idx="12"/>
          </p:nvPr>
        </p:nvSpPr>
        <p:spPr/>
        <p:txBody>
          <a:bodyPr/>
          <a:lstStyle/>
          <a:p>
            <a:fld id="{CA98CD80-5438-4D89-B0E3-67EC0E099088}" type="slidenum">
              <a:rPr lang="en-IN" smtClean="0"/>
              <a:t>‹#›</a:t>
            </a:fld>
            <a:endParaRPr lang="en-IN"/>
          </a:p>
        </p:txBody>
      </p:sp>
    </p:spTree>
    <p:extLst>
      <p:ext uri="{BB962C8B-B14F-4D97-AF65-F5344CB8AC3E}">
        <p14:creationId xmlns:p14="http://schemas.microsoft.com/office/powerpoint/2010/main" val="29925841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51CC3-5960-0398-968D-6856A59B829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E578193-3DCD-0B5A-5C06-44D29BD4BA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D739F56-7084-6025-0027-F2711433C2DD}"/>
              </a:ext>
            </a:extLst>
          </p:cNvPr>
          <p:cNvSpPr>
            <a:spLocks noGrp="1"/>
          </p:cNvSpPr>
          <p:nvPr>
            <p:ph type="dt" sz="half" idx="10"/>
          </p:nvPr>
        </p:nvSpPr>
        <p:spPr/>
        <p:txBody>
          <a:bodyPr/>
          <a:lstStyle/>
          <a:p>
            <a:fld id="{245F0EAC-318F-40E5-838A-5DE65186082A}" type="datetimeFigureOut">
              <a:rPr lang="en-IN" smtClean="0"/>
              <a:t>27-04-2024</a:t>
            </a:fld>
            <a:endParaRPr lang="en-IN"/>
          </a:p>
        </p:txBody>
      </p:sp>
      <p:sp>
        <p:nvSpPr>
          <p:cNvPr id="5" name="Footer Placeholder 4">
            <a:extLst>
              <a:ext uri="{FF2B5EF4-FFF2-40B4-BE49-F238E27FC236}">
                <a16:creationId xmlns:a16="http://schemas.microsoft.com/office/drawing/2014/main" id="{5880B541-D20E-BC80-FE9E-BC13100AFCD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250DBD1-C7D3-A730-1CAD-572345426DAA}"/>
              </a:ext>
            </a:extLst>
          </p:cNvPr>
          <p:cNvSpPr>
            <a:spLocks noGrp="1"/>
          </p:cNvSpPr>
          <p:nvPr>
            <p:ph type="sldNum" sz="quarter" idx="12"/>
          </p:nvPr>
        </p:nvSpPr>
        <p:spPr/>
        <p:txBody>
          <a:bodyPr/>
          <a:lstStyle/>
          <a:p>
            <a:fld id="{CA98CD80-5438-4D89-B0E3-67EC0E099088}" type="slidenum">
              <a:rPr lang="en-IN" smtClean="0"/>
              <a:t>‹#›</a:t>
            </a:fld>
            <a:endParaRPr lang="en-IN"/>
          </a:p>
        </p:txBody>
      </p:sp>
    </p:spTree>
    <p:extLst>
      <p:ext uri="{BB962C8B-B14F-4D97-AF65-F5344CB8AC3E}">
        <p14:creationId xmlns:p14="http://schemas.microsoft.com/office/powerpoint/2010/main" val="4210100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6F4185-CDEA-6A9A-97C8-5571F4A0690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DA9C551-A0FA-1542-4865-12B8709579F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4190D4C-8772-441C-EE94-B536B762D917}"/>
              </a:ext>
            </a:extLst>
          </p:cNvPr>
          <p:cNvSpPr>
            <a:spLocks noGrp="1"/>
          </p:cNvSpPr>
          <p:nvPr>
            <p:ph type="dt" sz="half" idx="10"/>
          </p:nvPr>
        </p:nvSpPr>
        <p:spPr/>
        <p:txBody>
          <a:bodyPr/>
          <a:lstStyle/>
          <a:p>
            <a:fld id="{245F0EAC-318F-40E5-838A-5DE65186082A}" type="datetimeFigureOut">
              <a:rPr lang="en-IN" smtClean="0"/>
              <a:t>27-04-2024</a:t>
            </a:fld>
            <a:endParaRPr lang="en-IN"/>
          </a:p>
        </p:txBody>
      </p:sp>
      <p:sp>
        <p:nvSpPr>
          <p:cNvPr id="5" name="Footer Placeholder 4">
            <a:extLst>
              <a:ext uri="{FF2B5EF4-FFF2-40B4-BE49-F238E27FC236}">
                <a16:creationId xmlns:a16="http://schemas.microsoft.com/office/drawing/2014/main" id="{5BD5FC30-7569-6ECF-2930-003F73AE7CA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927DD49-1AB1-10FE-4DE2-82812AE9F285}"/>
              </a:ext>
            </a:extLst>
          </p:cNvPr>
          <p:cNvSpPr>
            <a:spLocks noGrp="1"/>
          </p:cNvSpPr>
          <p:nvPr>
            <p:ph type="sldNum" sz="quarter" idx="12"/>
          </p:nvPr>
        </p:nvSpPr>
        <p:spPr/>
        <p:txBody>
          <a:bodyPr/>
          <a:lstStyle/>
          <a:p>
            <a:fld id="{CA98CD80-5438-4D89-B0E3-67EC0E099088}" type="slidenum">
              <a:rPr lang="en-IN" smtClean="0"/>
              <a:t>‹#›</a:t>
            </a:fld>
            <a:endParaRPr lang="en-IN"/>
          </a:p>
        </p:txBody>
      </p:sp>
    </p:spTree>
    <p:extLst>
      <p:ext uri="{BB962C8B-B14F-4D97-AF65-F5344CB8AC3E}">
        <p14:creationId xmlns:p14="http://schemas.microsoft.com/office/powerpoint/2010/main" val="61236203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BE38357-564B-B521-66A2-250517FEB260}"/>
              </a:ext>
            </a:extLst>
          </p:cNvPr>
          <p:cNvPicPr>
            <a:picLocks/>
          </p:cNvPicPr>
          <p:nvPr userDrawn="1"/>
        </p:nvPicPr>
        <p:blipFill>
          <a:blip r:embed="rId13">
            <a:alphaModFix amt="5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5D8FE9BB-C25A-09D5-15C5-72A53640E6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4217DCC-8A06-142D-0E4C-8FF6F3B19C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658403E-AED9-8D8C-B768-9C5E0327AB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5F0EAC-318F-40E5-838A-5DE65186082A}" type="datetimeFigureOut">
              <a:rPr lang="en-IN" smtClean="0"/>
              <a:t>27-04-2024</a:t>
            </a:fld>
            <a:endParaRPr lang="en-IN"/>
          </a:p>
        </p:txBody>
      </p:sp>
      <p:sp>
        <p:nvSpPr>
          <p:cNvPr id="5" name="Footer Placeholder 4">
            <a:extLst>
              <a:ext uri="{FF2B5EF4-FFF2-40B4-BE49-F238E27FC236}">
                <a16:creationId xmlns:a16="http://schemas.microsoft.com/office/drawing/2014/main" id="{775788B3-65E8-B40F-4C8C-807B5981E87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80A6B65-51E7-61F0-5F24-71DC685EC2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98CD80-5438-4D89-B0E3-67EC0E099088}" type="slidenum">
              <a:rPr lang="en-IN" smtClean="0"/>
              <a:t>‹#›</a:t>
            </a:fld>
            <a:endParaRPr lang="en-IN"/>
          </a:p>
        </p:txBody>
      </p:sp>
    </p:spTree>
    <p:extLst>
      <p:ext uri="{BB962C8B-B14F-4D97-AF65-F5344CB8AC3E}">
        <p14:creationId xmlns:p14="http://schemas.microsoft.com/office/powerpoint/2010/main" val="15742427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hyperlink" Target="https://github.com/barun-saha/slide-deck-ai/tree/main/icons/png128" TargetMode="External"/><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Climate Change: Understanding the Crisis and Our Role</a:t>
            </a:r>
          </a:p>
        </p:txBody>
      </p:sp>
      <p:sp>
        <p:nvSpPr>
          <p:cNvPr id="3" name="Subtitle 2"/>
          <p:cNvSpPr>
            <a:spLocks noGrp="1"/>
          </p:cNvSpPr>
          <p:nvPr>
            <p:ph type="subTitle" idx="1"/>
          </p:nvPr>
        </p:nvSpPr>
        <p:spPr/>
        <p:txBody>
          <a:bodyPr/>
          <a:lstStyle/>
          <a:p>
            <a:r>
              <a:t>by Myself and SlideDeck AI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Welcome: Understanding Climate Change – A Global Imperative</a:t>
            </a:r>
          </a:p>
        </p:txBody>
      </p:sp>
      <p:sp>
        <p:nvSpPr>
          <p:cNvPr id="3" name="Content Placeholder 2"/>
          <p:cNvSpPr>
            <a:spLocks noGrp="1"/>
          </p:cNvSpPr>
          <p:nvPr>
            <p:ph idx="1"/>
          </p:nvPr>
        </p:nvSpPr>
        <p:spPr/>
        <p:txBody>
          <a:bodyPr/>
          <a:lstStyle/>
          <a:p>
            <a:r>
              <a:t>Welcome to this critical discussion on </a:t>
            </a:r>
            <a:r>
              <a:rPr i="1"/>
              <a:t>Climate Change</a:t>
            </a:r>
            <a:r>
              <a:t>, one of the most pressing challenges of our time.</a:t>
            </a:r>
          </a:p>
          <a:p>
            <a:pPr/>
            <a:r>
              <a:t>This presentation aims to provide a comprehensive overview of what climate change is, its causes, profound impacts, and the urgent need for both mitigation and adaptation strategies.</a:t>
            </a:r>
          </a:p>
          <a:p>
            <a:pPr/>
            <a:r>
              <a:t>We will explore the scientific consensus, examine global efforts, and highlight the vital role each of us plays in shaping a sustainable future.</a:t>
            </a:r>
          </a:p>
          <a:p>
            <a:pPr/>
            <a:r>
              <a:t>Our goal is to foster a deeper understanding and inspire informed action towards a resilient planet.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Defining Climate Change: More Than Just Weather Fluctuations</a:t>
            </a:r>
          </a:p>
        </p:txBody>
      </p:sp>
      <p:sp>
        <p:nvSpPr>
          <p:cNvPr id="3" name="Content Placeholder 2"/>
          <p:cNvSpPr>
            <a:spLocks noGrp="1"/>
          </p:cNvSpPr>
          <p:nvPr>
            <p:ph idx="1"/>
          </p:nvPr>
        </p:nvSpPr>
        <p:spPr/>
        <p:txBody>
          <a:bodyPr/>
          <a:lstStyle/>
          <a:p>
            <a:r>
              <a:rPr b="1"/>
              <a:t>Climate Change</a:t>
            </a:r>
            <a:r>
              <a:t> refers to </a:t>
            </a:r>
            <a:r>
              <a:rPr i="1"/>
              <a:t>long-term shifts</a:t>
            </a:r>
            <a:r>
              <a:t> in temperatures and weather patterns, primarily driven by human activities since the Industrial Revolution.</a:t>
            </a:r>
          </a:p>
          <a:p>
            <a:pPr lvl="1"/>
            <a:r>
              <a:t>These shifts can be natural, but current changes are occurring at an unprecedented rate and scale.</a:t>
            </a:r>
          </a:p>
          <a:p>
            <a:pPr lvl="1"/>
            <a:r>
              <a:t>It's crucial to distinguish climate from weather: </a:t>
            </a:r>
            <a:r>
              <a:rPr i="1"/>
              <a:t>weather</a:t>
            </a:r>
            <a:r>
              <a:t> is short-term atmospheric conditions (e.g., today's rain), while </a:t>
            </a:r>
            <a:r>
              <a:rPr i="1"/>
              <a:t>climate</a:t>
            </a:r>
            <a:r>
              <a:t> is the average weather over a long period (e.g., typical summer temperatures).</a:t>
            </a:r>
          </a:p>
          <a:p>
            <a:pPr/>
            <a:r>
              <a:t>The scientific consensus, supported by organizations like the IPCC, confirms that the Earth's climate is unequivocally warming, with human influence being the dominant cause.</a:t>
            </a:r>
          </a:p>
          <a:p>
            <a:pPr/>
            <a:r>
              <a:rPr b="1"/>
              <a:t>Example:</a:t>
            </a:r>
            <a:r>
              <a:t> While a single cold winter might seem to contradict global warming, the </a:t>
            </a:r>
            <a:r>
              <a:rPr i="1"/>
              <a:t>average global temperature trend</a:t>
            </a:r>
            <a:r>
              <a:t> over decades clearly shows a significant increase, indicating a shift in climate patterns, not just a single weather event.</a:t>
            </a:r>
          </a:p>
        </p:txBody>
      </p:sp>
      <p:sp>
        <p:nvSpPr>
          <p:cNvPr id="4" name="Rounded Rectangle 3"/>
          <p:cNvSpPr/>
          <p:nvPr/>
        </p:nvSpPr>
        <p:spPr>
          <a:xfrm>
            <a:off x="3445565" y="5303520"/>
            <a:ext cx="5300869" cy="146304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Climate change represents a fundamental, long-term alteration of Earth's climate system, distinct from natural weather variability, and is overwhelmingly driven by human activities.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Unmistakable Evidence: Key Indicators of a Warming Planet</a:t>
            </a:r>
          </a:p>
        </p:txBody>
      </p:sp>
      <p:sp>
        <p:nvSpPr>
          <p:cNvPr id="3" name="Content Placeholder 2"/>
          <p:cNvSpPr>
            <a:spLocks noGrp="1"/>
          </p:cNvSpPr>
          <p:nvPr>
            <p:ph idx="1"/>
          </p:nvPr>
        </p:nvSpPr>
        <p:spPr/>
        <p:txBody>
          <a:bodyPr/>
          <a:lstStyle/>
          <a:p/>
        </p:txBody>
      </p:sp>
      <p:graphicFrame>
        <p:nvGraphicFramePr>
          <p:cNvPr id="4" name="Table 3"/>
          <p:cNvGraphicFramePr>
            <a:graphicFrameLocks noGrp="1"/>
          </p:cNvGraphicFramePr>
          <p:nvPr/>
        </p:nvGraphicFramePr>
        <p:xfrm>
          <a:off x="838200" y="1825625"/>
          <a:ext cx="10515600" cy="4351338"/>
        </p:xfrm>
        <a:graphic>
          <a:graphicData uri="http://schemas.openxmlformats.org/drawingml/2006/table">
            <a:tbl>
              <a:tblPr firstRow="1" bandRow="1">
                <a:tableStyleId>{5C22544A-7EE6-4342-B048-85BDC9FD1C3A}</a:tableStyleId>
              </a:tblPr>
              <a:tblGrid>
                <a:gridCol w="3505200"/>
                <a:gridCol w="3505200"/>
                <a:gridCol w="3505200"/>
              </a:tblGrid>
              <a:tr h="725223">
                <a:tc>
                  <a:txBody>
                    <a:bodyPr/>
                    <a:lstStyle/>
                    <a:p>
                      <a:pPr>
                        <a:defRPr b="1"/>
                      </a:pPr>
                      <a:r>
                        <a:t>Indicator</a:t>
                      </a:r>
                    </a:p>
                  </a:txBody>
                  <a:tcPr/>
                </a:tc>
                <a:tc>
                  <a:txBody>
                    <a:bodyPr/>
                    <a:lstStyle/>
                    <a:p>
                      <a:pPr>
                        <a:defRPr b="1"/>
                      </a:pPr>
                      <a:r>
                        <a:t>Observed Change (Since Pre-Industrial Era)</a:t>
                      </a:r>
                    </a:p>
                  </a:txBody>
                  <a:tcPr/>
                </a:tc>
                <a:tc>
                  <a:txBody>
                    <a:bodyPr/>
                    <a:lstStyle/>
                    <a:p>
                      <a:pPr>
                        <a:defRPr b="1"/>
                      </a:pPr>
                      <a:r>
                        <a:t>Significance</a:t>
                      </a:r>
                    </a:p>
                  </a:txBody>
                  <a:tcPr/>
                </a:tc>
              </a:tr>
              <a:tr h="725223">
                <a:tc>
                  <a:txBody>
                    <a:bodyPr/>
                    <a:lstStyle/>
                    <a:p>
                      <a:r>
                        <a:t>Global Average Temperature</a:t>
                      </a:r>
                    </a:p>
                  </a:txBody>
                  <a:tcPr/>
                </a:tc>
                <a:tc>
                  <a:txBody>
                    <a:bodyPr/>
                    <a:lstStyle/>
                    <a:p>
                      <a:r>
                        <a:t>Increased by ~1.1°C (2°F)</a:t>
                      </a:r>
                    </a:p>
                  </a:txBody>
                  <a:tcPr/>
                </a:tc>
                <a:tc>
                  <a:txBody>
                    <a:bodyPr/>
                    <a:lstStyle/>
                    <a:p>
                      <a:r>
                        <a:t>Direct measure of warming, leading to more frequent heatwaves and altered ecosystems.</a:t>
                      </a:r>
                    </a:p>
                  </a:txBody>
                  <a:tcPr/>
                </a:tc>
              </a:tr>
              <a:tr h="725223">
                <a:tc>
                  <a:txBody>
                    <a:bodyPr/>
                    <a:lstStyle/>
                    <a:p>
                      <a:r>
                        <a:t>Atmospheric CO2 Concentration</a:t>
                      </a:r>
                    </a:p>
                  </a:txBody>
                  <a:tcPr/>
                </a:tc>
                <a:tc>
                  <a:txBody>
                    <a:bodyPr/>
                    <a:lstStyle/>
                    <a:p>
                      <a:r>
                        <a:t>Increased from ~280 ppm to &gt;420 ppm</a:t>
                      </a:r>
                    </a:p>
                  </a:txBody>
                  <a:tcPr/>
                </a:tc>
                <a:tc>
                  <a:txBody>
                    <a:bodyPr/>
                    <a:lstStyle/>
                    <a:p>
                      <a:r>
                        <a:t>Primary driver of the enhanced greenhouse effect, trapping more heat in the atmosphere.</a:t>
                      </a:r>
                    </a:p>
                  </a:txBody>
                  <a:tcPr/>
                </a:tc>
              </a:tr>
              <a:tr h="725223">
                <a:tc>
                  <a:txBody>
                    <a:bodyPr/>
                    <a:lstStyle/>
                    <a:p>
                      <a:r>
                        <a:t>Global Mean Sea Level</a:t>
                      </a:r>
                    </a:p>
                  </a:txBody>
                  <a:tcPr/>
                </a:tc>
                <a:tc>
                  <a:txBody>
                    <a:bodyPr/>
                    <a:lstStyle/>
                    <a:p>
                      <a:r>
                        <a:t>Increased by ~20 cm (8 inches)</a:t>
                      </a:r>
                    </a:p>
                  </a:txBody>
                  <a:tcPr/>
                </a:tc>
                <a:tc>
                  <a:txBody>
                    <a:bodyPr/>
                    <a:lstStyle/>
                    <a:p>
                      <a:r>
                        <a:t>Caused by thermal expansion of water and melting ice, threatening coastal communities and ecosystems.</a:t>
                      </a:r>
                    </a:p>
                  </a:txBody>
                  <a:tcPr/>
                </a:tc>
              </a:tr>
              <a:tr h="725223">
                <a:tc>
                  <a:txBody>
                    <a:bodyPr/>
                    <a:lstStyle/>
                    <a:p>
                      <a:r>
                        <a:t>Arctic Sea Ice Extent</a:t>
                      </a:r>
                    </a:p>
                  </a:txBody>
                  <a:tcPr/>
                </a:tc>
                <a:tc>
                  <a:txBody>
                    <a:bodyPr/>
                    <a:lstStyle/>
                    <a:p>
                      <a:r>
                        <a:t>Declined by ~13% per decade (since 1979)</a:t>
                      </a:r>
                    </a:p>
                  </a:txBody>
                  <a:tcPr/>
                </a:tc>
                <a:tc>
                  <a:txBody>
                    <a:bodyPr/>
                    <a:lstStyle/>
                    <a:p>
                      <a:r>
                        <a:t>Reduces Earth's albedo (reflectivity), accelerating warming and impacting polar ecosystems.</a:t>
                      </a:r>
                    </a:p>
                  </a:txBody>
                  <a:tcPr/>
                </a:tc>
              </a:tr>
              <a:tr h="725223">
                <a:tc>
                  <a:txBody>
                    <a:bodyPr/>
                    <a:lstStyle/>
                    <a:p>
                      <a:r>
                        <a:t>Ocean Heat Content</a:t>
                      </a:r>
                    </a:p>
                  </a:txBody>
                  <a:tcPr/>
                </a:tc>
                <a:tc>
                  <a:txBody>
                    <a:bodyPr/>
                    <a:lstStyle/>
                    <a:p>
                      <a:r>
                        <a:t>Increased significantly, especially in upper layers</a:t>
                      </a:r>
                    </a:p>
                  </a:txBody>
                  <a:tcPr/>
                </a:tc>
                <a:tc>
                  <a:txBody>
                    <a:bodyPr/>
                    <a:lstStyle/>
                    <a:p>
                      <a:r>
                        <a:t>Oceans absorb over 90% of excess heat, leading to marine heatwaves, coral bleaching, and sea level rise.</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Driving Forces: Natural Cycles vs. Human Impact</a:t>
            </a:r>
          </a:p>
        </p:txBody>
      </p:sp>
      <p:sp>
        <p:nvSpPr>
          <p:cNvPr id="3" name="Picture Placeholder 2"/>
          <p:cNvSpPr>
            <a:spLocks noGrp="1"/>
          </p:cNvSpPr>
          <p:nvPr>
            <p:ph type="pic" idx="1"/>
          </p:nvPr>
        </p:nvSpPr>
        <p:spPr/>
      </p:sp>
      <p:sp>
        <p:nvSpPr>
          <p:cNvPr id="4" name="Text Placeholder 3"/>
          <p:cNvSpPr>
            <a:spLocks noGrp="1"/>
          </p:cNvSpPr>
          <p:nvPr>
            <p:ph type="body" idx="2" sz="half"/>
          </p:nvPr>
        </p:nvSpPr>
        <p:spPr/>
        <p:txBody>
          <a:bodyPr/>
          <a:lstStyle/>
          <a:p>
            <a:r>
              <a:t>While Earth's climate has always changed naturally, the </a:t>
            </a:r>
            <a:r>
              <a:rPr i="1"/>
              <a:t>rate and magnitude</a:t>
            </a:r>
            <a:r>
              <a:t> of current warming are unprecedented and primarily attributed to human activities.</a:t>
            </a:r>
          </a:p>
          <a:p>
            <a:pPr/>
            <a:r>
              <a:rPr b="1"/>
              <a:t>Natural Factors:</a:t>
            </a:r>
          </a:p>
          <a:p>
            <a:pPr lvl="1"/>
            <a:r>
              <a:t>Volcanic eruptions: Release aerosols that can temporarily cool the planet.</a:t>
            </a:r>
          </a:p>
          <a:p>
            <a:pPr lvl="1"/>
            <a:r>
              <a:t>Solar radiation variations: Minor fluctuations in the sun's energy output.</a:t>
            </a:r>
          </a:p>
          <a:p>
            <a:pPr lvl="1"/>
            <a:r>
              <a:t>Orbital cycles (Milankovitch cycles): Long-term changes in Earth's orbit and tilt, influencing ice ages over millennia.</a:t>
            </a:r>
          </a:p>
          <a:p>
            <a:pPr/>
            <a:r>
              <a:rPr b="1"/>
              <a:t>Anthropogenic Factors (Human-Caused):</a:t>
            </a:r>
          </a:p>
          <a:p>
            <a:pPr lvl="1"/>
            <a:r>
              <a:rPr b="1"/>
              <a:t>Burning of Fossil Fuels:</a:t>
            </a:r>
            <a:r>
              <a:t> Coal, oil, and natural gas release vast amounts of carbon dioxide (CO2) and other greenhouse gases (GHGs) when combusted for energy, transportation, and industry.</a:t>
            </a:r>
          </a:p>
          <a:p>
            <a:pPr lvl="1"/>
            <a:r>
              <a:rPr b="1"/>
              <a:t>Deforestation:</a:t>
            </a:r>
            <a:r>
              <a:t> Forests act as carbon sinks, absorbing CO2. Their destruction for agriculture, logging, or development releases stored carbon and reduces the planet's capacity to absorb future emissions.</a:t>
            </a:r>
          </a:p>
          <a:p>
            <a:pPr lvl="1"/>
            <a:r>
              <a:rPr b="1"/>
              <a:t>Industrial Processes &amp; Agriculture:</a:t>
            </a:r>
            <a:r>
              <a:t> Manufacturing, cement production, and livestock farming (methane from cattle) contribute significantly to GHG emissions.</a:t>
            </a:r>
          </a:p>
          <a:p>
            <a:pPr/>
            <a:r>
              <a:rPr b="1"/>
              <a:t>Example:</a:t>
            </a:r>
            <a:r>
              <a:t> The dramatic increase in atmospheric CO2 concentrations since the Industrial Revolution (mid-18th century) directly correlates with the rise in global temperatures, far exceeding natural fluctuations observed over hundreds of thousands of years.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Greenhouse Effect: Earth's Natural Blanket, Intensified</a:t>
            </a:r>
          </a:p>
        </p:txBody>
      </p:sp>
      <p:sp>
        <p:nvSpPr>
          <p:cNvPr id="3" name="Content Placeholder 2"/>
          <p:cNvSpPr>
            <a:spLocks noGrp="1"/>
          </p:cNvSpPr>
          <p:nvPr>
            <p:ph idx="1"/>
          </p:nvPr>
        </p:nvSpPr>
        <p:spPr/>
        <p:txBody>
          <a:bodyPr/>
          <a:lstStyle/>
          <a:p>
            <a:r>
              <a:rPr b="1"/>
              <a:t>Solar Radiation Enters:</a:t>
            </a:r>
            <a:r>
              <a:t> Shortwave radiation from the sun penetrates Earth's atmosphere, warming the planet's surface.</a:t>
            </a:r>
          </a:p>
          <a:p>
            <a:pPr/>
            <a:r>
              <a:rPr b="1"/>
              <a:t>Earth Absorbs and Re-emits:</a:t>
            </a:r>
            <a:r>
              <a:t> The Earth's surface absorbs this solar energy and then re-emits it as longer-wave infrared (heat) radiation.</a:t>
            </a:r>
          </a:p>
          <a:p>
            <a:pPr/>
            <a:r>
              <a:rPr b="1"/>
              <a:t>Greenhouse Gases Trap Heat:</a:t>
            </a:r>
            <a:r>
              <a:t> Naturally occurring greenhouse gases (GHGs) like carbon dioxide (CO2), methane (CH4), and nitrous oxide (N2O) in the atmosphere absorb some of this outgoing infrared radiation, preventing it from escaping directly into space.</a:t>
            </a:r>
          </a:p>
          <a:p>
            <a:pPr lvl="1"/>
            <a:r>
              <a:t>This natural process is vital for life, keeping Earth warm enough to support ecosystems; without it, our planet would be a frozen wasteland.</a:t>
            </a:r>
          </a:p>
          <a:p>
            <a:pPr/>
            <a:r>
              <a:rPr b="1"/>
              <a:t>Increased GHGs Lead to Warming:</a:t>
            </a:r>
            <a:r>
              <a:t> Human activities, primarily the burning of fossil fuels and deforestation, have significantly increased the concentration of these GHGs in the atmosphere.</a:t>
            </a:r>
          </a:p>
          <a:p>
            <a:pPr lvl="1"/>
            <a:r>
              <a:t>This 'enhanced' greenhouse effect traps </a:t>
            </a:r>
            <a:r>
              <a:rPr i="1"/>
              <a:t>more</a:t>
            </a:r>
            <a:r>
              <a:t> heat, leading to a gradual increase in global average temperatures, which is what we call global warming and, consequently, climate change.</a:t>
            </a:r>
          </a:p>
          <a:p>
            <a:pPr/>
            <a:r>
              <a:rPr b="1"/>
              <a:t>Example:</a:t>
            </a:r>
            <a:r>
              <a:t> Think of a car parked in the sun. Sunlight passes through the windows, heats the interior, and the heat gets trapped inside, making the car much warmer than the outside air. The car's windows act like greenhouse gases, allowing sunlight in but trapping heat.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Far-Reaching Consequences: Environmental and Socio-Economic Impacts</a:t>
            </a:r>
          </a:p>
        </p:txBody>
      </p:sp>
      <p:sp>
        <p:nvSpPr>
          <p:cNvPr id="3" name="Text Placeholder 2"/>
          <p:cNvSpPr>
            <a:spLocks noGrp="1"/>
          </p:cNvSpPr>
          <p:nvPr>
            <p:ph type="body" idx="1"/>
          </p:nvPr>
        </p:nvSpPr>
        <p:spPr/>
        <p:txBody>
          <a:bodyPr/>
          <a:lstStyle/>
          <a:p>
            <a:r>
              <a:t>Environmental Impacts</a:t>
            </a:r>
          </a:p>
        </p:txBody>
      </p:sp>
      <p:sp>
        <p:nvSpPr>
          <p:cNvPr id="4" name="Content Placeholder 3"/>
          <p:cNvSpPr>
            <a:spLocks noGrp="1"/>
          </p:cNvSpPr>
          <p:nvPr>
            <p:ph idx="2" sz="half"/>
          </p:nvPr>
        </p:nvSpPr>
        <p:spPr/>
        <p:txBody>
          <a:bodyPr/>
          <a:lstStyle/>
          <a:p>
            <a:r>
              <a:rPr b="1"/>
              <a:t>Rising Sea Levels:</a:t>
            </a:r>
            <a:r>
              <a:t> Melting glaciers and ice sheets, combined with thermal expansion of warming oceans, lead to higher sea levels, threatening coastal cities and ecosystems.</a:t>
            </a:r>
          </a:p>
          <a:p>
            <a:pPr/>
            <a:r>
              <a:rPr b="1"/>
              <a:t>Extreme Weather Events:</a:t>
            </a:r>
            <a:r>
              <a:t> Increased frequency and intensity of heatwaves, droughts, floods, wildfires, and severe storms.</a:t>
            </a:r>
          </a:p>
          <a:p>
            <a:pPr/>
            <a:r>
              <a:rPr b="1"/>
              <a:t>Biodiversity Loss:</a:t>
            </a:r>
            <a:r>
              <a:t> Habitats are destroyed, species struggle to adapt to rapid changes, leading to extinctions and ecosystem collapse.</a:t>
            </a:r>
          </a:p>
          <a:p>
            <a:pPr/>
            <a:r>
              <a:rPr b="1"/>
              <a:t>Ocean Acidification:</a:t>
            </a:r>
            <a:r>
              <a:t> Oceans absorb excess CO2, becoming more acidic, which harms marine life, especially shellfish and coral reefs.</a:t>
            </a:r>
          </a:p>
          <a:p>
            <a:pPr/>
            <a:r>
              <a:rPr b="1"/>
              <a:t>Disruption of Ecosystems:</a:t>
            </a:r>
            <a:r>
              <a:t> Changes in plant blooming times, animal migration patterns, and agricultural growing seasons.</a:t>
            </a:r>
          </a:p>
        </p:txBody>
      </p:sp>
      <p:sp>
        <p:nvSpPr>
          <p:cNvPr id="5" name="Text Placeholder 4"/>
          <p:cNvSpPr>
            <a:spLocks noGrp="1"/>
          </p:cNvSpPr>
          <p:nvPr>
            <p:ph type="body" idx="3" sz="quarter"/>
          </p:nvPr>
        </p:nvSpPr>
        <p:spPr/>
        <p:txBody>
          <a:bodyPr/>
          <a:lstStyle/>
          <a:p>
            <a:r>
              <a:t>Socio-Economic Impacts</a:t>
            </a:r>
          </a:p>
        </p:txBody>
      </p:sp>
      <p:sp>
        <p:nvSpPr>
          <p:cNvPr id="6" name="Content Placeholder 5"/>
          <p:cNvSpPr>
            <a:spLocks noGrp="1"/>
          </p:cNvSpPr>
          <p:nvPr>
            <p:ph idx="4" sz="quarter"/>
          </p:nvPr>
        </p:nvSpPr>
        <p:spPr/>
        <p:txBody>
          <a:bodyPr/>
          <a:lstStyle/>
          <a:p>
            <a:r>
              <a:rPr b="1"/>
              <a:t>Food and Water Insecurity:</a:t>
            </a:r>
            <a:r>
              <a:t> Droughts, floods, and changing weather patterns disrupt agriculture, leading to crop failures and water shortages, particularly in vulnerable regions.</a:t>
            </a:r>
          </a:p>
          <a:p>
            <a:pPr/>
            <a:r>
              <a:rPr b="1"/>
              <a:t>Human Displacement &amp; Migration:</a:t>
            </a:r>
            <a:r>
              <a:t> Rising sea levels and extreme weather force communities to abandon their homes, creating 'climate refugees' and increasing humanitarian crises.</a:t>
            </a:r>
          </a:p>
          <a:p>
            <a:pPr/>
            <a:r>
              <a:rPr b="1"/>
              <a:t>Health Risks:</a:t>
            </a:r>
            <a:r>
              <a:t> Increased heat-related illnesses, spread of vector-borne diseases (e.g., malaria, dengue fever) as their ranges expand, and respiratory problems from air pollution and wildfires.</a:t>
            </a:r>
          </a:p>
          <a:p>
            <a:pPr/>
            <a:r>
              <a:rPr b="1"/>
              <a:t>Economic Losses:</a:t>
            </a:r>
            <a:r>
              <a:t> Damage to infrastructure, agricultural losses, and reduced productivity incur massive economic costs, disproportionately affecting developing nations.</a:t>
            </a:r>
          </a:p>
          <a:p>
            <a:pPr/>
            <a:r>
              <a:rPr b="1"/>
              <a:t>Social Instability:</a:t>
            </a:r>
            <a:r>
              <a:t> Resource scarcity and displacement can exacerbate existing social tensions and conflicts.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Frontlines of Change: Ecosystems and Communities at Risk</a:t>
            </a:r>
          </a:p>
        </p:txBody>
      </p:sp>
      <p:sp>
        <p:nvSpPr>
          <p:cNvPr id="3" name="Picture Placeholder 2"/>
          <p:cNvSpPr>
            <a:spLocks noGrp="1"/>
          </p:cNvSpPr>
          <p:nvPr>
            <p:ph type="pic" idx="1"/>
          </p:nvPr>
        </p:nvSpPr>
        <p:spPr/>
      </p:sp>
      <p:sp>
        <p:nvSpPr>
          <p:cNvPr id="4" name="Text Placeholder 3"/>
          <p:cNvSpPr>
            <a:spLocks noGrp="1"/>
          </p:cNvSpPr>
          <p:nvPr>
            <p:ph type="body" idx="2" sz="half"/>
          </p:nvPr>
        </p:nvSpPr>
        <p:spPr/>
        <p:txBody>
          <a:bodyPr/>
          <a:lstStyle/>
          <a:p>
            <a:r>
              <a:t>Climate change impacts are not uniform; certain ecosystems and human communities are disproportionately vulnerable due to their geography, socio-economic conditions, or reliance on specific natural resources.</a:t>
            </a:r>
          </a:p>
          <a:p>
            <a:pPr/>
            <a:r>
              <a:rPr b="1"/>
              <a:t>Polar Regions:</a:t>
            </a:r>
            <a:r>
              <a:t> Experiencing warming at twice the global average, leading to rapid melting of ice sheets and glaciers, threatening unique wildlife like polar bears and disrupting indigenous communities' traditional ways of life.</a:t>
            </a:r>
          </a:p>
          <a:p>
            <a:pPr/>
            <a:r>
              <a:rPr b="1"/>
              <a:t>Small Island Developing States (SIDS):</a:t>
            </a:r>
            <a:r>
              <a:t> Extremely vulnerable to sea-level rise, coastal erosion, saltwater intrusion into freshwater sources, and increased intensity of tropical storms. Many face the existential threat of being submerged.</a:t>
            </a:r>
          </a:p>
          <a:p>
            <a:pPr/>
            <a:r>
              <a:rPr b="1"/>
              <a:t>Coastal Cities and Low-Lying Areas:</a:t>
            </a:r>
            <a:r>
              <a:t> Densely populated regions are at high risk from rising sea levels, storm surges, and coastal flooding, impacting infrastructure, economies, and human settlements.</a:t>
            </a:r>
          </a:p>
          <a:p>
            <a:pPr/>
            <a:r>
              <a:rPr b="1"/>
              <a:t>Agricultural Communities:</a:t>
            </a:r>
            <a:r>
              <a:t> Farmers, especially in arid and semi-arid regions, face severe challenges from prolonged droughts, unpredictable rainfall, and extreme heat, leading to crop failures and food insecurity.</a:t>
            </a:r>
          </a:p>
          <a:p>
            <a:pPr/>
            <a:r>
              <a:rPr b="1"/>
              <a:t>Example 1 (Ecosystem):</a:t>
            </a:r>
            <a:r>
              <a:t> The </a:t>
            </a:r>
            <a:r>
              <a:rPr i="1"/>
              <a:t>Great Barrier Reef</a:t>
            </a:r>
            <a:r>
              <a:t> in Australia has suffered multiple mass coral bleaching events due to rising ocean temperatures, leading to significant coral mortality and threatening its rich biodiversity.</a:t>
            </a:r>
          </a:p>
          <a:p>
            <a:pPr/>
            <a:r>
              <a:rPr b="1"/>
              <a:t>Example 2 (Community):</a:t>
            </a:r>
            <a:r>
              <a:t> The inhabitants of low-lying island nations like </a:t>
            </a:r>
            <a:r>
              <a:rPr i="1"/>
              <a:t>Tuvalu</a:t>
            </a:r>
            <a:r>
              <a:t> are already experiencing land loss due to sea-level rise and increased storm intensity, forcing discussions about potential relocation and loss of cultural heritage.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Charting a New Course: Strategies for Reducing Emissions</a:t>
            </a:r>
          </a:p>
        </p:txBody>
      </p:sp>
      <p:sp>
        <p:nvSpPr>
          <p:cNvPr id="3" name="Rounded Rectangle 2"/>
          <p:cNvSpPr/>
          <p:nvPr/>
        </p:nvSpPr>
        <p:spPr>
          <a:xfrm>
            <a:off x="1023257" y="2651760"/>
            <a:ext cx="914400" cy="914400"/>
          </a:xfrm>
          <a:prstGeom prst="roundRect">
            <a:avLst/>
          </a:prstGeom>
          <a:solidFill>
            <a:srgbClr val="2F4F4F"/>
          </a:solidFill>
          <a:ln>
            <a:solidFill>
              <a:srgbClr val="2F4F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olar-panel.png"/>
          <p:cNvPicPr>
            <a:picLocks noChangeAspect="1"/>
          </p:cNvPicPr>
          <p:nvPr/>
        </p:nvPicPr>
        <p:blipFill>
          <a:blip r:embed="rId2"/>
          <a:stretch>
            <a:fillRect/>
          </a:stretch>
        </p:blipFill>
        <p:spPr>
          <a:xfrm>
            <a:off x="1114697" y="2743200"/>
            <a:ext cx="731520" cy="731520"/>
          </a:xfrm>
          <a:prstGeom prst="rect">
            <a:avLst/>
          </a:prstGeom>
        </p:spPr>
      </p:pic>
      <p:sp>
        <p:nvSpPr>
          <p:cNvPr id="5" name="Rounded Rectangle 4"/>
          <p:cNvSpPr/>
          <p:nvPr/>
        </p:nvSpPr>
        <p:spPr>
          <a:xfrm>
            <a:off x="566057" y="3657600"/>
            <a:ext cx="1828800" cy="18288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a:solidFill>
                  <a:schemeClr val="tx2"/>
                </a:solidFill>
              </a:rPr>
              <a:t>Transition to Renewable Energy:</a:t>
            </a:r>
            <a:r>
              <a:rPr>
                <a:solidFill>
                  <a:schemeClr val="tx2"/>
                </a:solidFill>
              </a:rPr>
              <a:t> Shifting from fossil fuels to clean energy sources like solar, wind, hydro, and geothermal power is fundamental to decarbonizing our energy systems.</a:t>
            </a:r>
          </a:p>
        </p:txBody>
      </p:sp>
      <p:sp>
        <p:nvSpPr>
          <p:cNvPr id="6" name="TextBox 5"/>
          <p:cNvSpPr txBox="1"/>
          <p:nvPr/>
        </p:nvSpPr>
        <p:spPr>
          <a:xfrm>
            <a:off x="914400" y="6400800"/>
            <a:ext cx="12191999" cy="457200"/>
          </a:xfrm>
          <a:prstGeom prst="rect">
            <a:avLst/>
          </a:prstGeom>
          <a:noFill/>
        </p:spPr>
        <p:txBody>
          <a:bodyPr wrap="none">
            <a:spAutoFit/>
          </a:bodyPr>
          <a:lstStyle/>
          <a:p>
            <a:r>
              <a:rPr sz="1000" u="none">
                <a:hlinkClick r:id="rId3"/>
              </a:rPr>
              <a:t>More icons available in the SlideDeck AI repository</a:t>
            </a:r>
          </a:p>
        </p:txBody>
      </p:sp>
      <p:sp>
        <p:nvSpPr>
          <p:cNvPr id="7" name="Rounded Rectangle 6"/>
          <p:cNvSpPr/>
          <p:nvPr/>
        </p:nvSpPr>
        <p:spPr>
          <a:xfrm>
            <a:off x="2869474" y="2651760"/>
            <a:ext cx="914400" cy="914400"/>
          </a:xfrm>
          <a:prstGeom prst="roundRect">
            <a:avLst/>
          </a:prstGeom>
          <a:solidFill>
            <a:srgbClr val="2F4F4F"/>
          </a:solidFill>
          <a:ln>
            <a:solidFill>
              <a:srgbClr val="2F4F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achine-learning.png"/>
          <p:cNvPicPr>
            <a:picLocks noChangeAspect="1"/>
          </p:cNvPicPr>
          <p:nvPr/>
        </p:nvPicPr>
        <p:blipFill>
          <a:blip r:embed="rId4"/>
          <a:stretch>
            <a:fillRect/>
          </a:stretch>
        </p:blipFill>
        <p:spPr>
          <a:xfrm>
            <a:off x="2960914" y="2743200"/>
            <a:ext cx="731520" cy="731520"/>
          </a:xfrm>
          <a:prstGeom prst="rect">
            <a:avLst/>
          </a:prstGeom>
        </p:spPr>
      </p:pic>
      <p:sp>
        <p:nvSpPr>
          <p:cNvPr id="9" name="Rounded Rectangle 8"/>
          <p:cNvSpPr/>
          <p:nvPr/>
        </p:nvSpPr>
        <p:spPr>
          <a:xfrm>
            <a:off x="2412274" y="3657600"/>
            <a:ext cx="1828800" cy="18288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a:solidFill>
                  <a:schemeClr val="tx2"/>
                </a:solidFill>
              </a:rPr>
              <a:t>Energy Efficiency and Conservation:</a:t>
            </a:r>
            <a:r>
              <a:rPr>
                <a:solidFill>
                  <a:schemeClr val="tx2"/>
                </a:solidFill>
              </a:rPr>
              <a:t> Reducing energy consumption through improved insulation, efficient appliances, smart grids, and behavioral changes minimizes demand and emissions.</a:t>
            </a:r>
          </a:p>
        </p:txBody>
      </p:sp>
      <p:sp>
        <p:nvSpPr>
          <p:cNvPr id="10" name="TextBox 9"/>
          <p:cNvSpPr txBox="1"/>
          <p:nvPr/>
        </p:nvSpPr>
        <p:spPr>
          <a:xfrm>
            <a:off x="914400" y="6400800"/>
            <a:ext cx="12191999" cy="457200"/>
          </a:xfrm>
          <a:prstGeom prst="rect">
            <a:avLst/>
          </a:prstGeom>
          <a:noFill/>
        </p:spPr>
        <p:txBody>
          <a:bodyPr wrap="none">
            <a:spAutoFit/>
          </a:bodyPr>
          <a:lstStyle/>
          <a:p>
            <a:r>
              <a:rPr sz="1000" u="none">
                <a:hlinkClick r:id="rId3"/>
              </a:rPr>
              <a:t>More icons available in the SlideDeck AI repository</a:t>
            </a:r>
          </a:p>
        </p:txBody>
      </p:sp>
      <p:sp>
        <p:nvSpPr>
          <p:cNvPr id="11" name="Rounded Rectangle 10"/>
          <p:cNvSpPr/>
          <p:nvPr/>
        </p:nvSpPr>
        <p:spPr>
          <a:xfrm>
            <a:off x="4715691" y="2651760"/>
            <a:ext cx="914400" cy="914400"/>
          </a:xfrm>
          <a:prstGeom prst="roundRect">
            <a:avLst/>
          </a:prstGeom>
          <a:solidFill>
            <a:srgbClr val="6A5ACD"/>
          </a:solidFill>
          <a:ln>
            <a:solidFill>
              <a:srgbClr val="6A5A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inance-strategy.png"/>
          <p:cNvPicPr>
            <a:picLocks noChangeAspect="1"/>
          </p:cNvPicPr>
          <p:nvPr/>
        </p:nvPicPr>
        <p:blipFill>
          <a:blip r:embed="rId5"/>
          <a:stretch>
            <a:fillRect/>
          </a:stretch>
        </p:blipFill>
        <p:spPr>
          <a:xfrm>
            <a:off x="4807131" y="2743200"/>
            <a:ext cx="731520" cy="731520"/>
          </a:xfrm>
          <a:prstGeom prst="rect">
            <a:avLst/>
          </a:prstGeom>
        </p:spPr>
      </p:pic>
      <p:sp>
        <p:nvSpPr>
          <p:cNvPr id="13" name="Rounded Rectangle 12"/>
          <p:cNvSpPr/>
          <p:nvPr/>
        </p:nvSpPr>
        <p:spPr>
          <a:xfrm>
            <a:off x="4258491" y="3657600"/>
            <a:ext cx="1828800" cy="18288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a:solidFill>
                  <a:schemeClr val="tx2"/>
                </a:solidFill>
              </a:rPr>
              <a:t>Sustainable Land Use and Agriculture:</a:t>
            </a:r>
            <a:r>
              <a:rPr>
                <a:solidFill>
                  <a:schemeClr val="tx2"/>
                </a:solidFill>
              </a:rPr>
              <a:t> Implementing practices that reduce emissions from farming (e.g., precision agriculture, reduced fertilizer use) and promote carbon sequestration in soils.</a:t>
            </a:r>
          </a:p>
        </p:txBody>
      </p:sp>
      <p:sp>
        <p:nvSpPr>
          <p:cNvPr id="14" name="TextBox 13"/>
          <p:cNvSpPr txBox="1"/>
          <p:nvPr/>
        </p:nvSpPr>
        <p:spPr>
          <a:xfrm>
            <a:off x="914400" y="6400800"/>
            <a:ext cx="12191999" cy="457200"/>
          </a:xfrm>
          <a:prstGeom prst="rect">
            <a:avLst/>
          </a:prstGeom>
          <a:noFill/>
        </p:spPr>
        <p:txBody>
          <a:bodyPr wrap="none">
            <a:spAutoFit/>
          </a:bodyPr>
          <a:lstStyle/>
          <a:p>
            <a:r>
              <a:rPr sz="1000" u="none">
                <a:hlinkClick r:id="rId3"/>
              </a:rPr>
              <a:t>More icons available in the SlideDeck AI repository</a:t>
            </a:r>
          </a:p>
        </p:txBody>
      </p:sp>
      <p:sp>
        <p:nvSpPr>
          <p:cNvPr id="15" name="Rounded Rectangle 14"/>
          <p:cNvSpPr/>
          <p:nvPr/>
        </p:nvSpPr>
        <p:spPr>
          <a:xfrm>
            <a:off x="6561908" y="2651760"/>
            <a:ext cx="914400" cy="914400"/>
          </a:xfrm>
          <a:prstGeom prst="roundRect">
            <a:avLst/>
          </a:prstGeom>
          <a:solidFill>
            <a:srgbClr val="4682B4"/>
          </a:solidFill>
          <a:ln>
            <a:solidFill>
              <a:srgbClr val="4682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refinery.png"/>
          <p:cNvPicPr>
            <a:picLocks noChangeAspect="1"/>
          </p:cNvPicPr>
          <p:nvPr/>
        </p:nvPicPr>
        <p:blipFill>
          <a:blip r:embed="rId6"/>
          <a:stretch>
            <a:fillRect/>
          </a:stretch>
        </p:blipFill>
        <p:spPr>
          <a:xfrm>
            <a:off x="6653348" y="2743200"/>
            <a:ext cx="731520" cy="731520"/>
          </a:xfrm>
          <a:prstGeom prst="rect">
            <a:avLst/>
          </a:prstGeom>
        </p:spPr>
      </p:pic>
      <p:sp>
        <p:nvSpPr>
          <p:cNvPr id="17" name="Rounded Rectangle 16"/>
          <p:cNvSpPr/>
          <p:nvPr/>
        </p:nvSpPr>
        <p:spPr>
          <a:xfrm>
            <a:off x="6104708" y="3657600"/>
            <a:ext cx="1828800" cy="18288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a:solidFill>
                  <a:schemeClr val="tx2"/>
                </a:solidFill>
              </a:rPr>
              <a:t>Reforestation and Afforestation:</a:t>
            </a:r>
            <a:r>
              <a:rPr>
                <a:solidFill>
                  <a:schemeClr val="tx2"/>
                </a:solidFill>
              </a:rPr>
              <a:t> Planting new trees and restoring degraded forests to absorb atmospheric CO2, acting as natural carbon sinks.</a:t>
            </a:r>
          </a:p>
        </p:txBody>
      </p:sp>
      <p:sp>
        <p:nvSpPr>
          <p:cNvPr id="18" name="TextBox 17"/>
          <p:cNvSpPr txBox="1"/>
          <p:nvPr/>
        </p:nvSpPr>
        <p:spPr>
          <a:xfrm>
            <a:off x="914400" y="6400800"/>
            <a:ext cx="12191999" cy="457200"/>
          </a:xfrm>
          <a:prstGeom prst="rect">
            <a:avLst/>
          </a:prstGeom>
          <a:noFill/>
        </p:spPr>
        <p:txBody>
          <a:bodyPr wrap="none">
            <a:spAutoFit/>
          </a:bodyPr>
          <a:lstStyle/>
          <a:p>
            <a:r>
              <a:rPr sz="1000" u="none">
                <a:hlinkClick r:id="rId3"/>
              </a:rPr>
              <a:t>More icons available in the SlideDeck AI repository</a:t>
            </a:r>
          </a:p>
        </p:txBody>
      </p:sp>
      <p:sp>
        <p:nvSpPr>
          <p:cNvPr id="19" name="Rounded Rectangle 18"/>
          <p:cNvSpPr/>
          <p:nvPr/>
        </p:nvSpPr>
        <p:spPr>
          <a:xfrm>
            <a:off x="8408125" y="2651760"/>
            <a:ext cx="914400" cy="914400"/>
          </a:xfrm>
          <a:prstGeom prst="roundRect">
            <a:avLst/>
          </a:prstGeom>
          <a:solidFill>
            <a:srgbClr val="556B2F"/>
          </a:solidFill>
          <a:ln>
            <a:solidFill>
              <a:srgbClr val="556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graphene-carbon.png"/>
          <p:cNvPicPr>
            <a:picLocks noChangeAspect="1"/>
          </p:cNvPicPr>
          <p:nvPr/>
        </p:nvPicPr>
        <p:blipFill>
          <a:blip r:embed="rId7"/>
          <a:stretch>
            <a:fillRect/>
          </a:stretch>
        </p:blipFill>
        <p:spPr>
          <a:xfrm>
            <a:off x="8499565" y="2743200"/>
            <a:ext cx="731520" cy="731520"/>
          </a:xfrm>
          <a:prstGeom prst="rect">
            <a:avLst/>
          </a:prstGeom>
        </p:spPr>
      </p:pic>
      <p:sp>
        <p:nvSpPr>
          <p:cNvPr id="21" name="Rounded Rectangle 20"/>
          <p:cNvSpPr/>
          <p:nvPr/>
        </p:nvSpPr>
        <p:spPr>
          <a:xfrm>
            <a:off x="7950925" y="3657600"/>
            <a:ext cx="1828800" cy="18288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a:solidFill>
                  <a:schemeClr val="tx2"/>
                </a:solidFill>
              </a:rPr>
              <a:t>Carbon Capture, Utilization, and Storage (CCUS):</a:t>
            </a:r>
            <a:r>
              <a:rPr>
                <a:solidFill>
                  <a:schemeClr val="tx2"/>
                </a:solidFill>
              </a:rPr>
              <a:t> Technologies that capture CO2 emissions from industrial sources or directly from the air, preventing them from entering the atmosphere and storing them underground or using them in products.</a:t>
            </a:r>
          </a:p>
        </p:txBody>
      </p:sp>
      <p:sp>
        <p:nvSpPr>
          <p:cNvPr id="22" name="TextBox 21"/>
          <p:cNvSpPr txBox="1"/>
          <p:nvPr/>
        </p:nvSpPr>
        <p:spPr>
          <a:xfrm>
            <a:off x="914400" y="6400800"/>
            <a:ext cx="12191999" cy="457200"/>
          </a:xfrm>
          <a:prstGeom prst="rect">
            <a:avLst/>
          </a:prstGeom>
          <a:noFill/>
        </p:spPr>
        <p:txBody>
          <a:bodyPr wrap="none">
            <a:spAutoFit/>
          </a:bodyPr>
          <a:lstStyle/>
          <a:p>
            <a:r>
              <a:rPr sz="1000" u="none">
                <a:hlinkClick r:id="rId3"/>
              </a:rPr>
              <a:t>More icons available in the SlideDeck AI repository</a:t>
            </a:r>
          </a:p>
        </p:txBody>
      </p:sp>
      <p:sp>
        <p:nvSpPr>
          <p:cNvPr id="23" name="Rounded Rectangle 22"/>
          <p:cNvSpPr/>
          <p:nvPr/>
        </p:nvSpPr>
        <p:spPr>
          <a:xfrm>
            <a:off x="10254342" y="2651760"/>
            <a:ext cx="914400" cy="914400"/>
          </a:xfrm>
          <a:prstGeom prst="roundRect">
            <a:avLst/>
          </a:prstGeom>
          <a:solidFill>
            <a:srgbClr val="6A5ACD"/>
          </a:solidFill>
          <a:ln>
            <a:solidFill>
              <a:srgbClr val="6A5A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beijing-tower.png"/>
          <p:cNvPicPr>
            <a:picLocks noChangeAspect="1"/>
          </p:cNvPicPr>
          <p:nvPr/>
        </p:nvPicPr>
        <p:blipFill>
          <a:blip r:embed="rId8"/>
          <a:stretch>
            <a:fillRect/>
          </a:stretch>
        </p:blipFill>
        <p:spPr>
          <a:xfrm>
            <a:off x="10345782" y="2743200"/>
            <a:ext cx="731520" cy="731520"/>
          </a:xfrm>
          <a:prstGeom prst="rect">
            <a:avLst/>
          </a:prstGeom>
        </p:spPr>
      </p:pic>
      <p:sp>
        <p:nvSpPr>
          <p:cNvPr id="25" name="Rounded Rectangle 24"/>
          <p:cNvSpPr/>
          <p:nvPr/>
        </p:nvSpPr>
        <p:spPr>
          <a:xfrm>
            <a:off x="9797142" y="3657600"/>
            <a:ext cx="1828800" cy="18288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a:solidFill>
                  <a:schemeClr val="tx2"/>
                </a:solidFill>
              </a:rPr>
              <a:t>Promoting a Circular Economy:</a:t>
            </a:r>
            <a:r>
              <a:rPr>
                <a:solidFill>
                  <a:schemeClr val="tx2"/>
                </a:solidFill>
              </a:rPr>
              <a:t> Designing out waste and pollution, keeping products and materials in use, and regenerating natural systems to reduce resource consumption and associated emissions.</a:t>
            </a:r>
          </a:p>
        </p:txBody>
      </p:sp>
      <p:sp>
        <p:nvSpPr>
          <p:cNvPr id="26" name="TextBox 25"/>
          <p:cNvSpPr txBox="1"/>
          <p:nvPr/>
        </p:nvSpPr>
        <p:spPr>
          <a:xfrm>
            <a:off x="914400" y="6400800"/>
            <a:ext cx="12191999" cy="457200"/>
          </a:xfrm>
          <a:prstGeom prst="rect">
            <a:avLst/>
          </a:prstGeom>
          <a:noFill/>
        </p:spPr>
        <p:txBody>
          <a:bodyPr wrap="none">
            <a:spAutoFit/>
          </a:bodyPr>
          <a:lstStyle/>
          <a:p>
            <a:r>
              <a:rPr sz="1000" u="none">
                <a:hlinkClick r:id="rId3"/>
              </a:rPr>
              <a:t>More icons available in the SlideDeck AI repository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Building Resilience: Adapting to an Unavoidable Future</a:t>
            </a:r>
          </a:p>
        </p:txBody>
      </p:sp>
      <p:sp>
        <p:nvSpPr>
          <p:cNvPr id="3" name="Content Placeholder 2"/>
          <p:cNvSpPr>
            <a:spLocks noGrp="1"/>
          </p:cNvSpPr>
          <p:nvPr>
            <p:ph idx="1"/>
          </p:nvPr>
        </p:nvSpPr>
        <p:spPr/>
        <p:txBody>
          <a:bodyPr/>
          <a:lstStyle/>
          <a:p>
            <a:r>
              <a:t>Even with aggressive mitigation, some level of climate change is unavoidable due to past emissions. </a:t>
            </a:r>
            <a:r>
              <a:rPr i="1"/>
              <a:t>Adaptation</a:t>
            </a:r>
            <a:r>
              <a:t> involves adjusting to these actual or expected future climate impacts.</a:t>
            </a:r>
          </a:p>
          <a:p>
            <a:pPr/>
            <a:r>
              <a:rPr b="1"/>
              <a:t>Infrastructure Upgrades:</a:t>
            </a:r>
            <a:r>
              <a:t> Building sea walls, flood barriers, and resilient infrastructure to withstand extreme weather events and rising sea levels.</a:t>
            </a:r>
          </a:p>
          <a:p>
            <a:pPr/>
            <a:r>
              <a:rPr b="1"/>
              <a:t>Early Warning Systems:</a:t>
            </a:r>
            <a:r>
              <a:t> Developing and deploying advanced meteorological systems to provide timely warnings for floods, storms, and heatwaves, allowing communities to prepare and respond effectively.</a:t>
            </a:r>
          </a:p>
          <a:p>
            <a:pPr/>
            <a:r>
              <a:rPr b="1"/>
              <a:t>Water Management Strategies:</a:t>
            </a:r>
            <a:r>
              <a:t> Implementing efficient irrigation techniques, rainwater harvesting, desalination, and wastewater recycling to cope with water scarcity and changing precipitation patterns.</a:t>
            </a:r>
          </a:p>
          <a:p>
            <a:pPr/>
            <a:r>
              <a:rPr b="1"/>
              <a:t>Climate-Resilient Agriculture:</a:t>
            </a:r>
            <a:r>
              <a:t> Developing drought-resistant crops, diversifying farming practices, and adopting agroforestry to ensure food security in changing climatic conditions.</a:t>
            </a:r>
          </a:p>
          <a:p>
            <a:pPr/>
            <a:r>
              <a:rPr b="1"/>
              <a:t>Ecosystem-Based Adaptation:</a:t>
            </a:r>
            <a:r>
              <a:t> Protecting and restoring natural ecosystems (e.g., mangroves, coral reefs, wetlands) that provide natural defenses against climate impacts like storm surges and coastal erosion.</a:t>
            </a:r>
          </a:p>
          <a:p>
            <a:pPr/>
            <a:r>
              <a:rPr b="1"/>
              <a:t>Example 1:</a:t>
            </a:r>
            <a:r>
              <a:t> The </a:t>
            </a:r>
            <a:r>
              <a:rPr i="1"/>
              <a:t>Netherlands' Delta Works</a:t>
            </a:r>
            <a:r>
              <a:t> is a massive system of dams, sluices, and storm surge barriers designed to protect the low-lying country from sea-level rise and storm surges, showcasing large-scale infrastructure adaptation.</a:t>
            </a:r>
          </a:p>
          <a:p>
            <a:pPr/>
            <a:r>
              <a:rPr b="1"/>
              <a:t>Example 2:</a:t>
            </a:r>
            <a:r>
              <a:t> In many drought-prone regions, farmers are adopting </a:t>
            </a:r>
            <a:r>
              <a:rPr i="1"/>
              <a:t>drought-resistant crop varieties</a:t>
            </a:r>
            <a:r>
              <a:t> and </a:t>
            </a:r>
            <a:r>
              <a:rPr i="1"/>
              <a:t>precision irrigation</a:t>
            </a:r>
            <a:r>
              <a:t> techniques to maintain yields despite reduced water availability and increased temperatures.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United Front: International Agreements and National Policies</a:t>
            </a:r>
          </a:p>
        </p:txBody>
      </p:sp>
      <p:sp>
        <p:nvSpPr>
          <p:cNvPr id="3" name="Picture Placeholder 2"/>
          <p:cNvSpPr>
            <a:spLocks noGrp="1"/>
          </p:cNvSpPr>
          <p:nvPr>
            <p:ph type="pic" idx="1"/>
          </p:nvPr>
        </p:nvSpPr>
        <p:spPr/>
      </p:sp>
      <p:sp>
        <p:nvSpPr>
          <p:cNvPr id="4" name="Text Placeholder 3"/>
          <p:cNvSpPr>
            <a:spLocks noGrp="1"/>
          </p:cNvSpPr>
          <p:nvPr>
            <p:ph type="body" idx="2" sz="half"/>
          </p:nvPr>
        </p:nvSpPr>
        <p:spPr/>
        <p:txBody>
          <a:bodyPr/>
          <a:lstStyle/>
          <a:p>
            <a:r>
              <a:t>Addressing climate change requires global cooperation and coordinated efforts at international, national, and local levels.</a:t>
            </a:r>
          </a:p>
          <a:p>
            <a:pPr/>
            <a:r>
              <a:rPr b="1"/>
              <a:t>The Paris Agreement (2015):</a:t>
            </a:r>
            <a:r>
              <a:t> A landmark international treaty where nearly all nations committed to limiting global warming to well below 2°C, preferably to 1.5°C, compared to pre-industrial levels. It operates on a 'bottom-up' approach, with countries setting their own Nationally Determined Contributions (NDCs).</a:t>
            </a:r>
          </a:p>
          <a:p>
            <a:pPr/>
            <a:r>
              <a:rPr b="1"/>
              <a:t>Intergovernmental Panel on Climate Change (IPCC):</a:t>
            </a:r>
            <a:r>
              <a:t> The leading international body for assessing climate change. It provides regular scientific assessments on climate change, its implications, and future risks, as well as putting forward adaptation and mitigation options.</a:t>
            </a:r>
          </a:p>
          <a:p>
            <a:pPr/>
            <a:r>
              <a:rPr b="1"/>
              <a:t>National Policies and Legislation:</a:t>
            </a:r>
          </a:p>
          <a:p>
            <a:pPr lvl="1"/>
            <a:r>
              <a:rPr b="1"/>
              <a:t>Carbon Pricing:</a:t>
            </a:r>
            <a:r>
              <a:t> Implementing carbon taxes or cap-and-trade systems (e.g., EU Emissions Trading System) to make polluters pay for their emissions, incentivizing cleaner alternatives.</a:t>
            </a:r>
          </a:p>
          <a:p>
            <a:pPr lvl="1"/>
            <a:r>
              <a:rPr b="1"/>
              <a:t>Renewable Energy Targets:</a:t>
            </a:r>
            <a:r>
              <a:t> Setting ambitious goals for renewable energy deployment and providing subsidies or incentives for clean energy projects.</a:t>
            </a:r>
          </a:p>
          <a:p>
            <a:pPr lvl="1"/>
            <a:r>
              <a:rPr b="1"/>
              <a:t>Vehicle Emission Standards:</a:t>
            </a:r>
            <a:r>
              <a:t> Regulations to improve fuel efficiency and reduce emissions from transportation.</a:t>
            </a:r>
          </a:p>
          <a:p>
            <a:pPr lvl="1"/>
            <a:r>
              <a:rPr b="1"/>
              <a:t>Conservation and Reforestation Programs:</a:t>
            </a:r>
            <a:r>
              <a:t> National initiatives to protect forests, restore degraded lands, and promote sustainable land management.</a:t>
            </a:r>
          </a:p>
          <a:p>
            <a:pPr/>
            <a:r>
              <a:rPr b="1"/>
              <a:t>Example:</a:t>
            </a:r>
            <a:r>
              <a:t> The </a:t>
            </a:r>
            <a:r>
              <a:rPr i="1"/>
              <a:t>European Union's 'Fit for 55' package</a:t>
            </a:r>
            <a:r>
              <a:t> is a comprehensive set of legislative proposals aimed at reducing net greenhouse gas emissions by at least 55% by 2030, covering sectors from energy to transport and land use.</a:t>
            </a:r>
          </a:p>
          <a:p>
            <a:pPr/>
            <a:r>
              <a:rPr b="1"/>
              <a:t>Example:</a:t>
            </a:r>
            <a:r>
              <a:t> Many countries, including the </a:t>
            </a:r>
            <a:r>
              <a:rPr i="1"/>
              <a:t>United States</a:t>
            </a:r>
            <a:r>
              <a:t> and </a:t>
            </a:r>
            <a:r>
              <a:rPr i="1"/>
              <a:t>China</a:t>
            </a:r>
            <a:r>
              <a:t>, have set targets for achieving net-zero emissions by mid-century, driving investments in clean technologies and sustainable practices.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Empowering Change: Our Individual and Collective Responsibility</a:t>
            </a:r>
          </a:p>
        </p:txBody>
      </p:sp>
      <p:sp>
        <p:nvSpPr>
          <p:cNvPr id="3" name="Content Placeholder 2"/>
          <p:cNvSpPr>
            <a:spLocks noGrp="1"/>
          </p:cNvSpPr>
          <p:nvPr>
            <p:ph idx="1"/>
          </p:nvPr>
        </p:nvSpPr>
        <p:spPr/>
        <p:txBody>
          <a:bodyPr/>
          <a:lstStyle/>
          <a:p>
            <a:r>
              <a:t>While governments and industries have a massive role, individual actions, when aggregated, create significant impact and drive broader systemic change.</a:t>
            </a:r>
          </a:p>
          <a:p>
            <a:pPr/>
            <a:r>
              <a:rPr b="1"/>
              <a:t>Personal Choices &amp; Lifestyle Changes:</a:t>
            </a:r>
          </a:p>
          <a:p>
            <a:pPr lvl="1"/>
            <a:r>
              <a:rPr b="1"/>
              <a:t>Reduce, Reuse, Recycle:</a:t>
            </a:r>
            <a:r>
              <a:t> Minimize waste generation, choose reusable products, and properly recycle materials.</a:t>
            </a:r>
          </a:p>
          <a:p>
            <a:pPr lvl="1"/>
            <a:r>
              <a:rPr b="1"/>
              <a:t>Sustainable Transportation:</a:t>
            </a:r>
            <a:r>
              <a:t> Opt for public transport, cycling, walking, or electric vehicles instead of single-occupancy gasoline cars.</a:t>
            </a:r>
          </a:p>
          <a:p>
            <a:pPr lvl="1"/>
            <a:r>
              <a:rPr b="1"/>
              <a:t>Energy Conservation:</a:t>
            </a:r>
            <a:r>
              <a:t> Reduce home energy consumption by using efficient appliances, turning off lights, and optimizing heating/cooling.</a:t>
            </a:r>
          </a:p>
          <a:p>
            <a:pPr lvl="1"/>
            <a:r>
              <a:rPr b="1"/>
              <a:t>Dietary Choices:</a:t>
            </a:r>
            <a:r>
              <a:t> Consider reducing consumption of high-impact foods (e.g., red meat) and supporting local, seasonal produce.</a:t>
            </a:r>
          </a:p>
          <a:p>
            <a:pPr lvl="1"/>
            <a:r>
              <a:rPr b="1"/>
              <a:t>Conscious Consumption:</a:t>
            </a:r>
            <a:r>
              <a:t> Choose products from companies committed to sustainability and ethical practices.</a:t>
            </a:r>
          </a:p>
          <a:p>
            <a:pPr/>
            <a:r>
              <a:rPr b="1"/>
              <a:t>Advocacy and Engagement:</a:t>
            </a:r>
          </a:p>
          <a:p>
            <a:pPr lvl="1"/>
            <a:r>
              <a:rPr b="1"/>
              <a:t>Vote for Climate-Conscious Leaders:</a:t>
            </a:r>
            <a:r>
              <a:t> Support politicians and policies that prioritize climate action.</a:t>
            </a:r>
          </a:p>
          <a:p>
            <a:pPr lvl="1"/>
            <a:r>
              <a:rPr b="1"/>
              <a:t>Speak Up:</a:t>
            </a:r>
            <a:r>
              <a:t> Engage in discussions, educate others, and advocate for stronger climate policies in your community and beyond.</a:t>
            </a:r>
          </a:p>
          <a:p>
            <a:pPr lvl="1"/>
            <a:r>
              <a:rPr b="1"/>
              <a:t>Support Sustainable Businesses:</a:t>
            </a:r>
            <a:r>
              <a:t> Direct your purchasing power towards companies with strong environmental commitments.</a:t>
            </a:r>
          </a:p>
          <a:p>
            <a:pPr lvl="1"/>
            <a:r>
              <a:rPr b="1"/>
              <a:t>Community Action:</a:t>
            </a:r>
            <a:r>
              <a:t> Participate in local environmental initiatives, clean-up drives, or community gardens.</a:t>
            </a:r>
          </a:p>
          <a:p>
            <a:pPr/>
            <a:r>
              <a:rPr b="1"/>
              <a:t>Example:</a:t>
            </a:r>
            <a:r>
              <a:t> Choosing to install solar panels on your home not only reduces your carbon footprint but also contributes to the growth of renewable energy infrastructure and inspires others to do the same.</a:t>
            </a:r>
          </a:p>
          <a:p>
            <a:pPr/>
            <a:r>
              <a:rPr b="1"/>
              <a:t>Example:</a:t>
            </a:r>
            <a:r>
              <a:t> Participating in a local climate march or writing to your elected officials can amplify the call for policy changes, demonstrating collective will for action.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Path Forward: Key Takeaways and Call to Action</a:t>
            </a:r>
          </a:p>
        </p:txBody>
      </p:sp>
      <p:sp>
        <p:nvSpPr>
          <p:cNvPr id="3" name="Content Placeholder 2"/>
          <p:cNvSpPr>
            <a:spLocks noGrp="1"/>
          </p:cNvSpPr>
          <p:nvPr>
            <p:ph idx="1"/>
          </p:nvPr>
        </p:nvSpPr>
        <p:spPr/>
        <p:txBody>
          <a:bodyPr/>
          <a:lstStyle/>
          <a:p>
            <a:r>
              <a:rPr b="1"/>
              <a:t>Urgency is Paramount:</a:t>
            </a:r>
            <a:r>
              <a:t> Climate change is a scientifically proven, rapidly escalating crisis demanding immediate and sustained action.</a:t>
            </a:r>
          </a:p>
          <a:p>
            <a:pPr/>
            <a:r>
              <a:rPr b="1"/>
              <a:t>Interconnectedness:</a:t>
            </a:r>
            <a:r>
              <a:t> Its impacts are far-reaching, affecting every aspect of our planet and society, from ecosystems to economies and human health.</a:t>
            </a:r>
          </a:p>
          <a:p>
            <a:pPr/>
            <a:r>
              <a:rPr b="1"/>
              <a:t>Dual Approach:</a:t>
            </a:r>
            <a:r>
              <a:t> Both </a:t>
            </a:r>
            <a:r>
              <a:rPr i="1"/>
              <a:t>mitigation</a:t>
            </a:r>
            <a:r>
              <a:t> (reducing emissions) and </a:t>
            </a:r>
            <a:r>
              <a:rPr i="1"/>
              <a:t>adaptation</a:t>
            </a:r>
            <a:r>
              <a:t> (adjusting to impacts) are crucial for a resilient future.</a:t>
            </a:r>
          </a:p>
          <a:p>
            <a:pPr/>
            <a:r>
              <a:rPr b="1"/>
              <a:t>Collective Responsibility:</a:t>
            </a:r>
            <a:r>
              <a:t> Governments, industries, and individuals all have a vital role to play in driving systemic change.</a:t>
            </a:r>
          </a:p>
          <a:p>
            <a:pPr/>
            <a:r>
              <a:rPr b="1"/>
              <a:t>Hope Through Action:</a:t>
            </a:r>
            <a:r>
              <a:t> While the challenge is immense, innovative solutions and collective will offer a path towards a sustainable and equitable world.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Thank you!</a:t>
            </a:r>
          </a:p>
        </p:txBody>
      </p:sp>
      <p:sp>
        <p:nvSpPr>
          <p:cNvPr id="3" name="Subtitle 2"/>
          <p:cNvSpPr>
            <a:spLocks noGrp="1"/>
          </p:cNvSpPr>
          <p:nvPr>
            <p:ph type="subTitle" idx="1"/>
          </p:nvPr>
        </p:nvSpPr>
        <p:spPr/>
        <p:txBody>
          <a:bodyPr/>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TotalTime>
  <Words>0</Words>
  <Application>Microsoft Office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0</vt:i4>
      </vt:variant>
    </vt:vector>
  </HeadingPairs>
  <TitlesOfParts>
    <vt:vector size="4" baseType="lpstr">
      <vt:lpstr>Arial</vt:lpstr>
      <vt:lpstr>Calibri</vt:lpstr>
      <vt:lpstr>Calibri Light</vt:lpstr>
      <vt:lpstr>Office Theme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Barun Saha</dc:creator>
  <cp:lastModifiedBy>Barun Saha</cp:lastModifiedBy>
  <cp:revision>6</cp:revision>
  <dcterms:created xsi:type="dcterms:W3CDTF">2023-08-26T17:51:03Z</dcterms:created>
  <dcterms:modified xsi:type="dcterms:W3CDTF">2024-04-27T13:52:58Z</dcterms:modified>
</cp:coreProperties>
</file>