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0" d="100"/>
          <a:sy n="60" d="100"/>
        </p:scale>
        <p:origin x="1550" y="6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DC24C1A-9EF1-398F-74ED-AF2B9D5CE525}"/>
              </a:ext>
            </a:extLst>
          </p:cNvPr>
          <p:cNvPicPr>
            <a:picLocks noChangeAspect="1"/>
          </p:cNvPicPr>
          <p:nvPr userDrawn="1"/>
        </p:nvPicPr>
        <p:blipFill>
          <a:blip r:embed="rId2">
            <a:alphaModFix amt="60000"/>
            <a:extLst>
              <a:ext uri="{28A0092B-C50C-407E-A947-70E740481C1C}">
                <a14:useLocalDpi xmlns:a14="http://schemas.microsoft.com/office/drawing/2010/main" val="0"/>
              </a:ext>
            </a:extLst>
          </a:blip>
          <a:stretch>
            <a:fillRect/>
          </a:stretch>
        </p:blipFill>
        <p:spPr>
          <a:xfrm>
            <a:off x="0" y="717550"/>
            <a:ext cx="12192000" cy="5422900"/>
          </a:xfrm>
          <a:prstGeom prst="rect">
            <a:avLst/>
          </a:prstGeom>
        </p:spPr>
      </p:pic>
      <p:sp>
        <p:nvSpPr>
          <p:cNvPr id="2" name="Title 1">
            <a:extLst>
              <a:ext uri="{FF2B5EF4-FFF2-40B4-BE49-F238E27FC236}">
                <a16:creationId xmlns:a16="http://schemas.microsoft.com/office/drawing/2014/main" id="{72539291-9158-4961-66E0-092CAC4D50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B4052AF-61FA-8FB2-5815-FBA0E38D52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8FED454-C11E-24C6-BD8C-3AEC5DB77C9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2B208462-C68E-9DF6-14F7-C65ABDCB5C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700A60-94F0-F505-50C0-0F77D3CC2D3A}"/>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609662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165ED-B947-A6AE-E541-A54EE8EEE2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90603B-D49F-733A-66CA-E1E00EB8CF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31EB94-E78F-4A0B-347B-E5A202CFF25D}"/>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9EAE7A6C-6937-813D-228A-9DA90A64B5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2F556C-0784-17D4-1CA3-992CDCC86A80}"/>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3498840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D36DC-2819-DD4E-24E6-F54DD0213F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BA5174E-8694-28AC-A3E3-E30D63D032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7E61FA-F231-227A-5270-8D4D6B68B402}"/>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067AC384-093E-95D0-7957-E7BA608255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472E69-FB3F-2B6D-CCF5-2EC59DD5B860}"/>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082021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0AC43-1D13-7B4F-EABB-46B1845B93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906E18-EBA3-FB64-DD5F-E51C0A9D04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A5041F6-02E7-7F9C-F1A9-07A3A5C233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F07CBF-4B1E-3700-E17B-A51E153DD8EF}"/>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144749A6-E28E-A4D7-A7DB-04EE12B73C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5B29AF-066D-5EBE-12AF-DBBA6E7EBF5C}"/>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210232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CF180-373D-A466-C965-2A371001DAD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CB30AA-2D57-2E15-6EA1-145DBF7B6B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3C7B13-FE4E-BCB1-5DDF-8C3F919353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47C3BD-0509-313D-B3FE-1C49562108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8FACDC-E06E-1B17-B332-ACE37909B4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C7D328B-1881-1118-C98C-8B4A02E17A16}"/>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8" name="Footer Placeholder 7">
            <a:extLst>
              <a:ext uri="{FF2B5EF4-FFF2-40B4-BE49-F238E27FC236}">
                <a16:creationId xmlns:a16="http://schemas.microsoft.com/office/drawing/2014/main" id="{BABFDD85-AE68-0806-B05F-B59D1F53B2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6CD9DF2-A6E7-94E1-AC47-E315B10F64D3}"/>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676071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8F492-1037-F4F0-B483-3448956C8D5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405D18-F262-0FA4-5503-C42C47D81424}"/>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4" name="Footer Placeholder 3">
            <a:extLst>
              <a:ext uri="{FF2B5EF4-FFF2-40B4-BE49-F238E27FC236}">
                <a16:creationId xmlns:a16="http://schemas.microsoft.com/office/drawing/2014/main" id="{EAA87CF0-35E2-EB19-DA54-2829878A252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686FAC-8BE3-C6A6-1B83-BF2851A53B3D}"/>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768597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6B1AC7-71C1-ABCA-3283-BAEB3E8D34B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3" name="Footer Placeholder 2">
            <a:extLst>
              <a:ext uri="{FF2B5EF4-FFF2-40B4-BE49-F238E27FC236}">
                <a16:creationId xmlns:a16="http://schemas.microsoft.com/office/drawing/2014/main" id="{C909B97C-9896-5DAF-7564-C59F53213C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61EFEF-04A4-C049-3D77-EF342FE377FB}"/>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41207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C305E-0945-F4D5-1B67-346E6420D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66C38CF-DCA2-A75C-D2CC-848455F7BE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64AA46-5F79-87F4-51A3-855F5DB237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888DB-EE1C-8324-BD8E-996CA5E3EA0C}"/>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BC19833A-A3E2-E8E6-8586-4EA5EE13A4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031E21-7CBC-DEB9-EFD3-8B385244B582}"/>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110443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B4DF0-7ED4-101F-C741-1B20A77D15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39E0D8-4EC6-52A3-173D-2410F54908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2DB431-72A3-05BD-7786-AA774E3753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62AB7-B53F-7645-C9A3-0CDECE36A7AA}"/>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A8B7A183-B586-8D6A-7B5E-15E108F55E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E04090-CB42-9775-F644-74BBA1246CDD}"/>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2992584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1CC3-5960-0398-968D-6856A59B82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578193-3DCD-0B5A-5C06-44D29BD4BA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739F56-7084-6025-0027-F2711433C2DD}"/>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5880B541-D20E-BC80-FE9E-BC13100AFC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50DBD1-C7D3-A730-1CAD-572345426DAA}"/>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4210100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6F4185-CDEA-6A9A-97C8-5571F4A069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A9C551-A0FA-1542-4865-12B8709579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190D4C-8772-441C-EE94-B536B762D91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5BD5FC30-7569-6ECF-2930-003F73AE7C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27DD49-1AB1-10FE-4DE2-82812AE9F285}"/>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6123620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E38357-564B-B521-66A2-250517FEB260}"/>
              </a:ext>
            </a:extLst>
          </p:cNvPr>
          <p:cNvPicPr>
            <a:picLocks/>
          </p:cNvPicPr>
          <p:nvPr userDrawn="1"/>
        </p:nvPicPr>
        <p:blipFill>
          <a:blip r:embed="rId13">
            <a:alphaModFix amt="5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5D8FE9BB-C25A-09D5-15C5-72A53640E6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217DCC-8A06-142D-0E4C-8FF6F3B19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58403E-AED9-8D8C-B768-9C5E0327AB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775788B3-65E8-B40F-4C8C-807B5981E8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0A6B65-51E7-61F0-5F24-71DC685EC2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8CD80-5438-4D89-B0E3-67EC0E099088}" type="slidenum">
              <a:rPr lang="en-IN" smtClean="0"/>
              <a:t>‹#›</a:t>
            </a:fld>
            <a:endParaRPr lang="en-IN"/>
          </a:p>
        </p:txBody>
      </p:sp>
    </p:spTree>
    <p:extLst>
      <p:ext uri="{BB962C8B-B14F-4D97-AF65-F5344CB8AC3E}">
        <p14:creationId xmlns:p14="http://schemas.microsoft.com/office/powerpoint/2010/main" val="157424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hyperlink" Target="https://github.com/barun-saha/slide-deck-ai/tree/main/icons/png128" TargetMode="External"/><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Imperative of AI Ethics: Building a Responsible Future</a:t>
            </a:r>
          </a:p>
        </p:txBody>
      </p:sp>
      <p:sp>
        <p:nvSpPr>
          <p:cNvPr id="3" name="Subtitle 2"/>
          <p:cNvSpPr>
            <a:spLocks noGrp="1"/>
          </p:cNvSpPr>
          <p:nvPr>
            <p:ph type="subTitle" idx="1"/>
          </p:nvPr>
        </p:nvSpPr>
        <p:spPr/>
        <p:txBody>
          <a:bodyPr/>
          <a:lstStyle/>
          <a:p>
            <a:r>
              <a:t>by Myself and SlideDeck AI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Imperative of AI Ethics: Building a Responsible Future</a:t>
            </a:r>
          </a:p>
        </p:txBody>
      </p:sp>
      <p:sp>
        <p:nvSpPr>
          <p:cNvPr id="3" name="Content Placeholder 2"/>
          <p:cNvSpPr>
            <a:spLocks noGrp="1"/>
          </p:cNvSpPr>
          <p:nvPr>
            <p:ph idx="1"/>
          </p:nvPr>
        </p:nvSpPr>
        <p:spPr/>
        <p:txBody>
          <a:bodyPr/>
          <a:lstStyle/>
          <a:p>
            <a:r>
              <a:t>Exploring the critical intersection of Artificial Intelligence and human values.</a:t>
            </a:r>
          </a:p>
          <a:p>
            <a:pPr/>
            <a:r>
              <a:t>Understanding the challenges and opportunities in developing ethical AI systems.</a:t>
            </a:r>
          </a:p>
          <a:p>
            <a:pPr/>
            <a:r>
              <a:t>Paving the way for AI that benefits all of humanity, ensuring its alignment with societal well-being and fundamental rights.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Defining AI Ethics: More Than Just Code</a:t>
            </a:r>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a:r>
              <a:t>AI Ethics is a field dedicated to understanding and addressing the moral, social, and philosophical implications of Artificial Intelligence.</a:t>
            </a:r>
          </a:p>
          <a:p>
            <a:pPr/>
            <a:r>
              <a:t>It ensures that AI systems are developed and deployed in a way that aligns with human values, rights, and societal well-being, moving beyond mere technical functionality.</a:t>
            </a:r>
          </a:p>
          <a:p>
            <a:pPr/>
            <a:r>
              <a:t>Goes beyond technical functionality to consider fairness, accountability, transparency, and privacy as core tenets.</a:t>
            </a:r>
          </a:p>
          <a:p>
            <a:pPr/>
            <a:r>
              <a:t>_Why it matters_: The pervasive nature of AI in critical domains (healthcare, finance, justice) necessitates ethical oversight to prevent harm, foster trust, and ensure equitable outcomes.</a:t>
            </a:r>
          </a:p>
          <a:p>
            <a:pPr/>
            <a:r>
              <a:rPr b="1"/>
              <a:t>Example</a:t>
            </a:r>
            <a:r>
              <a:t>: An AI used for medical diagnosis must not only be accurate but also fair across different demographic groups (e.g., age, ethnicity) and transparent in its reasoning, explaining </a:t>
            </a:r>
            <a:r>
              <a:rPr i="1"/>
              <a:t>why</a:t>
            </a:r>
            <a:r>
              <a:t> a particular diagnosis was made.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Guiding Stars: Fundamental Principles of Ethical AI</a:t>
            </a:r>
          </a:p>
        </p:txBody>
      </p:sp>
      <p:sp>
        <p:nvSpPr>
          <p:cNvPr id="3" name="Rounded Rectangle 2"/>
          <p:cNvSpPr/>
          <p:nvPr/>
        </p:nvSpPr>
        <p:spPr>
          <a:xfrm>
            <a:off x="1023257" y="2651760"/>
            <a:ext cx="914400" cy="914400"/>
          </a:xfrm>
          <a:prstGeom prst="roundRect">
            <a:avLst/>
          </a:prstGeom>
          <a:solidFill>
            <a:srgbClr val="5F9EA0"/>
          </a:solidFill>
          <a:ln>
            <a:solidFill>
              <a:srgbClr val="5F9E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irness.png"/>
          <p:cNvPicPr>
            <a:picLocks noChangeAspect="1"/>
          </p:cNvPicPr>
          <p:nvPr/>
        </p:nvPicPr>
        <p:blipFill>
          <a:blip r:embed="rId2"/>
          <a:stretch>
            <a:fillRect/>
          </a:stretch>
        </p:blipFill>
        <p:spPr>
          <a:xfrm>
            <a:off x="1114697" y="2743200"/>
            <a:ext cx="731520" cy="731520"/>
          </a:xfrm>
          <a:prstGeom prst="rect">
            <a:avLst/>
          </a:prstGeom>
        </p:spPr>
      </p:pic>
      <p:sp>
        <p:nvSpPr>
          <p:cNvPr id="5" name="Rounded Rectangle 4"/>
          <p:cNvSpPr/>
          <p:nvPr/>
        </p:nvSpPr>
        <p:spPr>
          <a:xfrm>
            <a:off x="566057"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Fairness &amp; Non-Discrimination</a:t>
            </a:r>
            <a:r>
              <a:rPr>
                <a:solidFill>
                  <a:schemeClr val="tx2"/>
                </a:solidFill>
              </a:rPr>
              <a:t>: AI systems should treat all individuals and groups equitably, avoiding biased outcomes and ensuring equal opportunities.</a:t>
            </a:r>
          </a:p>
        </p:txBody>
      </p:sp>
      <p:sp>
        <p:nvSpPr>
          <p:cNvPr id="6" name="TextBox 5"/>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7" name="Rounded Rectangle 6"/>
          <p:cNvSpPr/>
          <p:nvPr/>
        </p:nvSpPr>
        <p:spPr>
          <a:xfrm>
            <a:off x="2869474" y="2651760"/>
            <a:ext cx="914400" cy="914400"/>
          </a:xfrm>
          <a:prstGeom prst="roundRect">
            <a:avLst/>
          </a:prstGeom>
          <a:solidFill>
            <a:srgbClr val="6A5ACD"/>
          </a:solidFill>
          <a:ln>
            <a:solidFill>
              <a:srgbClr val="6A5A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airness.png"/>
          <p:cNvPicPr>
            <a:picLocks noChangeAspect="1"/>
          </p:cNvPicPr>
          <p:nvPr/>
        </p:nvPicPr>
        <p:blipFill>
          <a:blip r:embed="rId2"/>
          <a:stretch>
            <a:fillRect/>
          </a:stretch>
        </p:blipFill>
        <p:spPr>
          <a:xfrm>
            <a:off x="2960914" y="2743200"/>
            <a:ext cx="731520" cy="731520"/>
          </a:xfrm>
          <a:prstGeom prst="rect">
            <a:avLst/>
          </a:prstGeom>
        </p:spPr>
      </p:pic>
      <p:sp>
        <p:nvSpPr>
          <p:cNvPr id="9" name="Rounded Rectangle 8"/>
          <p:cNvSpPr/>
          <p:nvPr/>
        </p:nvSpPr>
        <p:spPr>
          <a:xfrm>
            <a:off x="2412274"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Transparency &amp; Explainability</a:t>
            </a:r>
            <a:r>
              <a:rPr>
                <a:solidFill>
                  <a:schemeClr val="tx2"/>
                </a:solidFill>
              </a:rPr>
              <a:t>: Understanding how AI decisions are made, making processes clear, interpretable, and auditable for human comprehension.</a:t>
            </a:r>
          </a:p>
        </p:txBody>
      </p:sp>
      <p:sp>
        <p:nvSpPr>
          <p:cNvPr id="10" name="TextBox 9"/>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1" name="Rounded Rectangle 10"/>
          <p:cNvSpPr/>
          <p:nvPr/>
        </p:nvSpPr>
        <p:spPr>
          <a:xfrm>
            <a:off x="4715691" y="2651760"/>
            <a:ext cx="914400" cy="914400"/>
          </a:xfrm>
          <a:prstGeom prst="roundRect">
            <a:avLst/>
          </a:prstGeom>
          <a:solidFill>
            <a:srgbClr val="6A5ACD"/>
          </a:solidFill>
          <a:ln>
            <a:solidFill>
              <a:srgbClr val="6A5A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airness.png"/>
          <p:cNvPicPr>
            <a:picLocks noChangeAspect="1"/>
          </p:cNvPicPr>
          <p:nvPr/>
        </p:nvPicPr>
        <p:blipFill>
          <a:blip r:embed="rId2"/>
          <a:stretch>
            <a:fillRect/>
          </a:stretch>
        </p:blipFill>
        <p:spPr>
          <a:xfrm>
            <a:off x="4807131" y="2743200"/>
            <a:ext cx="731520" cy="731520"/>
          </a:xfrm>
          <a:prstGeom prst="rect">
            <a:avLst/>
          </a:prstGeom>
        </p:spPr>
      </p:pic>
      <p:sp>
        <p:nvSpPr>
          <p:cNvPr id="13" name="Rounded Rectangle 12"/>
          <p:cNvSpPr/>
          <p:nvPr/>
        </p:nvSpPr>
        <p:spPr>
          <a:xfrm>
            <a:off x="4258491"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Accountability &amp; Governance</a:t>
            </a:r>
            <a:r>
              <a:rPr>
                <a:solidFill>
                  <a:schemeClr val="tx2"/>
                </a:solidFill>
              </a:rPr>
              <a:t>: Establishing clear responsibility for AI system outcomes and impacts, ensuring mechanisms for redress and oversight.</a:t>
            </a:r>
          </a:p>
        </p:txBody>
      </p:sp>
      <p:sp>
        <p:nvSpPr>
          <p:cNvPr id="14" name="TextBox 13"/>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5" name="Rounded Rectangle 14"/>
          <p:cNvSpPr/>
          <p:nvPr/>
        </p:nvSpPr>
        <p:spPr>
          <a:xfrm>
            <a:off x="6561908" y="2651760"/>
            <a:ext cx="914400" cy="914400"/>
          </a:xfrm>
          <a:prstGeom prst="roundRect">
            <a:avLst/>
          </a:prstGeom>
          <a:solidFill>
            <a:srgbClr val="2F4F4F"/>
          </a:solidFill>
          <a:ln>
            <a:solidFill>
              <a:srgbClr val="2F4F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older.png"/>
          <p:cNvPicPr>
            <a:picLocks noChangeAspect="1"/>
          </p:cNvPicPr>
          <p:nvPr/>
        </p:nvPicPr>
        <p:blipFill>
          <a:blip r:embed="rId4"/>
          <a:stretch>
            <a:fillRect/>
          </a:stretch>
        </p:blipFill>
        <p:spPr>
          <a:xfrm>
            <a:off x="6653348" y="2743200"/>
            <a:ext cx="731520" cy="731520"/>
          </a:xfrm>
          <a:prstGeom prst="rect">
            <a:avLst/>
          </a:prstGeom>
        </p:spPr>
      </p:pic>
      <p:sp>
        <p:nvSpPr>
          <p:cNvPr id="17" name="Rounded Rectangle 16"/>
          <p:cNvSpPr/>
          <p:nvPr/>
        </p:nvSpPr>
        <p:spPr>
          <a:xfrm>
            <a:off x="6104708"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Privacy &amp; Data Protection</a:t>
            </a:r>
            <a:r>
              <a:rPr>
                <a:solidFill>
                  <a:schemeClr val="tx2"/>
                </a:solidFill>
              </a:rPr>
              <a:t>: Safeguarding personal data, respecting individual privacy rights, and ensuring secure and ethical data handling practices.</a:t>
            </a:r>
          </a:p>
        </p:txBody>
      </p:sp>
      <p:sp>
        <p:nvSpPr>
          <p:cNvPr id="18" name="TextBox 17"/>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9" name="Rounded Rectangle 18"/>
          <p:cNvSpPr/>
          <p:nvPr/>
        </p:nvSpPr>
        <p:spPr>
          <a:xfrm>
            <a:off x="8408125" y="2651760"/>
            <a:ext cx="914400" cy="914400"/>
          </a:xfrm>
          <a:prstGeom prst="roundRect">
            <a:avLst/>
          </a:prstGeom>
          <a:solidFill>
            <a:srgbClr val="6A5ACD"/>
          </a:solidFill>
          <a:ln>
            <a:solidFill>
              <a:srgbClr val="6A5A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ock.png"/>
          <p:cNvPicPr>
            <a:picLocks noChangeAspect="1"/>
          </p:cNvPicPr>
          <p:nvPr/>
        </p:nvPicPr>
        <p:blipFill>
          <a:blip r:embed="rId5"/>
          <a:stretch>
            <a:fillRect/>
          </a:stretch>
        </p:blipFill>
        <p:spPr>
          <a:xfrm>
            <a:off x="8499565" y="2743200"/>
            <a:ext cx="731520" cy="731520"/>
          </a:xfrm>
          <a:prstGeom prst="rect">
            <a:avLst/>
          </a:prstGeom>
        </p:spPr>
      </p:pic>
      <p:sp>
        <p:nvSpPr>
          <p:cNvPr id="21" name="Rounded Rectangle 20"/>
          <p:cNvSpPr/>
          <p:nvPr/>
        </p:nvSpPr>
        <p:spPr>
          <a:xfrm>
            <a:off x="7950925"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Safety &amp; Reliability</a:t>
            </a:r>
            <a:r>
              <a:rPr>
                <a:solidFill>
                  <a:schemeClr val="tx2"/>
                </a:solidFill>
              </a:rPr>
              <a:t>: Ensuring AI systems operate securely, predictably, and robustly without causing physical, psychological, or societal harm.</a:t>
            </a:r>
          </a:p>
        </p:txBody>
      </p:sp>
      <p:sp>
        <p:nvSpPr>
          <p:cNvPr id="22" name="TextBox 21"/>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23" name="Rounded Rectangle 22"/>
          <p:cNvSpPr/>
          <p:nvPr/>
        </p:nvSpPr>
        <p:spPr>
          <a:xfrm>
            <a:off x="10254342" y="2651760"/>
            <a:ext cx="914400" cy="914400"/>
          </a:xfrm>
          <a:prstGeom prst="roundRect">
            <a:avLst/>
          </a:prstGeom>
          <a:solidFill>
            <a:srgbClr val="6A5ACD"/>
          </a:solidFill>
          <a:ln>
            <a:solidFill>
              <a:srgbClr val="6A5A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urrency-bitcoin.png"/>
          <p:cNvPicPr>
            <a:picLocks noChangeAspect="1"/>
          </p:cNvPicPr>
          <p:nvPr/>
        </p:nvPicPr>
        <p:blipFill>
          <a:blip r:embed="rId6"/>
          <a:stretch>
            <a:fillRect/>
          </a:stretch>
        </p:blipFill>
        <p:spPr>
          <a:xfrm>
            <a:off x="10345782" y="2743200"/>
            <a:ext cx="731520" cy="731520"/>
          </a:xfrm>
          <a:prstGeom prst="rect">
            <a:avLst/>
          </a:prstGeom>
        </p:spPr>
      </p:pic>
      <p:sp>
        <p:nvSpPr>
          <p:cNvPr id="25" name="Rounded Rectangle 24"/>
          <p:cNvSpPr/>
          <p:nvPr/>
        </p:nvSpPr>
        <p:spPr>
          <a:xfrm>
            <a:off x="9797142"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Human-Centricity</a:t>
            </a:r>
            <a:r>
              <a:rPr>
                <a:solidFill>
                  <a:schemeClr val="tx2"/>
                </a:solidFill>
              </a:rPr>
              <a:t>: Designing AI to augment human capabilities, empower individuals, and serve human flourishing, rather than replacing human judgment where critical.</a:t>
            </a:r>
          </a:p>
        </p:txBody>
      </p:sp>
      <p:sp>
        <p:nvSpPr>
          <p:cNvPr id="26" name="TextBox 25"/>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Navigating the Ethical Minefield: Key Challenges</a:t>
            </a:r>
          </a:p>
        </p:txBody>
      </p:sp>
      <p:sp>
        <p:nvSpPr>
          <p:cNvPr id="3" name="Text Placeholder 2"/>
          <p:cNvSpPr>
            <a:spLocks noGrp="1"/>
          </p:cNvSpPr>
          <p:nvPr>
            <p:ph type="body" idx="1"/>
          </p:nvPr>
        </p:nvSpPr>
        <p:spPr/>
        <p:txBody>
          <a:bodyPr/>
          <a:lstStyle/>
          <a:p>
            <a:r>
              <a:t>Technical Hurdles</a:t>
            </a:r>
          </a:p>
        </p:txBody>
      </p:sp>
      <p:sp>
        <p:nvSpPr>
          <p:cNvPr id="4" name="Content Placeholder 3"/>
          <p:cNvSpPr>
            <a:spLocks noGrp="1"/>
          </p:cNvSpPr>
          <p:nvPr>
            <p:ph idx="2" sz="half"/>
          </p:nvPr>
        </p:nvSpPr>
        <p:spPr/>
        <p:txBody>
          <a:bodyPr/>
          <a:lstStyle/>
          <a:p>
            <a:r>
              <a:rPr i="1"/>
              <a:t>Data Bias</a:t>
            </a:r>
            <a:r>
              <a:t>: AI models learn from data, and if the underlying data is biased or unrepresentative, the AI will perpetuate and amplify those biases, leading to unfair outcomes.</a:t>
            </a:r>
          </a:p>
          <a:p>
            <a:pPr/>
            <a:r>
              <a:rPr i="1"/>
              <a:t>Black Box Problem</a:t>
            </a:r>
            <a:r>
              <a:t>: Many advanced AI models, particularly deep learning networks, are highly complex, making it difficult to understand their internal decision-making process (lack of explainability).</a:t>
            </a:r>
          </a:p>
          <a:p>
            <a:pPr/>
            <a:r>
              <a:rPr i="1"/>
              <a:t>Adversarial Attacks</a:t>
            </a:r>
            <a:r>
              <a:t>: AI systems can be tricked or manipulated by subtle, malicious inputs, leading to incorrect or harmful outputs, posing security and reliability risks.</a:t>
            </a:r>
          </a:p>
        </p:txBody>
      </p:sp>
      <p:sp>
        <p:nvSpPr>
          <p:cNvPr id="5" name="Text Placeholder 4"/>
          <p:cNvSpPr>
            <a:spLocks noGrp="1"/>
          </p:cNvSpPr>
          <p:nvPr>
            <p:ph type="body" idx="3" sz="quarter"/>
          </p:nvPr>
        </p:nvSpPr>
        <p:spPr/>
        <p:txBody>
          <a:bodyPr/>
          <a:lstStyle/>
          <a:p>
            <a:r>
              <a:t>Societal &amp; Governance Issues</a:t>
            </a:r>
          </a:p>
        </p:txBody>
      </p:sp>
      <p:sp>
        <p:nvSpPr>
          <p:cNvPr id="6" name="Content Placeholder 5"/>
          <p:cNvSpPr>
            <a:spLocks noGrp="1"/>
          </p:cNvSpPr>
          <p:nvPr>
            <p:ph idx="4" sz="quarter"/>
          </p:nvPr>
        </p:nvSpPr>
        <p:spPr/>
        <p:txBody>
          <a:bodyPr/>
          <a:lstStyle/>
          <a:p>
            <a:r>
              <a:rPr i="1"/>
              <a:t>Autonomous Decision-Making</a:t>
            </a:r>
            <a:r>
              <a:t>: The ethical and legal dilemma of assigning responsibility when an autonomous AI system makes a critical error or causes harm, blurring lines of accountability.</a:t>
            </a:r>
          </a:p>
          <a:p>
            <a:pPr/>
            <a:r>
              <a:rPr i="1"/>
              <a:t>Job Displacement</a:t>
            </a:r>
            <a:r>
              <a:t>: The ethical implications of AI automating tasks on a large scale, potentially leading to widespread job losses, economic inequality, and social disruption.</a:t>
            </a:r>
          </a:p>
          <a:p>
            <a:pPr/>
            <a:r>
              <a:rPr i="1"/>
              <a:t>Misinformation &amp; Manipulation</a:t>
            </a:r>
            <a:r>
              <a:t>: AI's ability to generate realistic fake content (e.g., deepfakes, synthetic media) poses significant risks to truth, democratic processes, and public trust.</a:t>
            </a:r>
          </a:p>
        </p:txBody>
      </p:sp>
      <p:sp>
        <p:nvSpPr>
          <p:cNvPr id="7" name="Rounded Rectangle 6"/>
          <p:cNvSpPr/>
          <p:nvPr/>
        </p:nvSpPr>
        <p:spPr>
          <a:xfrm>
            <a:off x="3445565" y="5303520"/>
            <a:ext cx="5300869" cy="1463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The ethical development and deployment of AI face significant challenges, ranging from inherent technical complexities like data bias and explainability to broader societal concerns such as accountability, job displacement, and the spread of misinformation.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Unmasking Bias: When AI Reflects Our Prejudices</a:t>
            </a:r>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a:r>
              <a:t>Bias in AI refers to systematic and unfair discrimination against certain individuals or groups, often stemming from the data used to train the models or the design of the algorithms.</a:t>
            </a:r>
          </a:p>
          <a:p>
            <a:pPr/>
            <a:r>
              <a:rPr b="1"/>
              <a:t>Types of Bias:</a:t>
            </a:r>
          </a:p>
          <a:p>
            <a:pPr lvl="1"/>
            <a:r>
              <a:rPr i="1"/>
              <a:t>_Algorithmic Bias_</a:t>
            </a:r>
            <a:r>
              <a:t>: Flaws or unintended preferences embedded in the algorithm's design or its learning process, leading to skewed outcomes.</a:t>
            </a:r>
          </a:p>
          <a:p>
            <a:pPr lvl="1"/>
            <a:r>
              <a:rPr i="1"/>
              <a:t>_Data Bias_</a:t>
            </a:r>
            <a:r>
              <a:t>: Occurs when the training data is unrepresentative, incomplete, or reflects existing societal prejudices and stereotypes.</a:t>
            </a:r>
          </a:p>
          <a:p>
            <a:pPr lvl="1"/>
            <a:r>
              <a:rPr i="1"/>
              <a:t>_Interaction Bias_</a:t>
            </a:r>
            <a:r>
              <a:t>: AI systems can learn and amplify biases through continuous, biased human interactions, reinforcing harmful patterns.</a:t>
            </a:r>
          </a:p>
          <a:p>
            <a:pPr/>
            <a:r>
              <a:rPr i="1"/>
              <a:t>Impact</a:t>
            </a:r>
            <a:r>
              <a:t>: Can lead to discriminatory outcomes in critical areas such as loan applications, hiring processes, criminal justice sentencing, and healthcare access, exacerbating existing inequalities.</a:t>
            </a:r>
          </a:p>
          <a:p>
            <a:pPr/>
            <a:r>
              <a:rPr b="1"/>
              <a:t>Example 1 (Hiring)</a:t>
            </a:r>
            <a:r>
              <a:t>: An AI recruiting tool was found to penalize resumes containing the word 'women's' and favored male candidates for technical roles, having learned from historical hiring data that skewed male, thus perpetuating gender bias.</a:t>
            </a:r>
          </a:p>
          <a:p>
            <a:pPr/>
            <a:r>
              <a:rPr b="1"/>
              <a:t>Example 2 (Facial Recognition)</a:t>
            </a:r>
            <a:r>
              <a:t>: Studies have consistently shown that facial recognition systems exhibit significantly higher error rates for women and people of color compared to white men, leading to potential misidentification, wrongful arrests, and privacy concerns.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Opening the Black Box: The Need for Explainable AI (XAI)</a:t>
            </a:r>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a:r>
              <a:rPr i="1"/>
              <a:t>Transparency</a:t>
            </a:r>
            <a:r>
              <a:t>: The ability to understand how an AI system works, its internal mechanisms, and its decision-making logic, providing clarity into its operations.</a:t>
            </a:r>
          </a:p>
          <a:p>
            <a:pPr/>
            <a:r>
              <a:rPr i="1"/>
              <a:t>Explainability (XAI)</a:t>
            </a:r>
            <a:r>
              <a:t>: The ability to articulate </a:t>
            </a:r>
            <a:r>
              <a:rPr i="1"/>
              <a:t>why</a:t>
            </a:r>
            <a:r>
              <a:t> an AI system made a particular decision or prediction in a way that humans can comprehend, fostering trust and accountability.</a:t>
            </a:r>
          </a:p>
          <a:p>
            <a:pPr/>
            <a:r>
              <a:rPr i="1"/>
              <a:t>Why it matters</a:t>
            </a:r>
            <a:r>
              <a:t>:</a:t>
            </a:r>
          </a:p>
          <a:p>
            <a:pPr lvl="1"/>
            <a:r>
              <a:rPr i="1"/>
              <a:t>_Trust_</a:t>
            </a:r>
            <a:r>
              <a:t>: Users are more likely to trust, adopt, and rely on AI systems they can understand, especially in high-stakes applications.</a:t>
            </a:r>
          </a:p>
          <a:p>
            <a:pPr lvl="1"/>
            <a:r>
              <a:rPr i="1"/>
              <a:t>_Accountability_</a:t>
            </a:r>
            <a:r>
              <a:t>: Essential for auditing, debugging, identifying biases, and assigning responsibility when errors or unfair outcomes occur.</a:t>
            </a:r>
          </a:p>
          <a:p>
            <a:pPr lvl="1"/>
            <a:r>
              <a:rPr i="1"/>
              <a:t>_Compliance_</a:t>
            </a:r>
            <a:r>
              <a:t>: Meeting regulatory requirements, such as GDPR's 'right to explanation,' which grants individuals the right to understand decisions made by algorithms.</a:t>
            </a:r>
          </a:p>
          <a:p>
            <a:pPr/>
            <a:r>
              <a:rPr i="1"/>
              <a:t>Methods for XAI</a:t>
            </a:r>
            <a:r>
              <a:t>:</a:t>
            </a:r>
          </a:p>
          <a:p>
            <a:pPr lvl="1"/>
            <a:r>
              <a:rPr i="1"/>
              <a:t>_Feature Importance_</a:t>
            </a:r>
            <a:r>
              <a:t>: Identifying which input features most influenced a decision, highlighting key contributing factors.</a:t>
            </a:r>
          </a:p>
          <a:p>
            <a:pPr lvl="1"/>
            <a:r>
              <a:rPr i="1"/>
              <a:t>_LIME (Local Interpretable Model-agnostic Explanations)_</a:t>
            </a:r>
            <a:r>
              <a:t>: Explaining individual predictions of any classifier by approximating it locally with an interpretable model.</a:t>
            </a:r>
          </a:p>
          <a:p>
            <a:pPr lvl="1"/>
            <a:r>
              <a:rPr i="1"/>
              <a:t>_SHAP (SHapley Additive exPlanations)_</a:t>
            </a:r>
            <a:r>
              <a:t>: A game theory approach to explain the output of any machine learning model by attributing the contribution of each feature to the prediction.</a:t>
            </a:r>
          </a:p>
          <a:p>
            <a:pPr/>
            <a:r>
              <a:rPr b="1"/>
              <a:t>Example</a:t>
            </a:r>
            <a:r>
              <a:t>: In a credit scoring AI, XAI could explain that a loan was denied due to a high debt-to-income ratio and recent late payments, rather than just outputting a 'denied' status, allowing the applicant to understand and potentially rectify the issues.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Who's in Charge? Establishing Accountability in AI</a:t>
            </a:r>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a:r>
              <a:rPr i="1"/>
              <a:t>Accountability</a:t>
            </a:r>
            <a:r>
              <a:t>: The principle that individuals or organizations are responsible for the outcomes and impacts of AI systems they develop, deploy, or use, encompassing both positive and negative consequences.</a:t>
            </a:r>
          </a:p>
          <a:p>
            <a:pPr/>
            <a:r>
              <a:rPr i="1"/>
              <a:t>Challenges</a:t>
            </a:r>
            <a:r>
              <a:t>: The distributed nature of AI development (involving data providers, model developers, deployers, and end-users) makes assigning clear accountability complex and often fragmented.</a:t>
            </a:r>
          </a:p>
          <a:p>
            <a:pPr/>
            <a:r>
              <a:rPr i="1"/>
              <a:t>Governance Frameworks</a:t>
            </a:r>
            <a:r>
              <a:t>:</a:t>
            </a:r>
          </a:p>
          <a:p>
            <a:pPr lvl="1"/>
            <a:r>
              <a:rPr i="1"/>
              <a:t>_Internal Policies_</a:t>
            </a:r>
            <a:r>
              <a:t>: Companies establishing ethical guidelines, internal review boards, and AI impact assessments to guide development and deployment.</a:t>
            </a:r>
          </a:p>
          <a:p>
            <a:pPr lvl="1"/>
            <a:r>
              <a:rPr i="1"/>
              <a:t>_External Regulations_</a:t>
            </a:r>
            <a:r>
              <a:t>: Governments developing laws and standards (e.g., EU AI Act, NIST AI Risk Management Framework) to mandate ethical practices and ensure compliance.</a:t>
            </a:r>
          </a:p>
          <a:p>
            <a:pPr lvl="1"/>
            <a:r>
              <a:rPr i="1"/>
              <a:t>_Industry Standards_</a:t>
            </a:r>
            <a:r>
              <a:t>: Collaborative efforts within industries to define best practices, certifications, and codes of conduct for ethical AI.</a:t>
            </a:r>
          </a:p>
          <a:p>
            <a:pPr/>
            <a:r>
              <a:rPr b="1"/>
              <a:t>Example 1</a:t>
            </a:r>
            <a:r>
              <a:t>: If an autonomous vehicle causes an accident, accountability might involve the software developer, the vehicle manufacturer, the sensor provider, and the owner/operator, depending on the root cause of the incident.</a:t>
            </a:r>
          </a:p>
          <a:p>
            <a:pPr/>
            <a:r>
              <a:rPr b="1"/>
              <a:t>Example 2</a:t>
            </a:r>
            <a:r>
              <a:t>: A company deploying an AI hiring tool is ultimately accountable for ensuring it does not discriminate, even if the bias originated from the training data provided by a third party, requiring due diligence and mitigation strategies.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Safeguarding Data: The Cornerstone of Ethical AI</a:t>
            </a:r>
          </a:p>
        </p:txBody>
      </p:sp>
      <p:sp>
        <p:nvSpPr>
          <p:cNvPr id="3" name="Content Placeholder 2"/>
          <p:cNvSpPr>
            <a:spLocks noGrp="1"/>
          </p:cNvSpPr>
          <p:nvPr>
            <p:ph idx="1"/>
          </p:nvPr>
        </p:nvSpPr>
        <p:spPr/>
        <p:txBody>
          <a:bodyPr/>
          <a:lstStyle/>
          <a:p>
            <a:r>
              <a:rPr i="1"/>
              <a:t>Privacy</a:t>
            </a:r>
            <a:r>
              <a:t>: The fundamental right of individuals to control their personal information and how it is collected, used, and shared by AI systems, ensuring autonomy and protection.</a:t>
            </a:r>
          </a:p>
          <a:p>
            <a:pPr/>
            <a:r>
              <a:rPr i="1"/>
              <a:t>Data Protection</a:t>
            </a:r>
            <a:r>
              <a:t>: Comprehensive measures and regulations designed to secure personal data against unauthorized access, use, disclosure, alteration, or destruction.</a:t>
            </a:r>
          </a:p>
          <a:p>
            <a:pPr/>
            <a:r>
              <a:rPr i="1"/>
              <a:t>AI's Role</a:t>
            </a:r>
            <a:r>
              <a:t>: AI systems often rely on vast amounts of data, raising significant concerns about mass surveillance, potential data breaches, and the re-identification of anonymized data.</a:t>
            </a:r>
          </a:p>
          <a:p>
            <a:pPr/>
            <a:r>
              <a:rPr i="1"/>
              <a:t>Key Principles</a:t>
            </a:r>
            <a:r>
              <a:t>:</a:t>
            </a:r>
          </a:p>
          <a:p>
            <a:pPr lvl="1"/>
            <a:r>
              <a:rPr i="1"/>
              <a:t>_Data Minimization_</a:t>
            </a:r>
            <a:r>
              <a:t>: Collect only the data absolutely necessary for the intended purpose, reducing the risk surface.</a:t>
            </a:r>
          </a:p>
          <a:p>
            <a:pPr lvl="1"/>
            <a:r>
              <a:rPr i="1"/>
              <a:t>_Purpose Limitation_</a:t>
            </a:r>
            <a:r>
              <a:t>: Use data only for the specified, legitimate purposes for which it was collected, preventing scope creep.</a:t>
            </a:r>
          </a:p>
          <a:p>
            <a:pPr lvl="1"/>
            <a:r>
              <a:rPr i="1"/>
              <a:t>_Consent_</a:t>
            </a:r>
            <a:r>
              <a:t>: Obtain informed, explicit consent for data collection and usage, giving individuals control over their information.</a:t>
            </a:r>
          </a:p>
          <a:p>
            <a:pPr lvl="1"/>
            <a:r>
              <a:rPr i="1"/>
              <a:t>_Security_</a:t>
            </a:r>
            <a:r>
              <a:t>: Implement robust technical and organizational measures to protect data from breaches and misuse.</a:t>
            </a:r>
          </a:p>
          <a:p>
            <a:pPr/>
            <a:r>
              <a:rPr i="1"/>
              <a:t>Techniques for Privacy-Preserving AI</a:t>
            </a:r>
            <a:r>
              <a:t>:</a:t>
            </a:r>
          </a:p>
          <a:p>
            <a:pPr lvl="1"/>
            <a:r>
              <a:rPr i="1"/>
              <a:t>_Differential Privacy_</a:t>
            </a:r>
            <a:r>
              <a:t>: Adding carefully calibrated noise to data to protect individual privacy while still allowing for aggregate statistical analysis.</a:t>
            </a:r>
          </a:p>
          <a:p>
            <a:pPr lvl="1"/>
            <a:r>
              <a:rPr i="1"/>
              <a:t>_Federated Learning_</a:t>
            </a:r>
            <a:r>
              <a:t>: Training AI models on decentralized datasets located on local devices without sharing raw data with a central server.</a:t>
            </a:r>
          </a:p>
          <a:p>
            <a:pPr lvl="1"/>
            <a:r>
              <a:rPr i="1"/>
              <a:t>_Homomorphic Encryption_</a:t>
            </a:r>
            <a:r>
              <a:t>: Performing computations on encrypted data without needing to decrypt it first, maintaining privacy throughout the process.</a:t>
            </a:r>
          </a:p>
          <a:p>
            <a:pPr/>
            <a:r>
              <a:rPr b="1"/>
              <a:t>Example</a:t>
            </a:r>
            <a:r>
              <a:t>: A health AI system should primarily use anonymized patient data for research and development. If personal data is required, explicit consent must be obtained, coupled with strong encryption, access controls, and strict data retention policies.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Building Responsibly: An Ethical AI Development Journey</a:t>
            </a:r>
          </a:p>
        </p:txBody>
      </p:sp>
      <p:sp>
        <p:nvSpPr>
          <p:cNvPr id="3" name="Content Placeholder 2"/>
          <p:cNvSpPr>
            <a:spLocks noGrp="1"/>
          </p:cNvSpPr>
          <p:nvPr>
            <p:ph idx="1"/>
          </p:nvPr>
        </p:nvSpPr>
        <p:spPr/>
        <p:txBody>
          <a:bodyPr/>
          <a:lstStyle/>
          <a:p/>
        </p:txBody>
      </p:sp>
      <p:sp>
        <p:nvSpPr>
          <p:cNvPr id="4" name="Pentagon 3"/>
          <p:cNvSpPr/>
          <p:nvPr/>
        </p:nvSpPr>
        <p:spPr>
          <a:xfrm>
            <a:off x="914400" y="1714500"/>
            <a:ext cx="8127999" cy="594360"/>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_Problem Definition &amp; Scoping_: From the outset, identify potential ethical risks, societal impacts, and stakeholder values. Define the problem and the AI's purpose ethically, considering potential harms and benefits.</a:t>
            </a:r>
          </a:p>
        </p:txBody>
      </p:sp>
      <p:sp>
        <p:nvSpPr>
          <p:cNvPr id="5" name="Pentagon 4"/>
          <p:cNvSpPr/>
          <p:nvPr/>
        </p:nvSpPr>
        <p:spPr>
          <a:xfrm>
            <a:off x="1371600" y="2583180"/>
            <a:ext cx="8127999" cy="594360"/>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_Data Collection &amp; Preparation_: Ensure data sources are fair, representative, and privacy-preserving. Conduct thorough bias audits on datasets to identify and mitigate existing prejudices before training.</a:t>
            </a:r>
          </a:p>
        </p:txBody>
      </p:sp>
      <p:sp>
        <p:nvSpPr>
          <p:cNvPr id="6" name="Pentagon 5"/>
          <p:cNvSpPr/>
          <p:nvPr/>
        </p:nvSpPr>
        <p:spPr>
          <a:xfrm>
            <a:off x="1828800" y="3451860"/>
            <a:ext cx="8127999" cy="594360"/>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_Model Design &amp; Development_: Incorporate fairness metrics, explainability techniques, and robustness checks directly into the model architecture and training process. Prioritize human oversight and control.</a:t>
            </a:r>
          </a:p>
        </p:txBody>
      </p:sp>
      <p:sp>
        <p:nvSpPr>
          <p:cNvPr id="7" name="Pentagon 6"/>
          <p:cNvSpPr/>
          <p:nvPr/>
        </p:nvSpPr>
        <p:spPr>
          <a:xfrm>
            <a:off x="2286000" y="4320540"/>
            <a:ext cx="8127999" cy="594360"/>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_Testing &amp; Validation_: Rigorously test the AI system for bias, fairness, security vulnerabilities, and performance across diverse demographic groups. Conduct red-teaming exercises to identify potential misuse scenarios.</a:t>
            </a:r>
          </a:p>
        </p:txBody>
      </p:sp>
      <p:sp>
        <p:nvSpPr>
          <p:cNvPr id="8" name="Pentagon 7"/>
          <p:cNvSpPr/>
          <p:nvPr/>
        </p:nvSpPr>
        <p:spPr>
          <a:xfrm>
            <a:off x="2743200" y="5189220"/>
            <a:ext cx="8127999" cy="594360"/>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_Deployment &amp; Monitoring_: Implement continuous monitoring for model drift, emergent biases, and unintended consequences in real-world use. Establish clear feedback loops for users to report issues and concerns.</a:t>
            </a:r>
          </a:p>
        </p:txBody>
      </p:sp>
      <p:sp>
        <p:nvSpPr>
          <p:cNvPr id="9" name="Pentagon 8"/>
          <p:cNvSpPr/>
          <p:nvPr/>
        </p:nvSpPr>
        <p:spPr>
          <a:xfrm>
            <a:off x="3200400" y="6057900"/>
            <a:ext cx="8127999" cy="594360"/>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_Post-Deployment Review &amp; Iteration_: Regularly assess the long-term societal impact of the deployed AI. Update models, refine ethical guidelines, and adapt governance frameworks based on new insights and evolving societal norms.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Navigating the Ethical Landscape: Case Studies &amp; Responses</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838200" y="1825625"/>
          <a:ext cx="10515600" cy="4351338"/>
        </p:xfrm>
        <a:graphic>
          <a:graphicData uri="http://schemas.openxmlformats.org/drawingml/2006/table">
            <a:tbl>
              <a:tblPr firstRow="1" bandRow="1">
                <a:tableStyleId>{5C22544A-7EE6-4342-B048-85BDC9FD1C3A}</a:tableStyleId>
              </a:tblPr>
              <a:tblGrid>
                <a:gridCol w="2628900"/>
                <a:gridCol w="2628900"/>
                <a:gridCol w="2628900"/>
                <a:gridCol w="2628900"/>
              </a:tblGrid>
              <a:tr h="725223">
                <a:tc>
                  <a:txBody>
                    <a:bodyPr/>
                    <a:lstStyle/>
                    <a:p>
                      <a:pPr>
                        <a:defRPr b="1"/>
                      </a:pPr>
                      <a:r>
                        <a:t>Ethical Dilemma</a:t>
                      </a:r>
                    </a:p>
                  </a:txBody>
                  <a:tcPr/>
                </a:tc>
                <a:tc>
                  <a:txBody>
                    <a:bodyPr/>
                    <a:lstStyle/>
                    <a:p>
                      <a:pPr>
                        <a:defRPr b="1"/>
                      </a:pPr>
                      <a:r>
                        <a:t>Context/Example</a:t>
                      </a:r>
                    </a:p>
                  </a:txBody>
                  <a:tcPr/>
                </a:tc>
                <a:tc>
                  <a:txBody>
                    <a:bodyPr/>
                    <a:lstStyle/>
                    <a:p>
                      <a:pPr>
                        <a:defRPr b="1"/>
                      </a:pPr>
                      <a:r>
                        <a:t>Impact/Risk</a:t>
                      </a:r>
                    </a:p>
                  </a:txBody>
                  <a:tcPr/>
                </a:tc>
                <a:tc>
                  <a:txBody>
                    <a:bodyPr/>
                    <a:lstStyle/>
                    <a:p>
                      <a:pPr>
                        <a:defRPr b="1"/>
                      </a:pPr>
                      <a:r>
                        <a:t>Ethical Response/Solution</a:t>
                      </a:r>
                    </a:p>
                  </a:txBody>
                  <a:tcPr/>
                </a:tc>
              </a:tr>
              <a:tr h="725223">
                <a:tc>
                  <a:txBody>
                    <a:bodyPr/>
                    <a:lstStyle/>
                    <a:p>
                      <a:r>
                        <a:t>Algorithmic Bias</a:t>
                      </a:r>
                    </a:p>
                  </a:txBody>
                  <a:tcPr/>
                </a:tc>
                <a:tc>
                  <a:txBody>
                    <a:bodyPr/>
                    <a:lstStyle/>
                    <a:p>
                      <a:r>
                        <a:t>AI in criminal justice predicting recidivism rates.</a:t>
                      </a:r>
                    </a:p>
                  </a:txBody>
                  <a:tcPr/>
                </a:tc>
                <a:tc>
                  <a:txBody>
                    <a:bodyPr/>
                    <a:lstStyle/>
                    <a:p>
                      <a:r>
                        <a:t>Disproportionate sentencing or denial of parole for minority groups, perpetuating systemic inequalities.</a:t>
                      </a:r>
                    </a:p>
                  </a:txBody>
                  <a:tcPr/>
                </a:tc>
                <a:tc>
                  <a:txBody>
                    <a:bodyPr/>
                    <a:lstStyle/>
                    <a:p>
                      <a:r>
                        <a:t>Bias detection tools, fairness-aware algorithms, human-in-the-loop oversight, regular audits, diverse training data.</a:t>
                      </a:r>
                    </a:p>
                  </a:txBody>
                  <a:tcPr/>
                </a:tc>
              </a:tr>
              <a:tr h="725223">
                <a:tc>
                  <a:txBody>
                    <a:bodyPr/>
                    <a:lstStyle/>
                    <a:p>
                      <a:r>
                        <a:t>Privacy Invasion</a:t>
                      </a:r>
                    </a:p>
                  </a:txBody>
                  <a:tcPr/>
                </a:tc>
                <a:tc>
                  <a:txBody>
                    <a:bodyPr/>
                    <a:lstStyle/>
                    <a:p>
                      <a:r>
                        <a:t>Extensive facial recognition deployment in public spaces by governments or corporations.</a:t>
                      </a:r>
                    </a:p>
                  </a:txBody>
                  <a:tcPr/>
                </a:tc>
                <a:tc>
                  <a:txBody>
                    <a:bodyPr/>
                    <a:lstStyle/>
                    <a:p>
                      <a:r>
                        <a:t>Mass surveillance, erosion of anonymity, potential for misuse of personal data, chilling effect on free speech.</a:t>
                      </a:r>
                    </a:p>
                  </a:txBody>
                  <a:tcPr/>
                </a:tc>
                <a:tc>
                  <a:txBody>
                    <a:bodyPr/>
                    <a:lstStyle/>
                    <a:p>
                      <a:r>
                        <a:t>Strict data governance, informed consent mechanisms, anonymization techniques, robust regulatory limits on deployment and data retention.</a:t>
                      </a:r>
                    </a:p>
                  </a:txBody>
                  <a:tcPr/>
                </a:tc>
              </a:tr>
              <a:tr h="725223">
                <a:tc>
                  <a:txBody>
                    <a:bodyPr/>
                    <a:lstStyle/>
                    <a:p>
                      <a:r>
                        <a:t>Lack of Transparency</a:t>
                      </a:r>
                    </a:p>
                  </a:txBody>
                  <a:tcPr/>
                </a:tc>
                <a:tc>
                  <a:txBody>
                    <a:bodyPr/>
                    <a:lstStyle/>
                    <a:p>
                      <a:r>
                        <a:t>AI denying credit applications or job applications without clear reasons.</a:t>
                      </a:r>
                    </a:p>
                  </a:txBody>
                  <a:tcPr/>
                </a:tc>
                <a:tc>
                  <a:txBody>
                    <a:bodyPr/>
                    <a:lstStyle/>
                    <a:p>
                      <a:r>
                        <a:t>Inability for individuals to understand or appeal decisions, erosion of trust in institutions, legal challenges.</a:t>
                      </a:r>
                    </a:p>
                  </a:txBody>
                  <a:tcPr/>
                </a:tc>
                <a:tc>
                  <a:txBody>
                    <a:bodyPr/>
                    <a:lstStyle/>
                    <a:p>
                      <a:r>
                        <a:t>Explainable AI (XAI) techniques, clear communication of decision factors, human review processes, 'right to explanation' regulations.</a:t>
                      </a:r>
                    </a:p>
                  </a:txBody>
                  <a:tcPr/>
                </a:tc>
              </a:tr>
              <a:tr h="725223">
                <a:tc>
                  <a:txBody>
                    <a:bodyPr/>
                    <a:lstStyle/>
                    <a:p>
                      <a:r>
                        <a:t>Autonomous Weapons</a:t>
                      </a:r>
                    </a:p>
                  </a:txBody>
                  <a:tcPr/>
                </a:tc>
                <a:tc>
                  <a:txBody>
                    <a:bodyPr/>
                    <a:lstStyle/>
                    <a:p>
                      <a:r>
                        <a:t>Development and potential deployment of Lethal Autonomous Weapons Systems (LAWS).</a:t>
                      </a:r>
                    </a:p>
                  </a:txBody>
                  <a:tcPr/>
                </a:tc>
                <a:tc>
                  <a:txBody>
                    <a:bodyPr/>
                    <a:lstStyle/>
                    <a:p>
                      <a:r>
                        <a:t>Loss of meaningful human control over life-and-death decisions, potential for rapid escalation of conflict, ethical vacuum.</a:t>
                      </a:r>
                    </a:p>
                  </a:txBody>
                  <a:tcPr/>
                </a:tc>
                <a:tc>
                  <a:txBody>
                    <a:bodyPr/>
                    <a:lstStyle/>
                    <a:p>
                      <a:r>
                        <a:t>International treaties and bans, ethical guidelines for military AI, 'human-in-the-loop' or 'human-on-the-loop' requirements.</a:t>
                      </a:r>
                    </a:p>
                  </a:txBody>
                  <a:tcPr/>
                </a:tc>
              </a:tr>
              <a:tr h="725223">
                <a:tc>
                  <a:txBody>
                    <a:bodyPr/>
                    <a:lstStyle/>
                    <a:p>
                      <a:r>
                        <a:t>Misinformation</a:t>
                      </a:r>
                    </a:p>
                  </a:txBody>
                  <a:tcPr/>
                </a:tc>
                <a:tc>
                  <a:txBody>
                    <a:bodyPr/>
                    <a:lstStyle/>
                    <a:p>
                      <a:r>
                        <a:t>AI-generated deepfakes and sophisticated fake news campaigns.</a:t>
                      </a:r>
                    </a:p>
                  </a:txBody>
                  <a:tcPr/>
                </a:tc>
                <a:tc>
                  <a:txBody>
                    <a:bodyPr/>
                    <a:lstStyle/>
                    <a:p>
                      <a:r>
                        <a:t>Erosion of trust in media and institutions, political manipulation, reputational damage, societal polarization.</a:t>
                      </a:r>
                    </a:p>
                  </a:txBody>
                  <a:tcPr/>
                </a:tc>
                <a:tc>
                  <a:txBody>
                    <a:bodyPr/>
                    <a:lstStyle/>
                    <a:p>
                      <a:r>
                        <a:t>AI watermarking and provenance tracking, advanced deepfake detection tools, media literacy campaigns, platform responsibility for content moderation.</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Charting the Course: Emerging Trends and Future Directions</a:t>
            </a:r>
          </a:p>
        </p:txBody>
      </p:sp>
      <p:sp>
        <p:nvSpPr>
          <p:cNvPr id="3" name="Content Placeholder 2"/>
          <p:cNvSpPr>
            <a:spLocks noGrp="1"/>
          </p:cNvSpPr>
          <p:nvPr>
            <p:ph idx="1"/>
          </p:nvPr>
        </p:nvSpPr>
        <p:spPr/>
        <p:txBody>
          <a:bodyPr/>
          <a:lstStyle/>
          <a:p>
            <a:r>
              <a:rPr i="1"/>
              <a:t>Global Harmonization</a:t>
            </a:r>
            <a:r>
              <a:t>: Increasing efforts towards international collaboration and the development of standardized ethical frameworks and regulations for AI across borders.</a:t>
            </a:r>
          </a:p>
          <a:p>
            <a:pPr/>
            <a:r>
              <a:rPr i="1"/>
              <a:t>AI for Good</a:t>
            </a:r>
            <a:r>
              <a:t>: A growing focus on leveraging AI to solve pressing global challenges (e.g., climate change, healthcare access, sustainable development) while rigorously adhering to ethical principles.</a:t>
            </a:r>
          </a:p>
          <a:p>
            <a:pPr/>
            <a:r>
              <a:rPr i="1"/>
              <a:t>Neuro-Rights &amp; Digital Identity</a:t>
            </a:r>
            <a:r>
              <a:t>: Addressing complex ethical concerns related to brain-computer interfaces, the potential for digital consciousness, and the evolving nature of human identity in an AI-driven world.</a:t>
            </a:r>
          </a:p>
          <a:p>
            <a:pPr/>
            <a:r>
              <a:rPr i="1"/>
              <a:t>Proactive Regulation</a:t>
            </a:r>
            <a:r>
              <a:t>: A shift from reactive responses to proactive policy-making that anticipates future AI capabilities and risks, aiming to guide innovation responsibly from the outset.</a:t>
            </a:r>
          </a:p>
          <a:p>
            <a:pPr/>
            <a:r>
              <a:rPr i="1"/>
              <a:t>Ethical AI as a Competitive Advantage</a:t>
            </a:r>
            <a:r>
              <a:t>: Companies increasingly recognizing that robust ethical AI practices build trust, enhance brand reputation, attract top talent, and foster long-term customer loyalty.</a:t>
            </a:r>
          </a:p>
          <a:p>
            <a:pPr/>
            <a:r>
              <a:rPr b="1"/>
              <a:t>Example</a:t>
            </a:r>
            <a:r>
              <a:t>: The emergence of dedicated 'AI ethics officers' or 'responsible AI teams' within organizations, similar to data privacy officers, becoming a standard role to ensure ethical compliance and drive responsible innovation.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 &amp; Our Collective Responsibility</a:t>
            </a:r>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a:r>
              <a:t>*AI Ethics is not an afterthought, but a fundamental and integrated component of responsible AI development and deployment, essential for its long-term success and acceptance.</a:t>
            </a:r>
          </a:p>
          <a:p>
            <a:pPr/>
            <a:r>
              <a:t>*Core principles like fairness, transparency, accountability, privacy, and safety are non-negotiable for building trustworthy and beneficial AI systems.</a:t>
            </a:r>
          </a:p>
          <a:p>
            <a:pPr/>
            <a:r>
              <a:t>*Addressing the multifaceted challenges of AI ethics requires a comprehensive approach involving technological solutions, robust policy-making, continuous education, and interdisciplinary collaboration.</a:t>
            </a:r>
          </a:p>
          <a:p>
            <a:pPr/>
            <a:r>
              <a:t>*A proactive, human-centric approach to AI ethics is crucial for harnessing AI's immense potential while effectively mitigating its inherent risks and ensuring equitable outcomes for all.</a:t>
            </a:r>
          </a:p>
          <a:p>
            <a:pPr/>
            <a:r>
              <a:rPr b="1"/>
              <a:t>Call to Action</a:t>
            </a:r>
            <a:r>
              <a:t>: Engage in critical discussions, advocate for ethical guidelines, and actively integrate ethical considerations into every stage of AI innovation, from research to deployment and beyond.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0</vt:i4>
      </vt:variant>
    </vt:vector>
  </HeadingPairs>
  <TitlesOfParts>
    <vt:vector size="4" baseType="lpstr">
      <vt:lpstr>Arial</vt:lpstr>
      <vt:lpstr>Calibri</vt:lpstr>
      <vt:lpstr>Calibri Light</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Barun Saha</dc:creator>
  <cp:lastModifiedBy>Barun Saha</cp:lastModifiedBy>
  <cp:revision>6</cp:revision>
  <dcterms:created xsi:type="dcterms:W3CDTF">2023-08-26T17:51:03Z</dcterms:created>
  <dcterms:modified xsi:type="dcterms:W3CDTF">2024-04-27T13:52:58Z</dcterms:modified>
</cp:coreProperties>
</file>