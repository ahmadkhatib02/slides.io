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p:scale>
          <a:sx n="60" d="100"/>
          <a:sy n="60" d="100"/>
        </p:scale>
        <p:origin x="1550" y="6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FDC24C1A-9EF1-398F-74ED-AF2B9D5CE525}"/>
              </a:ext>
            </a:extLst>
          </p:cNvPr>
          <p:cNvPicPr>
            <a:picLocks noChangeAspect="1"/>
          </p:cNvPicPr>
          <p:nvPr userDrawn="1"/>
        </p:nvPicPr>
        <p:blipFill>
          <a:blip r:embed="rId2">
            <a:alphaModFix amt="60000"/>
            <a:extLst>
              <a:ext uri="{28A0092B-C50C-407E-A947-70E740481C1C}">
                <a14:useLocalDpi xmlns:a14="http://schemas.microsoft.com/office/drawing/2010/main" val="0"/>
              </a:ext>
            </a:extLst>
          </a:blip>
          <a:stretch>
            <a:fillRect/>
          </a:stretch>
        </p:blipFill>
        <p:spPr>
          <a:xfrm>
            <a:off x="0" y="717550"/>
            <a:ext cx="12192000" cy="5422900"/>
          </a:xfrm>
          <a:prstGeom prst="rect">
            <a:avLst/>
          </a:prstGeom>
        </p:spPr>
      </p:pic>
      <p:sp>
        <p:nvSpPr>
          <p:cNvPr id="2" name="Title 1">
            <a:extLst>
              <a:ext uri="{FF2B5EF4-FFF2-40B4-BE49-F238E27FC236}">
                <a16:creationId xmlns:a16="http://schemas.microsoft.com/office/drawing/2014/main" id="{72539291-9158-4961-66E0-092CAC4D507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7B4052AF-61FA-8FB2-5815-FBA0E38D522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8FED454-C11E-24C6-BD8C-3AEC5DB77C97}"/>
              </a:ext>
            </a:extLst>
          </p:cNvPr>
          <p:cNvSpPr>
            <a:spLocks noGrp="1"/>
          </p:cNvSpPr>
          <p:nvPr>
            <p:ph type="dt" sz="half" idx="10"/>
          </p:nvPr>
        </p:nvSpPr>
        <p:spPr/>
        <p:txBody>
          <a:bodyPr/>
          <a:lstStyle/>
          <a:p>
            <a:fld id="{245F0EAC-318F-40E5-838A-5DE65186082A}" type="datetimeFigureOut">
              <a:rPr lang="en-IN" smtClean="0"/>
              <a:t>27-04-2024</a:t>
            </a:fld>
            <a:endParaRPr lang="en-IN"/>
          </a:p>
        </p:txBody>
      </p:sp>
      <p:sp>
        <p:nvSpPr>
          <p:cNvPr id="5" name="Footer Placeholder 4">
            <a:extLst>
              <a:ext uri="{FF2B5EF4-FFF2-40B4-BE49-F238E27FC236}">
                <a16:creationId xmlns:a16="http://schemas.microsoft.com/office/drawing/2014/main" id="{2B208462-C68E-9DF6-14F7-C65ABDCB5CF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8700A60-94F0-F505-50C0-0F77D3CC2D3A}"/>
              </a:ext>
            </a:extLst>
          </p:cNvPr>
          <p:cNvSpPr>
            <a:spLocks noGrp="1"/>
          </p:cNvSpPr>
          <p:nvPr>
            <p:ph type="sldNum" sz="quarter" idx="12"/>
          </p:nvPr>
        </p:nvSpPr>
        <p:spPr/>
        <p:txBody>
          <a:bodyPr/>
          <a:lstStyle/>
          <a:p>
            <a:fld id="{CA98CD80-5438-4D89-B0E3-67EC0E099088}" type="slidenum">
              <a:rPr lang="en-IN" smtClean="0"/>
              <a:t>‹#›</a:t>
            </a:fld>
            <a:endParaRPr lang="en-IN"/>
          </a:p>
        </p:txBody>
      </p:sp>
    </p:spTree>
    <p:extLst>
      <p:ext uri="{BB962C8B-B14F-4D97-AF65-F5344CB8AC3E}">
        <p14:creationId xmlns:p14="http://schemas.microsoft.com/office/powerpoint/2010/main" val="16096623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D165ED-B947-A6AE-E541-A54EE8EEE2D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A90603B-D49F-733A-66CA-E1E00EB8CF5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E31EB94-E78F-4A0B-347B-E5A202CFF25D}"/>
              </a:ext>
            </a:extLst>
          </p:cNvPr>
          <p:cNvSpPr>
            <a:spLocks noGrp="1"/>
          </p:cNvSpPr>
          <p:nvPr>
            <p:ph type="dt" sz="half" idx="10"/>
          </p:nvPr>
        </p:nvSpPr>
        <p:spPr/>
        <p:txBody>
          <a:bodyPr/>
          <a:lstStyle/>
          <a:p>
            <a:fld id="{245F0EAC-318F-40E5-838A-5DE65186082A}" type="datetimeFigureOut">
              <a:rPr lang="en-IN" smtClean="0"/>
              <a:t>27-04-2024</a:t>
            </a:fld>
            <a:endParaRPr lang="en-IN"/>
          </a:p>
        </p:txBody>
      </p:sp>
      <p:sp>
        <p:nvSpPr>
          <p:cNvPr id="5" name="Footer Placeholder 4">
            <a:extLst>
              <a:ext uri="{FF2B5EF4-FFF2-40B4-BE49-F238E27FC236}">
                <a16:creationId xmlns:a16="http://schemas.microsoft.com/office/drawing/2014/main" id="{9EAE7A6C-6937-813D-228A-9DA90A64B50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72F556C-0784-17D4-1CA3-992CDCC86A80}"/>
              </a:ext>
            </a:extLst>
          </p:cNvPr>
          <p:cNvSpPr>
            <a:spLocks noGrp="1"/>
          </p:cNvSpPr>
          <p:nvPr>
            <p:ph type="sldNum" sz="quarter" idx="12"/>
          </p:nvPr>
        </p:nvSpPr>
        <p:spPr/>
        <p:txBody>
          <a:bodyPr/>
          <a:lstStyle/>
          <a:p>
            <a:fld id="{CA98CD80-5438-4D89-B0E3-67EC0E099088}" type="slidenum">
              <a:rPr lang="en-IN" smtClean="0"/>
              <a:t>‹#›</a:t>
            </a:fld>
            <a:endParaRPr lang="en-IN"/>
          </a:p>
        </p:txBody>
      </p:sp>
    </p:spTree>
    <p:extLst>
      <p:ext uri="{BB962C8B-B14F-4D97-AF65-F5344CB8AC3E}">
        <p14:creationId xmlns:p14="http://schemas.microsoft.com/office/powerpoint/2010/main" val="34988400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CD36DC-2819-DD4E-24E6-F54DD0213F4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BA5174E-8694-28AC-A3E3-E30D63D0329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47E61FA-F231-227A-5270-8D4D6B68B402}"/>
              </a:ext>
            </a:extLst>
          </p:cNvPr>
          <p:cNvSpPr>
            <a:spLocks noGrp="1"/>
          </p:cNvSpPr>
          <p:nvPr>
            <p:ph type="dt" sz="half" idx="10"/>
          </p:nvPr>
        </p:nvSpPr>
        <p:spPr/>
        <p:txBody>
          <a:bodyPr/>
          <a:lstStyle/>
          <a:p>
            <a:fld id="{245F0EAC-318F-40E5-838A-5DE65186082A}" type="datetimeFigureOut">
              <a:rPr lang="en-IN" smtClean="0"/>
              <a:t>27-04-2024</a:t>
            </a:fld>
            <a:endParaRPr lang="en-IN"/>
          </a:p>
        </p:txBody>
      </p:sp>
      <p:sp>
        <p:nvSpPr>
          <p:cNvPr id="5" name="Footer Placeholder 4">
            <a:extLst>
              <a:ext uri="{FF2B5EF4-FFF2-40B4-BE49-F238E27FC236}">
                <a16:creationId xmlns:a16="http://schemas.microsoft.com/office/drawing/2014/main" id="{067AC384-093E-95D0-7957-E7BA6082559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A472E69-FB3F-2B6D-CCF5-2EC59DD5B860}"/>
              </a:ext>
            </a:extLst>
          </p:cNvPr>
          <p:cNvSpPr>
            <a:spLocks noGrp="1"/>
          </p:cNvSpPr>
          <p:nvPr>
            <p:ph type="sldNum" sz="quarter" idx="12"/>
          </p:nvPr>
        </p:nvSpPr>
        <p:spPr/>
        <p:txBody>
          <a:bodyPr/>
          <a:lstStyle/>
          <a:p>
            <a:fld id="{CA98CD80-5438-4D89-B0E3-67EC0E099088}" type="slidenum">
              <a:rPr lang="en-IN" smtClean="0"/>
              <a:t>‹#›</a:t>
            </a:fld>
            <a:endParaRPr lang="en-IN"/>
          </a:p>
        </p:txBody>
      </p:sp>
    </p:spTree>
    <p:extLst>
      <p:ext uri="{BB962C8B-B14F-4D97-AF65-F5344CB8AC3E}">
        <p14:creationId xmlns:p14="http://schemas.microsoft.com/office/powerpoint/2010/main" val="10820211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40AC43-1D13-7B4F-EABB-46B1845B933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C906E18-EBA3-FB64-DD5F-E51C0A9D047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A5041F6-02E7-7F9C-F1A9-07A3A5C233B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27F07CBF-4B1E-3700-E17B-A51E153DD8EF}"/>
              </a:ext>
            </a:extLst>
          </p:cNvPr>
          <p:cNvSpPr>
            <a:spLocks noGrp="1"/>
          </p:cNvSpPr>
          <p:nvPr>
            <p:ph type="dt" sz="half" idx="10"/>
          </p:nvPr>
        </p:nvSpPr>
        <p:spPr/>
        <p:txBody>
          <a:bodyPr/>
          <a:lstStyle/>
          <a:p>
            <a:fld id="{245F0EAC-318F-40E5-838A-5DE65186082A}" type="datetimeFigureOut">
              <a:rPr lang="en-IN" smtClean="0"/>
              <a:t>27-04-2024</a:t>
            </a:fld>
            <a:endParaRPr lang="en-IN"/>
          </a:p>
        </p:txBody>
      </p:sp>
      <p:sp>
        <p:nvSpPr>
          <p:cNvPr id="6" name="Footer Placeholder 5">
            <a:extLst>
              <a:ext uri="{FF2B5EF4-FFF2-40B4-BE49-F238E27FC236}">
                <a16:creationId xmlns:a16="http://schemas.microsoft.com/office/drawing/2014/main" id="{144749A6-E28E-A4D7-A7DB-04EE12B73C0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45B29AF-066D-5EBE-12AF-DBBA6E7EBF5C}"/>
              </a:ext>
            </a:extLst>
          </p:cNvPr>
          <p:cNvSpPr>
            <a:spLocks noGrp="1"/>
          </p:cNvSpPr>
          <p:nvPr>
            <p:ph type="sldNum" sz="quarter" idx="12"/>
          </p:nvPr>
        </p:nvSpPr>
        <p:spPr/>
        <p:txBody>
          <a:bodyPr/>
          <a:lstStyle/>
          <a:p>
            <a:fld id="{CA98CD80-5438-4D89-B0E3-67EC0E099088}" type="slidenum">
              <a:rPr lang="en-IN" smtClean="0"/>
              <a:t>‹#›</a:t>
            </a:fld>
            <a:endParaRPr lang="en-IN"/>
          </a:p>
        </p:txBody>
      </p:sp>
    </p:spTree>
    <p:extLst>
      <p:ext uri="{BB962C8B-B14F-4D97-AF65-F5344CB8AC3E}">
        <p14:creationId xmlns:p14="http://schemas.microsoft.com/office/powerpoint/2010/main" val="2102324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4CF180-373D-A466-C965-2A371001DADE}"/>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BCB30AA-2D57-2E15-6EA1-145DBF7B6B2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63C7B13-FE4E-BCB1-5DDF-8C3F9193533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5847C3BD-0509-313D-B3FE-1C495621083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18FACDC-E06E-1B17-B332-ACE37909B49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AC7D328B-1881-1118-C98C-8B4A02E17A16}"/>
              </a:ext>
            </a:extLst>
          </p:cNvPr>
          <p:cNvSpPr>
            <a:spLocks noGrp="1"/>
          </p:cNvSpPr>
          <p:nvPr>
            <p:ph type="dt" sz="half" idx="10"/>
          </p:nvPr>
        </p:nvSpPr>
        <p:spPr/>
        <p:txBody>
          <a:bodyPr/>
          <a:lstStyle/>
          <a:p>
            <a:fld id="{245F0EAC-318F-40E5-838A-5DE65186082A}" type="datetimeFigureOut">
              <a:rPr lang="en-IN" smtClean="0"/>
              <a:t>27-04-2024</a:t>
            </a:fld>
            <a:endParaRPr lang="en-IN"/>
          </a:p>
        </p:txBody>
      </p:sp>
      <p:sp>
        <p:nvSpPr>
          <p:cNvPr id="8" name="Footer Placeholder 7">
            <a:extLst>
              <a:ext uri="{FF2B5EF4-FFF2-40B4-BE49-F238E27FC236}">
                <a16:creationId xmlns:a16="http://schemas.microsoft.com/office/drawing/2014/main" id="{BABFDD85-AE68-0806-B05F-B59D1F53B27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56CD9DF2-A6E7-94E1-AC47-E315B10F64D3}"/>
              </a:ext>
            </a:extLst>
          </p:cNvPr>
          <p:cNvSpPr>
            <a:spLocks noGrp="1"/>
          </p:cNvSpPr>
          <p:nvPr>
            <p:ph type="sldNum" sz="quarter" idx="12"/>
          </p:nvPr>
        </p:nvSpPr>
        <p:spPr/>
        <p:txBody>
          <a:bodyPr/>
          <a:lstStyle/>
          <a:p>
            <a:fld id="{CA98CD80-5438-4D89-B0E3-67EC0E099088}" type="slidenum">
              <a:rPr lang="en-IN" smtClean="0"/>
              <a:t>‹#›</a:t>
            </a:fld>
            <a:endParaRPr lang="en-IN"/>
          </a:p>
        </p:txBody>
      </p:sp>
    </p:spTree>
    <p:extLst>
      <p:ext uri="{BB962C8B-B14F-4D97-AF65-F5344CB8AC3E}">
        <p14:creationId xmlns:p14="http://schemas.microsoft.com/office/powerpoint/2010/main" val="16760718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28F492-1037-F4F0-B483-3448956C8D5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A1405D18-F262-0FA4-5503-C42C47D81424}"/>
              </a:ext>
            </a:extLst>
          </p:cNvPr>
          <p:cNvSpPr>
            <a:spLocks noGrp="1"/>
          </p:cNvSpPr>
          <p:nvPr>
            <p:ph type="dt" sz="half" idx="10"/>
          </p:nvPr>
        </p:nvSpPr>
        <p:spPr/>
        <p:txBody>
          <a:bodyPr/>
          <a:lstStyle/>
          <a:p>
            <a:fld id="{245F0EAC-318F-40E5-838A-5DE65186082A}" type="datetimeFigureOut">
              <a:rPr lang="en-IN" smtClean="0"/>
              <a:t>27-04-2024</a:t>
            </a:fld>
            <a:endParaRPr lang="en-IN"/>
          </a:p>
        </p:txBody>
      </p:sp>
      <p:sp>
        <p:nvSpPr>
          <p:cNvPr id="4" name="Footer Placeholder 3">
            <a:extLst>
              <a:ext uri="{FF2B5EF4-FFF2-40B4-BE49-F238E27FC236}">
                <a16:creationId xmlns:a16="http://schemas.microsoft.com/office/drawing/2014/main" id="{EAA87CF0-35E2-EB19-DA54-2829878A252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C2686FAC-8BE3-C6A6-1B83-BF2851A53B3D}"/>
              </a:ext>
            </a:extLst>
          </p:cNvPr>
          <p:cNvSpPr>
            <a:spLocks noGrp="1"/>
          </p:cNvSpPr>
          <p:nvPr>
            <p:ph type="sldNum" sz="quarter" idx="12"/>
          </p:nvPr>
        </p:nvSpPr>
        <p:spPr/>
        <p:txBody>
          <a:bodyPr/>
          <a:lstStyle/>
          <a:p>
            <a:fld id="{CA98CD80-5438-4D89-B0E3-67EC0E099088}" type="slidenum">
              <a:rPr lang="en-IN" smtClean="0"/>
              <a:t>‹#›</a:t>
            </a:fld>
            <a:endParaRPr lang="en-IN"/>
          </a:p>
        </p:txBody>
      </p:sp>
    </p:spTree>
    <p:extLst>
      <p:ext uri="{BB962C8B-B14F-4D97-AF65-F5344CB8AC3E}">
        <p14:creationId xmlns:p14="http://schemas.microsoft.com/office/powerpoint/2010/main" val="17685972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F6B1AC7-71C1-ABCA-3283-BAEB3E8D34B7}"/>
              </a:ext>
            </a:extLst>
          </p:cNvPr>
          <p:cNvSpPr>
            <a:spLocks noGrp="1"/>
          </p:cNvSpPr>
          <p:nvPr>
            <p:ph type="dt" sz="half" idx="10"/>
          </p:nvPr>
        </p:nvSpPr>
        <p:spPr/>
        <p:txBody>
          <a:bodyPr/>
          <a:lstStyle/>
          <a:p>
            <a:fld id="{245F0EAC-318F-40E5-838A-5DE65186082A}" type="datetimeFigureOut">
              <a:rPr lang="en-IN" smtClean="0"/>
              <a:t>27-04-2024</a:t>
            </a:fld>
            <a:endParaRPr lang="en-IN"/>
          </a:p>
        </p:txBody>
      </p:sp>
      <p:sp>
        <p:nvSpPr>
          <p:cNvPr id="3" name="Footer Placeholder 2">
            <a:extLst>
              <a:ext uri="{FF2B5EF4-FFF2-40B4-BE49-F238E27FC236}">
                <a16:creationId xmlns:a16="http://schemas.microsoft.com/office/drawing/2014/main" id="{C909B97C-9896-5DAF-7564-C59F53213C8D}"/>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E61EFEF-04A4-C049-3D77-EF342FE377FB}"/>
              </a:ext>
            </a:extLst>
          </p:cNvPr>
          <p:cNvSpPr>
            <a:spLocks noGrp="1"/>
          </p:cNvSpPr>
          <p:nvPr>
            <p:ph type="sldNum" sz="quarter" idx="12"/>
          </p:nvPr>
        </p:nvSpPr>
        <p:spPr/>
        <p:txBody>
          <a:bodyPr/>
          <a:lstStyle/>
          <a:p>
            <a:fld id="{CA98CD80-5438-4D89-B0E3-67EC0E099088}" type="slidenum">
              <a:rPr lang="en-IN" smtClean="0"/>
              <a:t>‹#›</a:t>
            </a:fld>
            <a:endParaRPr lang="en-IN"/>
          </a:p>
        </p:txBody>
      </p:sp>
    </p:spTree>
    <p:extLst>
      <p:ext uri="{BB962C8B-B14F-4D97-AF65-F5344CB8AC3E}">
        <p14:creationId xmlns:p14="http://schemas.microsoft.com/office/powerpoint/2010/main" val="1412079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BC305E-0945-F4D5-1B67-346E6420D81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66C38CF-DCA2-A75C-D2CC-848455F7BE8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064AA46-5F79-87F4-51A3-855F5DB237B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D7888DB-EE1C-8324-BD8E-996CA5E3EA0C}"/>
              </a:ext>
            </a:extLst>
          </p:cNvPr>
          <p:cNvSpPr>
            <a:spLocks noGrp="1"/>
          </p:cNvSpPr>
          <p:nvPr>
            <p:ph type="dt" sz="half" idx="10"/>
          </p:nvPr>
        </p:nvSpPr>
        <p:spPr/>
        <p:txBody>
          <a:bodyPr/>
          <a:lstStyle/>
          <a:p>
            <a:fld id="{245F0EAC-318F-40E5-838A-5DE65186082A}" type="datetimeFigureOut">
              <a:rPr lang="en-IN" smtClean="0"/>
              <a:t>27-04-2024</a:t>
            </a:fld>
            <a:endParaRPr lang="en-IN"/>
          </a:p>
        </p:txBody>
      </p:sp>
      <p:sp>
        <p:nvSpPr>
          <p:cNvPr id="6" name="Footer Placeholder 5">
            <a:extLst>
              <a:ext uri="{FF2B5EF4-FFF2-40B4-BE49-F238E27FC236}">
                <a16:creationId xmlns:a16="http://schemas.microsoft.com/office/drawing/2014/main" id="{BC19833A-A3E2-E8E6-8586-4EA5EE13A4C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B031E21-7CBC-DEB9-EFD3-8B385244B582}"/>
              </a:ext>
            </a:extLst>
          </p:cNvPr>
          <p:cNvSpPr>
            <a:spLocks noGrp="1"/>
          </p:cNvSpPr>
          <p:nvPr>
            <p:ph type="sldNum" sz="quarter" idx="12"/>
          </p:nvPr>
        </p:nvSpPr>
        <p:spPr/>
        <p:txBody>
          <a:bodyPr/>
          <a:lstStyle/>
          <a:p>
            <a:fld id="{CA98CD80-5438-4D89-B0E3-67EC0E099088}" type="slidenum">
              <a:rPr lang="en-IN" smtClean="0"/>
              <a:t>‹#›</a:t>
            </a:fld>
            <a:endParaRPr lang="en-IN"/>
          </a:p>
        </p:txBody>
      </p:sp>
    </p:spTree>
    <p:extLst>
      <p:ext uri="{BB962C8B-B14F-4D97-AF65-F5344CB8AC3E}">
        <p14:creationId xmlns:p14="http://schemas.microsoft.com/office/powerpoint/2010/main" val="11104431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6B4DF0-7ED4-101F-C741-1B20A77D154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539E0D8-4EC6-52A3-173D-2410F54908C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52DB431-72A3-05BD-7786-AA774E3753C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0062AB7-B53F-7645-C9A3-0CDECE36A7AA}"/>
              </a:ext>
            </a:extLst>
          </p:cNvPr>
          <p:cNvSpPr>
            <a:spLocks noGrp="1"/>
          </p:cNvSpPr>
          <p:nvPr>
            <p:ph type="dt" sz="half" idx="10"/>
          </p:nvPr>
        </p:nvSpPr>
        <p:spPr/>
        <p:txBody>
          <a:bodyPr/>
          <a:lstStyle/>
          <a:p>
            <a:fld id="{245F0EAC-318F-40E5-838A-5DE65186082A}" type="datetimeFigureOut">
              <a:rPr lang="en-IN" smtClean="0"/>
              <a:t>27-04-2024</a:t>
            </a:fld>
            <a:endParaRPr lang="en-IN"/>
          </a:p>
        </p:txBody>
      </p:sp>
      <p:sp>
        <p:nvSpPr>
          <p:cNvPr id="6" name="Footer Placeholder 5">
            <a:extLst>
              <a:ext uri="{FF2B5EF4-FFF2-40B4-BE49-F238E27FC236}">
                <a16:creationId xmlns:a16="http://schemas.microsoft.com/office/drawing/2014/main" id="{A8B7A183-B586-8D6A-7B5E-15E108F55EA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9E04090-CB42-9775-F644-74BBA1246CDD}"/>
              </a:ext>
            </a:extLst>
          </p:cNvPr>
          <p:cNvSpPr>
            <a:spLocks noGrp="1"/>
          </p:cNvSpPr>
          <p:nvPr>
            <p:ph type="sldNum" sz="quarter" idx="12"/>
          </p:nvPr>
        </p:nvSpPr>
        <p:spPr/>
        <p:txBody>
          <a:bodyPr/>
          <a:lstStyle/>
          <a:p>
            <a:fld id="{CA98CD80-5438-4D89-B0E3-67EC0E099088}" type="slidenum">
              <a:rPr lang="en-IN" smtClean="0"/>
              <a:t>‹#›</a:t>
            </a:fld>
            <a:endParaRPr lang="en-IN"/>
          </a:p>
        </p:txBody>
      </p:sp>
    </p:spTree>
    <p:extLst>
      <p:ext uri="{BB962C8B-B14F-4D97-AF65-F5344CB8AC3E}">
        <p14:creationId xmlns:p14="http://schemas.microsoft.com/office/powerpoint/2010/main" val="29925841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751CC3-5960-0398-968D-6856A59B829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E578193-3DCD-0B5A-5C06-44D29BD4BA8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D739F56-7084-6025-0027-F2711433C2DD}"/>
              </a:ext>
            </a:extLst>
          </p:cNvPr>
          <p:cNvSpPr>
            <a:spLocks noGrp="1"/>
          </p:cNvSpPr>
          <p:nvPr>
            <p:ph type="dt" sz="half" idx="10"/>
          </p:nvPr>
        </p:nvSpPr>
        <p:spPr/>
        <p:txBody>
          <a:bodyPr/>
          <a:lstStyle/>
          <a:p>
            <a:fld id="{245F0EAC-318F-40E5-838A-5DE65186082A}" type="datetimeFigureOut">
              <a:rPr lang="en-IN" smtClean="0"/>
              <a:t>27-04-2024</a:t>
            </a:fld>
            <a:endParaRPr lang="en-IN"/>
          </a:p>
        </p:txBody>
      </p:sp>
      <p:sp>
        <p:nvSpPr>
          <p:cNvPr id="5" name="Footer Placeholder 4">
            <a:extLst>
              <a:ext uri="{FF2B5EF4-FFF2-40B4-BE49-F238E27FC236}">
                <a16:creationId xmlns:a16="http://schemas.microsoft.com/office/drawing/2014/main" id="{5880B541-D20E-BC80-FE9E-BC13100AFCD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250DBD1-C7D3-A730-1CAD-572345426DAA}"/>
              </a:ext>
            </a:extLst>
          </p:cNvPr>
          <p:cNvSpPr>
            <a:spLocks noGrp="1"/>
          </p:cNvSpPr>
          <p:nvPr>
            <p:ph type="sldNum" sz="quarter" idx="12"/>
          </p:nvPr>
        </p:nvSpPr>
        <p:spPr/>
        <p:txBody>
          <a:bodyPr/>
          <a:lstStyle/>
          <a:p>
            <a:fld id="{CA98CD80-5438-4D89-B0E3-67EC0E099088}" type="slidenum">
              <a:rPr lang="en-IN" smtClean="0"/>
              <a:t>‹#›</a:t>
            </a:fld>
            <a:endParaRPr lang="en-IN"/>
          </a:p>
        </p:txBody>
      </p:sp>
    </p:spTree>
    <p:extLst>
      <p:ext uri="{BB962C8B-B14F-4D97-AF65-F5344CB8AC3E}">
        <p14:creationId xmlns:p14="http://schemas.microsoft.com/office/powerpoint/2010/main" val="42101005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06F4185-CDEA-6A9A-97C8-5571F4A0690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DA9C551-A0FA-1542-4865-12B8709579F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4190D4C-8772-441C-EE94-B536B762D917}"/>
              </a:ext>
            </a:extLst>
          </p:cNvPr>
          <p:cNvSpPr>
            <a:spLocks noGrp="1"/>
          </p:cNvSpPr>
          <p:nvPr>
            <p:ph type="dt" sz="half" idx="10"/>
          </p:nvPr>
        </p:nvSpPr>
        <p:spPr/>
        <p:txBody>
          <a:bodyPr/>
          <a:lstStyle/>
          <a:p>
            <a:fld id="{245F0EAC-318F-40E5-838A-5DE65186082A}" type="datetimeFigureOut">
              <a:rPr lang="en-IN" smtClean="0"/>
              <a:t>27-04-2024</a:t>
            </a:fld>
            <a:endParaRPr lang="en-IN"/>
          </a:p>
        </p:txBody>
      </p:sp>
      <p:sp>
        <p:nvSpPr>
          <p:cNvPr id="5" name="Footer Placeholder 4">
            <a:extLst>
              <a:ext uri="{FF2B5EF4-FFF2-40B4-BE49-F238E27FC236}">
                <a16:creationId xmlns:a16="http://schemas.microsoft.com/office/drawing/2014/main" id="{5BD5FC30-7569-6ECF-2930-003F73AE7CA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927DD49-1AB1-10FE-4DE2-82812AE9F285}"/>
              </a:ext>
            </a:extLst>
          </p:cNvPr>
          <p:cNvSpPr>
            <a:spLocks noGrp="1"/>
          </p:cNvSpPr>
          <p:nvPr>
            <p:ph type="sldNum" sz="quarter" idx="12"/>
          </p:nvPr>
        </p:nvSpPr>
        <p:spPr/>
        <p:txBody>
          <a:bodyPr/>
          <a:lstStyle/>
          <a:p>
            <a:fld id="{CA98CD80-5438-4D89-B0E3-67EC0E099088}" type="slidenum">
              <a:rPr lang="en-IN" smtClean="0"/>
              <a:t>‹#›</a:t>
            </a:fld>
            <a:endParaRPr lang="en-IN"/>
          </a:p>
        </p:txBody>
      </p:sp>
    </p:spTree>
    <p:extLst>
      <p:ext uri="{BB962C8B-B14F-4D97-AF65-F5344CB8AC3E}">
        <p14:creationId xmlns:p14="http://schemas.microsoft.com/office/powerpoint/2010/main" val="61236203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BE38357-564B-B521-66A2-250517FEB260}"/>
              </a:ext>
            </a:extLst>
          </p:cNvPr>
          <p:cNvPicPr>
            <a:picLocks/>
          </p:cNvPicPr>
          <p:nvPr userDrawn="1"/>
        </p:nvPicPr>
        <p:blipFill>
          <a:blip r:embed="rId13">
            <a:alphaModFix amt="5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Placeholder 1">
            <a:extLst>
              <a:ext uri="{FF2B5EF4-FFF2-40B4-BE49-F238E27FC236}">
                <a16:creationId xmlns:a16="http://schemas.microsoft.com/office/drawing/2014/main" id="{5D8FE9BB-C25A-09D5-15C5-72A53640E64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4217DCC-8A06-142D-0E4C-8FF6F3B19C3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658403E-AED9-8D8C-B768-9C5E0327AB2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45F0EAC-318F-40E5-838A-5DE65186082A}" type="datetimeFigureOut">
              <a:rPr lang="en-IN" smtClean="0"/>
              <a:t>27-04-2024</a:t>
            </a:fld>
            <a:endParaRPr lang="en-IN"/>
          </a:p>
        </p:txBody>
      </p:sp>
      <p:sp>
        <p:nvSpPr>
          <p:cNvPr id="5" name="Footer Placeholder 4">
            <a:extLst>
              <a:ext uri="{FF2B5EF4-FFF2-40B4-BE49-F238E27FC236}">
                <a16:creationId xmlns:a16="http://schemas.microsoft.com/office/drawing/2014/main" id="{775788B3-65E8-B40F-4C8C-807B5981E87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C80A6B65-51E7-61F0-5F24-71DC685EC22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A98CD80-5438-4D89-B0E3-67EC0E099088}" type="slidenum">
              <a:rPr lang="en-IN" smtClean="0"/>
              <a:t>‹#›</a:t>
            </a:fld>
            <a:endParaRPr lang="en-IN"/>
          </a:p>
        </p:txBody>
      </p:sp>
    </p:spTree>
    <p:extLst>
      <p:ext uri="{BB962C8B-B14F-4D97-AF65-F5344CB8AC3E}">
        <p14:creationId xmlns:p14="http://schemas.microsoft.com/office/powerpoint/2010/main" val="157424271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hyperlink" Target="https://github.com/barun-saha/slide-deck-ai/tree/main/icons/png128" TargetMode="External"/><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AI Ethics: Navigating the Moral Landscape of Artificial Intelligence</a:t>
            </a:r>
          </a:p>
        </p:txBody>
      </p:sp>
      <p:sp>
        <p:nvSpPr>
          <p:cNvPr id="3" name="Subtitle 2"/>
          <p:cNvSpPr>
            <a:spLocks noGrp="1"/>
          </p:cNvSpPr>
          <p:nvPr>
            <p:ph type="subTitle" idx="1"/>
          </p:nvPr>
        </p:nvSpPr>
        <p:spPr/>
        <p:txBody>
          <a:bodyPr/>
          <a:lstStyle/>
          <a:p>
            <a:r>
              <a:t>by Myself and SlideDeck AI :)</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Welcome to AI Ethics: Navigating the Moral Landscape of Artificial Intelligence</a:t>
            </a:r>
          </a:p>
        </p:txBody>
      </p:sp>
      <p:sp>
        <p:nvSpPr>
          <p:cNvPr id="3" name="Content Placeholder 2"/>
          <p:cNvSpPr>
            <a:spLocks noGrp="1"/>
          </p:cNvSpPr>
          <p:nvPr>
            <p:ph idx="1"/>
          </p:nvPr>
        </p:nvSpPr>
        <p:spPr/>
        <p:txBody>
          <a:bodyPr/>
          <a:lstStyle/>
          <a:p>
            <a:r>
              <a:t>Welcome to a critical discussion on </a:t>
            </a:r>
            <a:r>
              <a:rPr i="1"/>
              <a:t>AI Ethics</a:t>
            </a:r>
            <a:r>
              <a:t>, a rapidly evolving field at the intersection of technology and morality.</a:t>
            </a:r>
          </a:p>
          <a:p>
            <a:pPr/>
            <a:r>
              <a:t>Explore the fundamental principles, challenges, and solutions for developing and deploying artificial intelligence responsibly.</a:t>
            </a:r>
          </a:p>
          <a:p>
            <a:pPr/>
            <a:r>
              <a:t>Understand why ethical considerations are paramount for building trust, preventing harm, and ensuring AI benefits all of humanity.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Defining AI Ethics: Beyond Code and Algorithms</a:t>
            </a:r>
          </a:p>
        </p:txBody>
      </p:sp>
      <p:sp>
        <p:nvSpPr>
          <p:cNvPr id="3" name="Content Placeholder 2"/>
          <p:cNvSpPr>
            <a:spLocks noGrp="1"/>
          </p:cNvSpPr>
          <p:nvPr>
            <p:ph idx="1"/>
          </p:nvPr>
        </p:nvSpPr>
        <p:spPr/>
        <p:txBody>
          <a:bodyPr/>
          <a:lstStyle/>
          <a:p>
            <a:r>
              <a:rPr i="1"/>
              <a:t>What is AI Ethics?</a:t>
            </a:r>
            <a:r>
              <a:t> It's a multidisciplinary field dedicated to understanding and addressing the moral implications of artificial intelligence systems.</a:t>
            </a:r>
          </a:p>
          <a:p>
            <a:pPr/>
            <a:r>
              <a:t>It encompasses the principles, values, and practices that guide the design, development, deployment, and governance of AI to ensure it aligns with human values and societal well-being.</a:t>
            </a:r>
          </a:p>
          <a:p>
            <a:pPr/>
            <a:r>
              <a:t>The scope extends beyond technical functionality to consider societal impact, fairness, accountability, transparency, privacy, and human control.</a:t>
            </a:r>
          </a:p>
          <a:p>
            <a:pPr/>
            <a:r>
              <a:t>Why it matters: Ethical AI ensures that technological advancements serve humanity, prevent unintended harm, and foster public trust in intelligent systems.</a:t>
            </a:r>
          </a:p>
          <a:p>
            <a:pPr/>
            <a:r>
              <a:rPr b="1"/>
              <a:t>Example:</a:t>
            </a:r>
            <a:r>
              <a:t> Consider an AI system used for loan applications. Ethical considerations ensure it does not discriminate against individuals based on protected characteristics (e.g., race, gender), even if such bias is inadvertently learned from historical data.</a:t>
            </a:r>
          </a:p>
        </p:txBody>
      </p:sp>
      <p:sp>
        <p:nvSpPr>
          <p:cNvPr id="4" name="Rounded Rectangle 3"/>
          <p:cNvSpPr/>
          <p:nvPr/>
        </p:nvSpPr>
        <p:spPr>
          <a:xfrm>
            <a:off x="3445565" y="5303520"/>
            <a:ext cx="5300869" cy="146304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AI Ethics is crucial for ensuring AI systems are developed and used responsibly, aligning with human values and societal well-being, and preventing unintended harm.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Foundational Pillars: Guiding Principles for Ethical AI</a:t>
            </a:r>
          </a:p>
        </p:txBody>
      </p:sp>
      <p:sp>
        <p:nvSpPr>
          <p:cNvPr id="3" name="Rounded Rectangle 2"/>
          <p:cNvSpPr/>
          <p:nvPr/>
        </p:nvSpPr>
        <p:spPr>
          <a:xfrm>
            <a:off x="1023257" y="2651760"/>
            <a:ext cx="914400" cy="914400"/>
          </a:xfrm>
          <a:prstGeom prst="roundRect">
            <a:avLst/>
          </a:prstGeom>
          <a:solidFill>
            <a:srgbClr val="4682B4"/>
          </a:solidFill>
          <a:ln>
            <a:solidFill>
              <a:srgbClr val="4682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airness.png"/>
          <p:cNvPicPr>
            <a:picLocks noChangeAspect="1"/>
          </p:cNvPicPr>
          <p:nvPr/>
        </p:nvPicPr>
        <p:blipFill>
          <a:blip r:embed="rId2"/>
          <a:stretch>
            <a:fillRect/>
          </a:stretch>
        </p:blipFill>
        <p:spPr>
          <a:xfrm>
            <a:off x="1114697" y="2743200"/>
            <a:ext cx="731520" cy="731520"/>
          </a:xfrm>
          <a:prstGeom prst="rect">
            <a:avLst/>
          </a:prstGeom>
        </p:spPr>
      </p:pic>
      <p:sp>
        <p:nvSpPr>
          <p:cNvPr id="5" name="Rounded Rectangle 4"/>
          <p:cNvSpPr/>
          <p:nvPr/>
        </p:nvSpPr>
        <p:spPr>
          <a:xfrm>
            <a:off x="566057" y="3657600"/>
            <a:ext cx="1828800" cy="1828800"/>
          </a:xfrm>
          <a:prstGeom prst="round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i="1">
                <a:solidFill>
                  <a:schemeClr val="tx2"/>
                </a:solidFill>
              </a:rPr>
              <a:t>Fairness &amp; Non-Discrimination:</a:t>
            </a:r>
            <a:r>
              <a:rPr>
                <a:solidFill>
                  <a:schemeClr val="tx2"/>
                </a:solidFill>
              </a:rPr>
              <a:t> AI systems must treat all individuals and groups equitably, avoiding biased outcomes and ensuring equal opportunities.</a:t>
            </a:r>
          </a:p>
        </p:txBody>
      </p:sp>
      <p:sp>
        <p:nvSpPr>
          <p:cNvPr id="6" name="TextBox 5"/>
          <p:cNvSpPr txBox="1"/>
          <p:nvPr/>
        </p:nvSpPr>
        <p:spPr>
          <a:xfrm>
            <a:off x="914400" y="6400800"/>
            <a:ext cx="12191999" cy="457200"/>
          </a:xfrm>
          <a:prstGeom prst="rect">
            <a:avLst/>
          </a:prstGeom>
          <a:noFill/>
        </p:spPr>
        <p:txBody>
          <a:bodyPr wrap="none">
            <a:spAutoFit/>
          </a:bodyPr>
          <a:lstStyle/>
          <a:p>
            <a:r>
              <a:rPr sz="1000" u="none">
                <a:hlinkClick r:id="rId3"/>
              </a:rPr>
              <a:t>More icons available in the SlideDeck AI repository</a:t>
            </a:r>
          </a:p>
        </p:txBody>
      </p:sp>
      <p:sp>
        <p:nvSpPr>
          <p:cNvPr id="7" name="Rounded Rectangle 6"/>
          <p:cNvSpPr/>
          <p:nvPr/>
        </p:nvSpPr>
        <p:spPr>
          <a:xfrm>
            <a:off x="2869474" y="2651760"/>
            <a:ext cx="914400" cy="914400"/>
          </a:xfrm>
          <a:prstGeom prst="roundRect">
            <a:avLst/>
          </a:prstGeom>
          <a:solidFill>
            <a:srgbClr val="800000"/>
          </a:solidFill>
          <a:ln>
            <a:solidFill>
              <a:srgbClr val="8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airness.png"/>
          <p:cNvPicPr>
            <a:picLocks noChangeAspect="1"/>
          </p:cNvPicPr>
          <p:nvPr/>
        </p:nvPicPr>
        <p:blipFill>
          <a:blip r:embed="rId2"/>
          <a:stretch>
            <a:fillRect/>
          </a:stretch>
        </p:blipFill>
        <p:spPr>
          <a:xfrm>
            <a:off x="2960914" y="2743200"/>
            <a:ext cx="731520" cy="731520"/>
          </a:xfrm>
          <a:prstGeom prst="rect">
            <a:avLst/>
          </a:prstGeom>
        </p:spPr>
      </p:pic>
      <p:sp>
        <p:nvSpPr>
          <p:cNvPr id="9" name="Rounded Rectangle 8"/>
          <p:cNvSpPr/>
          <p:nvPr/>
        </p:nvSpPr>
        <p:spPr>
          <a:xfrm>
            <a:off x="2412274" y="3657600"/>
            <a:ext cx="1828800" cy="1828800"/>
          </a:xfrm>
          <a:prstGeom prst="round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i="1">
                <a:solidFill>
                  <a:schemeClr val="tx2"/>
                </a:solidFill>
              </a:rPr>
              <a:t>Transparency &amp; Explainability:</a:t>
            </a:r>
            <a:r>
              <a:rPr>
                <a:solidFill>
                  <a:schemeClr val="tx2"/>
                </a:solidFill>
              </a:rPr>
              <a:t> The decision-making processes of AI should be understandable and interpretable, allowing for scrutiny and building trust.</a:t>
            </a:r>
          </a:p>
        </p:txBody>
      </p:sp>
      <p:sp>
        <p:nvSpPr>
          <p:cNvPr id="10" name="TextBox 9"/>
          <p:cNvSpPr txBox="1"/>
          <p:nvPr/>
        </p:nvSpPr>
        <p:spPr>
          <a:xfrm>
            <a:off x="914400" y="6400800"/>
            <a:ext cx="12191999" cy="457200"/>
          </a:xfrm>
          <a:prstGeom prst="rect">
            <a:avLst/>
          </a:prstGeom>
          <a:noFill/>
        </p:spPr>
        <p:txBody>
          <a:bodyPr wrap="none">
            <a:spAutoFit/>
          </a:bodyPr>
          <a:lstStyle/>
          <a:p>
            <a:r>
              <a:rPr sz="1000" u="none">
                <a:hlinkClick r:id="rId3"/>
              </a:rPr>
              <a:t>More icons available in the SlideDeck AI repository</a:t>
            </a:r>
          </a:p>
        </p:txBody>
      </p:sp>
      <p:sp>
        <p:nvSpPr>
          <p:cNvPr id="11" name="Rounded Rectangle 10"/>
          <p:cNvSpPr/>
          <p:nvPr/>
        </p:nvSpPr>
        <p:spPr>
          <a:xfrm>
            <a:off x="4715691" y="2651760"/>
            <a:ext cx="914400" cy="914400"/>
          </a:xfrm>
          <a:prstGeom prst="roundRect">
            <a:avLst/>
          </a:prstGeom>
          <a:solidFill>
            <a:srgbClr val="6A5ACD"/>
          </a:solidFill>
          <a:ln>
            <a:solidFill>
              <a:srgbClr val="6A5AC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fairness.png"/>
          <p:cNvPicPr>
            <a:picLocks noChangeAspect="1"/>
          </p:cNvPicPr>
          <p:nvPr/>
        </p:nvPicPr>
        <p:blipFill>
          <a:blip r:embed="rId2"/>
          <a:stretch>
            <a:fillRect/>
          </a:stretch>
        </p:blipFill>
        <p:spPr>
          <a:xfrm>
            <a:off x="4807131" y="2743200"/>
            <a:ext cx="731520" cy="731520"/>
          </a:xfrm>
          <a:prstGeom prst="rect">
            <a:avLst/>
          </a:prstGeom>
        </p:spPr>
      </p:pic>
      <p:sp>
        <p:nvSpPr>
          <p:cNvPr id="13" name="Rounded Rectangle 12"/>
          <p:cNvSpPr/>
          <p:nvPr/>
        </p:nvSpPr>
        <p:spPr>
          <a:xfrm>
            <a:off x="4258491" y="3657600"/>
            <a:ext cx="1828800" cy="1828800"/>
          </a:xfrm>
          <a:prstGeom prst="round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i="1">
                <a:solidFill>
                  <a:schemeClr val="tx2"/>
                </a:solidFill>
              </a:rPr>
              <a:t>Accountability &amp; Responsibility:</a:t>
            </a:r>
            <a:r>
              <a:rPr>
                <a:solidFill>
                  <a:schemeClr val="tx2"/>
                </a:solidFill>
              </a:rPr>
              <a:t> Clear lines of responsibility must be established for AI's actions and impacts, with mechanisms for redress when harm occurs.</a:t>
            </a:r>
          </a:p>
        </p:txBody>
      </p:sp>
      <p:sp>
        <p:nvSpPr>
          <p:cNvPr id="14" name="TextBox 13"/>
          <p:cNvSpPr txBox="1"/>
          <p:nvPr/>
        </p:nvSpPr>
        <p:spPr>
          <a:xfrm>
            <a:off x="914400" y="6400800"/>
            <a:ext cx="12191999" cy="457200"/>
          </a:xfrm>
          <a:prstGeom prst="rect">
            <a:avLst/>
          </a:prstGeom>
          <a:noFill/>
        </p:spPr>
        <p:txBody>
          <a:bodyPr wrap="none">
            <a:spAutoFit/>
          </a:bodyPr>
          <a:lstStyle/>
          <a:p>
            <a:r>
              <a:rPr sz="1000" u="none">
                <a:hlinkClick r:id="rId3"/>
              </a:rPr>
              <a:t>More icons available in the SlideDeck AI repository</a:t>
            </a:r>
          </a:p>
        </p:txBody>
      </p:sp>
      <p:sp>
        <p:nvSpPr>
          <p:cNvPr id="15" name="Rounded Rectangle 14"/>
          <p:cNvSpPr/>
          <p:nvPr/>
        </p:nvSpPr>
        <p:spPr>
          <a:xfrm>
            <a:off x="6561908" y="2651760"/>
            <a:ext cx="914400" cy="914400"/>
          </a:xfrm>
          <a:prstGeom prst="roundRect">
            <a:avLst/>
          </a:prstGeom>
          <a:solidFill>
            <a:srgbClr val="2F4F4F"/>
          </a:solidFill>
          <a:ln>
            <a:solidFill>
              <a:srgbClr val="2F4F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folder.png"/>
          <p:cNvPicPr>
            <a:picLocks noChangeAspect="1"/>
          </p:cNvPicPr>
          <p:nvPr/>
        </p:nvPicPr>
        <p:blipFill>
          <a:blip r:embed="rId4"/>
          <a:stretch>
            <a:fillRect/>
          </a:stretch>
        </p:blipFill>
        <p:spPr>
          <a:xfrm>
            <a:off x="6653348" y="2743200"/>
            <a:ext cx="731520" cy="731520"/>
          </a:xfrm>
          <a:prstGeom prst="rect">
            <a:avLst/>
          </a:prstGeom>
        </p:spPr>
      </p:pic>
      <p:sp>
        <p:nvSpPr>
          <p:cNvPr id="17" name="Rounded Rectangle 16"/>
          <p:cNvSpPr/>
          <p:nvPr/>
        </p:nvSpPr>
        <p:spPr>
          <a:xfrm>
            <a:off x="6104708" y="3657600"/>
            <a:ext cx="1828800" cy="1828800"/>
          </a:xfrm>
          <a:prstGeom prst="round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i="1">
                <a:solidFill>
                  <a:schemeClr val="tx2"/>
                </a:solidFill>
              </a:rPr>
              <a:t>Privacy &amp; Data Protection:</a:t>
            </a:r>
            <a:r>
              <a:rPr>
                <a:solidFill>
                  <a:schemeClr val="tx2"/>
                </a:solidFill>
              </a:rPr>
              <a:t> Safeguarding personal data used by AI, respecting individual autonomy, and ensuring robust data security measures.</a:t>
            </a:r>
          </a:p>
        </p:txBody>
      </p:sp>
      <p:sp>
        <p:nvSpPr>
          <p:cNvPr id="18" name="TextBox 17"/>
          <p:cNvSpPr txBox="1"/>
          <p:nvPr/>
        </p:nvSpPr>
        <p:spPr>
          <a:xfrm>
            <a:off x="914400" y="6400800"/>
            <a:ext cx="12191999" cy="457200"/>
          </a:xfrm>
          <a:prstGeom prst="rect">
            <a:avLst/>
          </a:prstGeom>
          <a:noFill/>
        </p:spPr>
        <p:txBody>
          <a:bodyPr wrap="none">
            <a:spAutoFit/>
          </a:bodyPr>
          <a:lstStyle/>
          <a:p>
            <a:r>
              <a:rPr sz="1000" u="none">
                <a:hlinkClick r:id="rId3"/>
              </a:rPr>
              <a:t>More icons available in the SlideDeck AI repository</a:t>
            </a:r>
          </a:p>
        </p:txBody>
      </p:sp>
      <p:sp>
        <p:nvSpPr>
          <p:cNvPr id="19" name="Rounded Rectangle 18"/>
          <p:cNvSpPr/>
          <p:nvPr/>
        </p:nvSpPr>
        <p:spPr>
          <a:xfrm>
            <a:off x="8408125" y="2651760"/>
            <a:ext cx="914400" cy="914400"/>
          </a:xfrm>
          <a:prstGeom prst="roundRect">
            <a:avLst/>
          </a:prstGeom>
          <a:solidFill>
            <a:srgbClr val="4682B4"/>
          </a:solidFill>
          <a:ln>
            <a:solidFill>
              <a:srgbClr val="4682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lock.png"/>
          <p:cNvPicPr>
            <a:picLocks noChangeAspect="1"/>
          </p:cNvPicPr>
          <p:nvPr/>
        </p:nvPicPr>
        <p:blipFill>
          <a:blip r:embed="rId5"/>
          <a:stretch>
            <a:fillRect/>
          </a:stretch>
        </p:blipFill>
        <p:spPr>
          <a:xfrm>
            <a:off x="8499565" y="2743200"/>
            <a:ext cx="731520" cy="731520"/>
          </a:xfrm>
          <a:prstGeom prst="rect">
            <a:avLst/>
          </a:prstGeom>
        </p:spPr>
      </p:pic>
      <p:sp>
        <p:nvSpPr>
          <p:cNvPr id="21" name="Rounded Rectangle 20"/>
          <p:cNvSpPr/>
          <p:nvPr/>
        </p:nvSpPr>
        <p:spPr>
          <a:xfrm>
            <a:off x="7950925" y="3657600"/>
            <a:ext cx="1828800" cy="1828800"/>
          </a:xfrm>
          <a:prstGeom prst="round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i="1">
                <a:solidFill>
                  <a:schemeClr val="tx2"/>
                </a:solidFill>
              </a:rPr>
              <a:t>Safety &amp; Reliability:</a:t>
            </a:r>
            <a:r>
              <a:rPr>
                <a:solidFill>
                  <a:schemeClr val="tx2"/>
                </a:solidFill>
              </a:rPr>
              <a:t> Ensuring AI systems operate securely, predictably, and robustly, minimizing risks of unintended harm or system failures.</a:t>
            </a:r>
          </a:p>
        </p:txBody>
      </p:sp>
      <p:sp>
        <p:nvSpPr>
          <p:cNvPr id="22" name="TextBox 21"/>
          <p:cNvSpPr txBox="1"/>
          <p:nvPr/>
        </p:nvSpPr>
        <p:spPr>
          <a:xfrm>
            <a:off x="914400" y="6400800"/>
            <a:ext cx="12191999" cy="457200"/>
          </a:xfrm>
          <a:prstGeom prst="rect">
            <a:avLst/>
          </a:prstGeom>
          <a:noFill/>
        </p:spPr>
        <p:txBody>
          <a:bodyPr wrap="none">
            <a:spAutoFit/>
          </a:bodyPr>
          <a:lstStyle/>
          <a:p>
            <a:r>
              <a:rPr sz="1000" u="none">
                <a:hlinkClick r:id="rId3"/>
              </a:rPr>
              <a:t>More icons available in the SlideDeck AI repository</a:t>
            </a:r>
          </a:p>
        </p:txBody>
      </p:sp>
      <p:sp>
        <p:nvSpPr>
          <p:cNvPr id="23" name="Rounded Rectangle 22"/>
          <p:cNvSpPr/>
          <p:nvPr/>
        </p:nvSpPr>
        <p:spPr>
          <a:xfrm>
            <a:off x="10254342" y="2651760"/>
            <a:ext cx="914400" cy="914400"/>
          </a:xfrm>
          <a:prstGeom prst="roundRect">
            <a:avLst/>
          </a:prstGeom>
          <a:solidFill>
            <a:srgbClr val="556B2F"/>
          </a:solidFill>
          <a:ln>
            <a:solidFill>
              <a:srgbClr val="556B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artificial-intelligence-brain.png"/>
          <p:cNvPicPr>
            <a:picLocks noChangeAspect="1"/>
          </p:cNvPicPr>
          <p:nvPr/>
        </p:nvPicPr>
        <p:blipFill>
          <a:blip r:embed="rId6"/>
          <a:stretch>
            <a:fillRect/>
          </a:stretch>
        </p:blipFill>
        <p:spPr>
          <a:xfrm>
            <a:off x="10345782" y="2743200"/>
            <a:ext cx="731520" cy="731520"/>
          </a:xfrm>
          <a:prstGeom prst="rect">
            <a:avLst/>
          </a:prstGeom>
        </p:spPr>
      </p:pic>
      <p:sp>
        <p:nvSpPr>
          <p:cNvPr id="25" name="Rounded Rectangle 24"/>
          <p:cNvSpPr/>
          <p:nvPr/>
        </p:nvSpPr>
        <p:spPr>
          <a:xfrm>
            <a:off x="9797142" y="3657600"/>
            <a:ext cx="1828800" cy="1828800"/>
          </a:xfrm>
          <a:prstGeom prst="round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i="1">
                <a:solidFill>
                  <a:schemeClr val="tx2"/>
                </a:solidFill>
              </a:rPr>
              <a:t>Human Oversight &amp; Control:</a:t>
            </a:r>
            <a:r>
              <a:rPr>
                <a:solidFill>
                  <a:schemeClr val="tx2"/>
                </a:solidFill>
              </a:rPr>
              <a:t> Maintaining human agency and the ability to intervene, override, or disengage AI systems, especially in critical applications.</a:t>
            </a:r>
          </a:p>
        </p:txBody>
      </p:sp>
      <p:sp>
        <p:nvSpPr>
          <p:cNvPr id="26" name="TextBox 25"/>
          <p:cNvSpPr txBox="1"/>
          <p:nvPr/>
        </p:nvSpPr>
        <p:spPr>
          <a:xfrm>
            <a:off x="914400" y="6400800"/>
            <a:ext cx="12191999" cy="457200"/>
          </a:xfrm>
          <a:prstGeom prst="rect">
            <a:avLst/>
          </a:prstGeom>
          <a:noFill/>
        </p:spPr>
        <p:txBody>
          <a:bodyPr wrap="none">
            <a:spAutoFit/>
          </a:bodyPr>
          <a:lstStyle/>
          <a:p>
            <a:r>
              <a:rPr sz="1000" u="none">
                <a:hlinkClick r:id="rId3"/>
              </a:rPr>
              <a:t>More icons available in the SlideDeck AI repository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Navigating the Minefield: Major Ethical Dilemmas in AI</a:t>
            </a:r>
          </a:p>
        </p:txBody>
      </p:sp>
      <p:sp>
        <p:nvSpPr>
          <p:cNvPr id="3" name="Content Placeholder 2"/>
          <p:cNvSpPr>
            <a:spLocks noGrp="1"/>
          </p:cNvSpPr>
          <p:nvPr>
            <p:ph idx="1"/>
          </p:nvPr>
        </p:nvSpPr>
        <p:spPr/>
        <p:txBody>
          <a:bodyPr/>
          <a:lstStyle/>
          <a:p>
            <a:r>
              <a:rPr i="1"/>
              <a:t>Algorithmic Bias:</a:t>
            </a:r>
            <a:r>
              <a:t> AI systems can perpetuate and amplify existing societal biases present in their training data, leading to discriminatory outcomes.</a:t>
            </a:r>
          </a:p>
          <a:p>
            <a:pPr lvl="1"/>
            <a:r>
              <a:rPr b="1"/>
              <a:t>Example:</a:t>
            </a:r>
            <a:r>
              <a:t> Facial recognition systems showing significantly higher error rates for women and people of color compared to white men, leading to wrongful arrests or misidentification.</a:t>
            </a:r>
          </a:p>
          <a:p>
            <a:pPr/>
            <a:r>
              <a:rPr i="1"/>
              <a:t>Privacy Infringement:</a:t>
            </a:r>
            <a:r>
              <a:t> Extensive data collection, analysis, and inference by AI can compromise individual privacy, leading to surveillance concerns and potential misuse of personal information.</a:t>
            </a:r>
          </a:p>
          <a:p>
            <a:pPr/>
            <a:r>
              <a:rPr i="1"/>
              <a:t>Autonomy and Control:</a:t>
            </a:r>
            <a:r>
              <a:t> Questions arise regarding human agency and control when AI makes critical decisions, particularly in autonomous systems like self-driving cars or lethal autonomous weapons.</a:t>
            </a:r>
          </a:p>
          <a:p>
            <a:pPr/>
            <a:r>
              <a:rPr i="1"/>
              <a:t>Job Displacement and Economic Inequality:</a:t>
            </a:r>
            <a:r>
              <a:t> AI automation can lead to significant shifts in the labor market, raising concerns about widespread job losses and the equitable distribution of AI's economic benefits.</a:t>
            </a:r>
          </a:p>
          <a:p>
            <a:pPr/>
            <a:r>
              <a:rPr i="1"/>
              <a:t>Misinformation and Manipulation:</a:t>
            </a:r>
            <a:r>
              <a:t> AI-generated content (e.g., deepfakes, sophisticated chatbots) can be used to spread false information, manipulate public opinion, and erode trust in media and institutions.</a:t>
            </a:r>
          </a:p>
        </p:txBody>
      </p:sp>
      <p:sp>
        <p:nvSpPr>
          <p:cNvPr id="4" name="Rounded Rectangle 3"/>
          <p:cNvSpPr/>
          <p:nvPr/>
        </p:nvSpPr>
        <p:spPr>
          <a:xfrm>
            <a:off x="3445565" y="5303520"/>
            <a:ext cx="5300869" cy="146304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The rapid advancement of AI introduces complex ethical challenges that require proactive and thoughtful solutions to prevent societal harm and ensure responsible innovation.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Addressing Algorithmic Bias: Strategies for Fairer AI Systems</a:t>
            </a:r>
          </a:p>
        </p:txBody>
      </p:sp>
      <p:sp>
        <p:nvSpPr>
          <p:cNvPr id="3" name="Content Placeholder 2"/>
          <p:cNvSpPr>
            <a:spLocks noGrp="1"/>
          </p:cNvSpPr>
          <p:nvPr>
            <p:ph idx="1"/>
          </p:nvPr>
        </p:nvSpPr>
        <p:spPr/>
        <p:txBody>
          <a:bodyPr/>
          <a:lstStyle/>
          <a:p>
            <a:r>
              <a:rPr i="1"/>
              <a:t>Understanding Bias Sources:</a:t>
            </a:r>
            <a:r>
              <a:t> Bias can originate from various stages: data collection (unrepresentative or skewed samples), algorithmic design (flawed assumptions or proxies), or deployment context (how the AI interacts with users).</a:t>
            </a:r>
          </a:p>
          <a:p>
            <a:pPr/>
            <a:r>
              <a:rPr i="1"/>
              <a:t>Data Pre-processing Techniques:</a:t>
            </a:r>
            <a:r>
              <a:t> Methods to identify and correct biases within training data before model development begins.</a:t>
            </a:r>
          </a:p>
          <a:p>
            <a:pPr lvl="1"/>
            <a:r>
              <a:rPr b="1"/>
              <a:t>Example:</a:t>
            </a:r>
            <a:r>
              <a:t> Oversampling underrepresented groups in a dataset or re-weighting data points to achieve demographic parity, ensuring the model learns from a balanced representation.</a:t>
            </a:r>
          </a:p>
          <a:p>
            <a:pPr/>
            <a:r>
              <a:rPr i="1"/>
              <a:t>Algorithmic Interventions:</a:t>
            </a:r>
            <a:r>
              <a:t> Designing or modifying algorithms to explicitly incorporate fairness constraints or regularizers during the training process.</a:t>
            </a:r>
          </a:p>
          <a:p>
            <a:pPr lvl="1"/>
            <a:r>
              <a:rPr b="1"/>
              <a:t>Example:</a:t>
            </a:r>
            <a:r>
              <a:t> Using fairness-aware machine learning models that optimize for both predictive accuracy and specific non-discrimination metrics, such as 'equalized odds' or 'demographic parity'.</a:t>
            </a:r>
          </a:p>
          <a:p>
            <a:pPr/>
            <a:r>
              <a:rPr i="1"/>
              <a:t>Post-processing Techniques:</a:t>
            </a:r>
            <a:r>
              <a:t> Adjusting the outputs or predictions of a trained model to achieve desired fairness criteria without retraining the entire model.</a:t>
            </a:r>
          </a:p>
          <a:p>
            <a:pPr/>
            <a:r>
              <a:rPr i="1"/>
              <a:t>Continuous Monitoring and Auditing:</a:t>
            </a:r>
            <a:r>
              <a:t> Regularly evaluating deployed AI systems for emergent biases, performance disparities across different demographic groups, and unintended consequences, with mechanisms for recalibration.</a:t>
            </a:r>
          </a:p>
        </p:txBody>
      </p:sp>
      <p:sp>
        <p:nvSpPr>
          <p:cNvPr id="4" name="Rounded Rectangle 3"/>
          <p:cNvSpPr/>
          <p:nvPr/>
        </p:nvSpPr>
        <p:spPr>
          <a:xfrm>
            <a:off x="3445565" y="5303520"/>
            <a:ext cx="5300869" cy="146304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Proactive and multi-faceted strategies are essential to identify, reduce, and continuously monitor algorithmic bias throughout the AI lifecycle, ensuring equitable and just outcomes.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Unveiling the Black Box: The Need for Transparent and Explainable AI (XAI)</a:t>
            </a:r>
          </a:p>
        </p:txBody>
      </p:sp>
      <p:sp>
        <p:nvSpPr>
          <p:cNvPr id="3" name="Content Placeholder 2"/>
          <p:cNvSpPr>
            <a:spLocks noGrp="1"/>
          </p:cNvSpPr>
          <p:nvPr>
            <p:ph idx="1"/>
          </p:nvPr>
        </p:nvSpPr>
        <p:spPr/>
        <p:txBody>
          <a:bodyPr/>
          <a:lstStyle/>
          <a:p>
            <a:r>
              <a:rPr i="1"/>
              <a:t>Building Trust and Acceptance:</a:t>
            </a:r>
            <a:r>
              <a:t> Users are more likely to trust and adopt AI systems if they understand how decisions are made, especially in critical applications like healthcare or finance.</a:t>
            </a:r>
          </a:p>
          <a:p>
            <a:pPr/>
            <a:r>
              <a:rPr i="1"/>
              <a:t>Accountability and Debugging:</a:t>
            </a:r>
            <a:r>
              <a:t> Explainability helps identify errors, biases, and vulnerabilities within AI models, making them easier to debug, improve, and hold accountable.</a:t>
            </a:r>
          </a:p>
          <a:p>
            <a:pPr/>
            <a:r>
              <a:rPr i="1"/>
              <a:t>Regulatory Compliance:</a:t>
            </a:r>
            <a:r>
              <a:t> Emerging regulations (e.g., GDPR's 'right to explanation') increasingly necessitate AI systems that can provide clear, understandable justifications for their outputs.</a:t>
            </a:r>
          </a:p>
          <a:p>
            <a:pPr/>
            <a:r>
              <a:rPr i="1"/>
              <a:t>Methods for Achieving XAI:</a:t>
            </a:r>
            <a:r>
              <a:t> Approaches vary depending on the complexity of the AI model and the desired level of explanation.</a:t>
            </a:r>
          </a:p>
          <a:p>
            <a:pPr lvl="1"/>
            <a:r>
              <a:rPr i="1"/>
              <a:t>Intrinsic Explainability:</a:t>
            </a:r>
            <a:r>
              <a:t> Using inherently interpretable models like decision trees, linear regression, or rule-based systems where the logic is transparent by design.</a:t>
            </a:r>
          </a:p>
          <a:p>
            <a:pPr lvl="1"/>
            <a:r>
              <a:rPr i="1"/>
              <a:t>Post-hoc Explainability:</a:t>
            </a:r>
            <a:r>
              <a:t> Applying techniques to complex 'black box' models (e.g., deep neural networks) to generate explanations after they have been trained. These can include:</a:t>
            </a:r>
          </a:p>
          <a:p>
            <a:pPr lvl="1"/>
            <a:r>
              <a:rPr b="1"/>
              <a:t>Example:</a:t>
            </a:r>
            <a:r>
              <a:t> LIME (Local Interpretable Model-agnostic Explanations) or SHAP (SHapley Additive exPlanations) which provide insights into which input features contributed most to an individual prediction.</a:t>
            </a:r>
          </a:p>
        </p:txBody>
      </p:sp>
      <p:sp>
        <p:nvSpPr>
          <p:cNvPr id="4" name="Rounded Rectangle 3"/>
          <p:cNvSpPr/>
          <p:nvPr/>
        </p:nvSpPr>
        <p:spPr>
          <a:xfrm>
            <a:off x="3445565" y="5303520"/>
            <a:ext cx="5300869" cy="146304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Transparency and explainability are vital for fostering trust, ensuring accountability, enabling effective governance, and debugging complex AI systems, moving beyond opaque 'black box' operations.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Establishing Responsibility: A Framework for AI Accountability</a:t>
            </a:r>
          </a:p>
        </p:txBody>
      </p:sp>
      <p:sp>
        <p:nvSpPr>
          <p:cNvPr id="3" name="Picture Placeholder 2"/>
          <p:cNvSpPr>
            <a:spLocks noGrp="1"/>
          </p:cNvSpPr>
          <p:nvPr>
            <p:ph type="pic" idx="1"/>
          </p:nvPr>
        </p:nvSpPr>
        <p:spPr/>
      </p:sp>
      <p:sp>
        <p:nvSpPr>
          <p:cNvPr id="4" name="Text Placeholder 3"/>
          <p:cNvSpPr>
            <a:spLocks noGrp="1"/>
          </p:cNvSpPr>
          <p:nvPr>
            <p:ph type="body" idx="2" sz="half"/>
          </p:nvPr>
        </p:nvSpPr>
        <p:spPr/>
        <p:txBody>
          <a:bodyPr/>
          <a:lstStyle/>
          <a:p>
            <a:r>
              <a:rPr i="1"/>
              <a:t>Identify Stakeholders:</a:t>
            </a:r>
            <a:r>
              <a:t> Clearly define all parties involved in the AI system's lifecycle, including developers, deployers, operators, end-users, and potentially affected communities.</a:t>
            </a:r>
          </a:p>
          <a:p>
            <a:pPr/>
            <a:r>
              <a:rPr i="1"/>
              <a:t>Define Roles and Responsibilities:</a:t>
            </a:r>
            <a:r>
              <a:t> Assign specific ethical, legal, and operational responsibilities to each stakeholder for different stages of the AI lifecycle (design, development, testing, deployment, monitoring, maintenance).</a:t>
            </a:r>
          </a:p>
          <a:p>
            <a:pPr/>
            <a:r>
              <a:rPr i="1"/>
              <a:t>Implement Governance Structures:</a:t>
            </a:r>
            <a:r>
              <a:t> Establish internal policies, ethical review boards, and external oversight mechanisms (e.g., independent auditors) to guide AI development and use, ensuring adherence to principles.</a:t>
            </a:r>
          </a:p>
          <a:p>
            <a:pPr/>
            <a:r>
              <a:rPr i="1"/>
              <a:t>Develop Redress Mechanisms:</a:t>
            </a:r>
            <a:r>
              <a:t> Create clear, accessible processes for individuals to challenge AI decisions, seek explanations, and obtain remedies or compensation for harm caused by AI systems.</a:t>
            </a:r>
          </a:p>
          <a:p>
            <a:pPr lvl="1"/>
            <a:r>
              <a:rPr b="1"/>
              <a:t>Example:</a:t>
            </a:r>
            <a:r>
              <a:t> A financial institution using an AI for credit scoring must have a transparent process for applicants to appeal a denied loan decision and receive a human review and explanation.</a:t>
            </a:r>
          </a:p>
          <a:p>
            <a:pPr/>
            <a:r>
              <a:rPr i="1"/>
              <a:t>Conduct Regular Audits and Impact Assessments:</a:t>
            </a:r>
            <a:r>
              <a:t> Periodically evaluate AI systems for ethical compliance, performance, societal impact, and adherence to established responsibilities, adjusting as needed.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Global Approaches to AI Governance: A Comparative Overview</a:t>
            </a:r>
          </a:p>
        </p:txBody>
      </p:sp>
      <p:sp>
        <p:nvSpPr>
          <p:cNvPr id="3" name="Content Placeholder 2"/>
          <p:cNvSpPr>
            <a:spLocks noGrp="1"/>
          </p:cNvSpPr>
          <p:nvPr>
            <p:ph idx="1"/>
          </p:nvPr>
        </p:nvSpPr>
        <p:spPr/>
        <p:txBody>
          <a:bodyPr/>
          <a:lstStyle/>
          <a:p/>
        </p:txBody>
      </p:sp>
      <p:graphicFrame>
        <p:nvGraphicFramePr>
          <p:cNvPr id="4" name="Table 3"/>
          <p:cNvGraphicFramePr>
            <a:graphicFrameLocks noGrp="1"/>
          </p:cNvGraphicFramePr>
          <p:nvPr/>
        </p:nvGraphicFramePr>
        <p:xfrm>
          <a:off x="838200" y="1825625"/>
          <a:ext cx="10515600" cy="4351338"/>
        </p:xfrm>
        <a:graphic>
          <a:graphicData uri="http://schemas.openxmlformats.org/drawingml/2006/table">
            <a:tbl>
              <a:tblPr firstRow="1" bandRow="1">
                <a:tableStyleId>{5C22544A-7EE6-4342-B048-85BDC9FD1C3A}</a:tableStyleId>
              </a:tblPr>
              <a:tblGrid>
                <a:gridCol w="3505200"/>
                <a:gridCol w="3505200"/>
                <a:gridCol w="3505200"/>
              </a:tblGrid>
              <a:tr h="725223">
                <a:tc>
                  <a:txBody>
                    <a:bodyPr/>
                    <a:lstStyle/>
                    <a:p>
                      <a:pPr>
                        <a:defRPr b="1"/>
                      </a:pPr>
                      <a:r>
                        <a:t>Approach</a:t>
                      </a:r>
                    </a:p>
                  </a:txBody>
                  <a:tcPr/>
                </a:tc>
                <a:tc>
                  <a:txBody>
                    <a:bodyPr/>
                    <a:lstStyle/>
                    <a:p>
                      <a:pPr>
                        <a:defRPr b="1"/>
                      </a:pPr>
                      <a:r>
                        <a:t>Key Characteristics</a:t>
                      </a:r>
                    </a:p>
                  </a:txBody>
                  <a:tcPr/>
                </a:tc>
                <a:tc>
                  <a:txBody>
                    <a:bodyPr/>
                    <a:lstStyle/>
                    <a:p>
                      <a:pPr>
                        <a:defRPr b="1"/>
                      </a:pPr>
                      <a:r>
                        <a:t>Examples/Regions</a:t>
                      </a:r>
                    </a:p>
                  </a:txBody>
                  <a:tcPr/>
                </a:tc>
              </a:tr>
              <a:tr h="725223">
                <a:tc>
                  <a:txBody>
                    <a:bodyPr/>
                    <a:lstStyle/>
                    <a:p>
                      <a:r>
                        <a:t>Principles-Based</a:t>
                      </a:r>
                    </a:p>
                  </a:txBody>
                  <a:tcPr/>
                </a:tc>
                <a:tc>
                  <a:txBody>
                    <a:bodyPr/>
                    <a:lstStyle/>
                    <a:p>
                      <a:r>
                        <a:t>Focus on high-level ethical guidelines and values; often non-binding recommendations.</a:t>
                      </a:r>
                    </a:p>
                  </a:txBody>
                  <a:tcPr/>
                </a:tc>
                <a:tc>
                  <a:txBody>
                    <a:bodyPr/>
                    <a:lstStyle/>
                    <a:p>
                      <a:r>
                        <a:t>EU Ethics Guidelines for Trustworthy AI, OECD AI Principles, UNESCO Recommendation on the Ethics of AI</a:t>
                      </a:r>
                    </a:p>
                  </a:txBody>
                  <a:tcPr/>
                </a:tc>
              </a:tr>
              <a:tr h="725223">
                <a:tc>
                  <a:txBody>
                    <a:bodyPr/>
                    <a:lstStyle/>
                    <a:p>
                      <a:r>
                        <a:t>Sector-Specific</a:t>
                      </a:r>
                    </a:p>
                  </a:txBody>
                  <a:tcPr/>
                </a:tc>
                <a:tc>
                  <a:txBody>
                    <a:bodyPr/>
                    <a:lstStyle/>
                    <a:p>
                      <a:r>
                        <a:t>Regulations tailored to particular industries or applications where AI poses unique risks (e.g., healthcare, finance, autonomous vehicles).</a:t>
                      </a:r>
                    </a:p>
                  </a:txBody>
                  <a:tcPr/>
                </a:tc>
                <a:tc>
                  <a:txBody>
                    <a:bodyPr/>
                    <a:lstStyle/>
                    <a:p>
                      <a:r>
                        <a:t>FDA guidance for AI in medical devices (USA), financial regulatory bodies' AI guidelines</a:t>
                      </a:r>
                    </a:p>
                  </a:txBody>
                  <a:tcPr/>
                </a:tc>
              </a:tr>
              <a:tr h="725223">
                <a:tc>
                  <a:txBody>
                    <a:bodyPr/>
                    <a:lstStyle/>
                    <a:p>
                      <a:r>
                        <a:t>Risk-Based</a:t>
                      </a:r>
                    </a:p>
                  </a:txBody>
                  <a:tcPr/>
                </a:tc>
                <a:tc>
                  <a:txBody>
                    <a:bodyPr/>
                    <a:lstStyle/>
                    <a:p>
                      <a:r>
                        <a:t>Regulation intensity scales with the perceived risk level of the AI application, categorizing AI systems by potential harm.</a:t>
                      </a:r>
                    </a:p>
                  </a:txBody>
                  <a:tcPr/>
                </a:tc>
                <a:tc>
                  <a:txBody>
                    <a:bodyPr/>
                    <a:lstStyle/>
                    <a:p>
                      <a:r>
                        <a:t>EU AI Act (proposed), NIST AI Risk Management Framework (USA)</a:t>
                      </a:r>
                    </a:p>
                  </a:txBody>
                  <a:tcPr/>
                </a:tc>
              </a:tr>
              <a:tr h="725223">
                <a:tc>
                  <a:txBody>
                    <a:bodyPr/>
                    <a:lstStyle/>
                    <a:p>
                      <a:r>
                        <a:t>Self-Regulation/Industry Standards</a:t>
                      </a:r>
                    </a:p>
                  </a:txBody>
                  <a:tcPr/>
                </a:tc>
                <a:tc>
                  <a:txBody>
                    <a:bodyPr/>
                    <a:lstStyle/>
                    <a:p>
                      <a:r>
                        <a:t>Industry-led initiatives, best practices, and voluntary codes of conduct developed by companies or consortia.</a:t>
                      </a:r>
                    </a:p>
                  </a:txBody>
                  <a:tcPr/>
                </a:tc>
                <a:tc>
                  <a:txBody>
                    <a:bodyPr/>
                    <a:lstStyle/>
                    <a:p>
                      <a:r>
                        <a:t>Partnership on AI, various industry consortia (e.g., for autonomous driving standards)</a:t>
                      </a:r>
                    </a:p>
                  </a:txBody>
                  <a:tcPr/>
                </a:tc>
              </a:tr>
              <a:tr h="725223">
                <a:tc>
                  <a:txBody>
                    <a:bodyPr/>
                    <a:lstStyle/>
                    <a:p>
                      <a:r>
                        <a:t>Rights-Based</a:t>
                      </a:r>
                    </a:p>
                  </a:txBody>
                  <a:tcPr/>
                </a:tc>
                <a:tc>
                  <a:txBody>
                    <a:bodyPr/>
                    <a:lstStyle/>
                    <a:p>
                      <a:r>
                        <a:t>Emphasizes human rights as the foundational framework for AI regulation, protecting individual freedoms and dignity.</a:t>
                      </a:r>
                    </a:p>
                  </a:txBody>
                  <a:tcPr/>
                </a:tc>
                <a:tc>
                  <a:txBody>
                    <a:bodyPr/>
                    <a:lstStyle/>
                    <a:p>
                      <a:r>
                        <a:t>UN initiatives, civil society advocacy groups, some national AI strategies</a:t>
                      </a:r>
                    </a:p>
                  </a:txBody>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Dual Nature of AI: Opportunities and Ethical Perils</a:t>
            </a:r>
          </a:p>
        </p:txBody>
      </p:sp>
      <p:sp>
        <p:nvSpPr>
          <p:cNvPr id="3" name="Text Placeholder 2"/>
          <p:cNvSpPr>
            <a:spLocks noGrp="1"/>
          </p:cNvSpPr>
          <p:nvPr>
            <p:ph type="body" idx="1"/>
          </p:nvPr>
        </p:nvSpPr>
        <p:spPr/>
        <p:txBody>
          <a:bodyPr/>
          <a:lstStyle/>
          <a:p>
            <a:r>
              <a:t>Transformative Benefits</a:t>
            </a:r>
          </a:p>
        </p:txBody>
      </p:sp>
      <p:sp>
        <p:nvSpPr>
          <p:cNvPr id="4" name="Content Placeholder 3"/>
          <p:cNvSpPr>
            <a:spLocks noGrp="1"/>
          </p:cNvSpPr>
          <p:nvPr>
            <p:ph idx="2" sz="half"/>
          </p:nvPr>
        </p:nvSpPr>
        <p:spPr/>
        <p:txBody>
          <a:bodyPr/>
          <a:lstStyle/>
          <a:p>
            <a:r>
              <a:rPr i="1"/>
              <a:t>Enhanced Efficiency &amp; Productivity:</a:t>
            </a:r>
            <a:r>
              <a:t> Automating repetitive tasks, optimizing complex processes across industries from manufacturing to logistics.</a:t>
            </a:r>
          </a:p>
          <a:p>
            <a:pPr/>
            <a:r>
              <a:rPr i="1"/>
              <a:t>Innovation &amp; Scientific Discovery:</a:t>
            </a:r>
            <a:r>
              <a:t> Accelerating research in medicine (drug discovery), materials science, climate modeling, and space exploration.</a:t>
            </a:r>
          </a:p>
          <a:p>
            <a:pPr/>
            <a:r>
              <a:rPr i="1"/>
              <a:t>Improved Quality of Life:</a:t>
            </a:r>
            <a:r>
              <a:t> Personalization of services, accessibility tools for people with disabilities, smart cities, and predictive healthcare diagnostics.</a:t>
            </a:r>
          </a:p>
          <a:p>
            <a:pPr/>
            <a:r>
              <a:rPr i="1"/>
              <a:t>Economic Growth &amp; New Industries:</a:t>
            </a:r>
            <a:r>
              <a:t> Creating entirely new sectors, jobs, and driving significant economic value through AI-powered products and services.</a:t>
            </a:r>
          </a:p>
        </p:txBody>
      </p:sp>
      <p:sp>
        <p:nvSpPr>
          <p:cNvPr id="5" name="Text Placeholder 4"/>
          <p:cNvSpPr>
            <a:spLocks noGrp="1"/>
          </p:cNvSpPr>
          <p:nvPr>
            <p:ph type="body" idx="3" sz="quarter"/>
          </p:nvPr>
        </p:nvSpPr>
        <p:spPr/>
        <p:txBody>
          <a:bodyPr/>
          <a:lstStyle/>
          <a:p>
            <a:r>
              <a:t>Significant Ethical Risks</a:t>
            </a:r>
          </a:p>
        </p:txBody>
      </p:sp>
      <p:sp>
        <p:nvSpPr>
          <p:cNvPr id="6" name="Content Placeholder 5"/>
          <p:cNvSpPr>
            <a:spLocks noGrp="1"/>
          </p:cNvSpPr>
          <p:nvPr>
            <p:ph idx="4" sz="quarter"/>
          </p:nvPr>
        </p:nvSpPr>
        <p:spPr/>
        <p:txBody>
          <a:bodyPr/>
          <a:lstStyle/>
          <a:p>
            <a:r>
              <a:rPr i="1"/>
              <a:t>Bias &amp; Discrimination:</a:t>
            </a:r>
            <a:r>
              <a:t> Perpetuating and amplifying societal inequalities through biased algorithms and data, leading to unfair outcomes.</a:t>
            </a:r>
          </a:p>
          <a:p>
            <a:pPr/>
            <a:r>
              <a:rPr i="1"/>
              <a:t>Privacy Erosion &amp; Surveillance:</a:t>
            </a:r>
            <a:r>
              <a:t> Extensive data collection and analysis can lead to loss of individual privacy, mass surveillance, and potential misuse of personal information.</a:t>
            </a:r>
          </a:p>
          <a:p>
            <a:pPr/>
            <a:r>
              <a:rPr i="1"/>
              <a:t>Job Displacement &amp; Economic Disruption:</a:t>
            </a:r>
            <a:r>
              <a:t> Potential for widespread unemployment in certain sectors and exacerbation of economic inequality due to AI automation.</a:t>
            </a:r>
          </a:p>
          <a:p>
            <a:pPr/>
            <a:r>
              <a:rPr i="1"/>
              <a:t>Autonomous Weapons Systems:</a:t>
            </a:r>
            <a:r>
              <a:t> Ethical concerns regarding the delegation of lethal decision-making to machines, raising questions about accountability and humanity.</a:t>
            </a:r>
          </a:p>
          <a:p>
            <a:pPr/>
            <a:r>
              <a:rPr i="1"/>
              <a:t>Misinformation &amp; Manipulation:</a:t>
            </a:r>
            <a:r>
              <a:t> The creation and dissemination of convincing fake content (deepfakes) and sophisticated propaganda, threatening democratic processes and public trust.</a:t>
            </a:r>
          </a:p>
        </p:txBody>
      </p:sp>
      <p:sp>
        <p:nvSpPr>
          <p:cNvPr id="7" name="Rounded Rectangle 6"/>
          <p:cNvSpPr/>
          <p:nvPr/>
        </p:nvSpPr>
        <p:spPr>
          <a:xfrm>
            <a:off x="3445565" y="5303520"/>
            <a:ext cx="5300869" cy="146304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Harnessing AI's immense potential requires a vigilant and proactive approach to mitigate its inherent ethical risks, ensuring a net positive impact on society and human well-being.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From Principles to Practice: A Roadmap for Ethical AI Development</a:t>
            </a:r>
          </a:p>
        </p:txBody>
      </p:sp>
      <p:sp>
        <p:nvSpPr>
          <p:cNvPr id="3" name="Content Placeholder 2"/>
          <p:cNvSpPr>
            <a:spLocks noGrp="1"/>
          </p:cNvSpPr>
          <p:nvPr>
            <p:ph idx="1"/>
          </p:nvPr>
        </p:nvSpPr>
        <p:spPr/>
        <p:txBody>
          <a:bodyPr/>
          <a:lstStyle/>
          <a:p>
            <a:r>
              <a:rPr i="1"/>
              <a:t>Integrate Ethics by Design:</a:t>
            </a:r>
            <a:r>
              <a:t> Embed ethical considerations from the initial conceptualization and design phase of any AI project, rather than treating them as an afterthought.</a:t>
            </a:r>
          </a:p>
          <a:p>
            <a:pPr lvl="1"/>
            <a:r>
              <a:rPr b="1"/>
              <a:t>Example:</a:t>
            </a:r>
            <a:r>
              <a:t> Conducting an 'Ethical Impact Assessment' or 'Privacy by Design' analysis before starting a new AI system development.</a:t>
            </a:r>
          </a:p>
          <a:p>
            <a:pPr/>
            <a:r>
              <a:rPr i="1"/>
              <a:t>Foster Diverse and Representative Teams:</a:t>
            </a:r>
            <a:r>
              <a:t> Encourage diversity in AI development teams (gender, ethnicity, background, discipline) to bring varied perspectives and identify potential biases early.</a:t>
            </a:r>
          </a:p>
          <a:p>
            <a:pPr/>
            <a:r>
              <a:rPr i="1"/>
              <a:t>Implement Robust Data Governance:</a:t>
            </a:r>
            <a:r>
              <a:t> Establish strict policies and practices for data collection, storage, usage, anonymization, and deletion to protect privacy and ensure data quality and representativeness.</a:t>
            </a:r>
          </a:p>
          <a:p>
            <a:pPr/>
            <a:r>
              <a:rPr i="1"/>
              <a:t>Continuous Testing and Validation:</a:t>
            </a:r>
            <a:r>
              <a:t> Rigorously test AI models for fairness, robustness, security, and performance across different demographic groups and use cases throughout their lifecycle.</a:t>
            </a:r>
          </a:p>
          <a:p>
            <a:pPr/>
            <a:r>
              <a:rPr i="1"/>
              <a:t>Engage Stakeholders Broadly:</a:t>
            </a:r>
            <a:r>
              <a:t> Involve ethicists, legal experts, social scientists, policymakers, and affected communities throughout the development process to gather diverse insights and feedback.</a:t>
            </a:r>
          </a:p>
          <a:p>
            <a:pPr/>
            <a:r>
              <a:rPr i="1"/>
              <a:t>Provide Education and Training:</a:t>
            </a:r>
            <a:r>
              <a:t> Offer ongoing ethical AI training and awareness programs for developers, product managers, decision-makers, and all personnel involved in AI systems.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Shaping a Responsible Future: Key Takeaways for AI Ethics</a:t>
            </a:r>
          </a:p>
        </p:txBody>
      </p:sp>
      <p:sp>
        <p:nvSpPr>
          <p:cNvPr id="3" name="Content Placeholder 2"/>
          <p:cNvSpPr>
            <a:spLocks noGrp="1"/>
          </p:cNvSpPr>
          <p:nvPr>
            <p:ph idx="1"/>
          </p:nvPr>
        </p:nvSpPr>
        <p:spPr/>
        <p:txBody>
          <a:bodyPr/>
          <a:lstStyle/>
          <a:p>
            <a:r>
              <a:rPr i="1"/>
              <a:t>AI Ethics is Non-Negotiable:</a:t>
            </a:r>
            <a:r>
              <a:t> It is fundamental for building public trust, preventing harm, and ensuring that AI serves humanity's best interests.</a:t>
            </a:r>
          </a:p>
          <a:p>
            <a:pPr/>
            <a:r>
              <a:rPr i="1"/>
              <a:t>Multi-faceted Challenges:</a:t>
            </a:r>
            <a:r>
              <a:t> Addressing AI ethics requires comprehensive strategies to tackle issues like bias, privacy, accountability, and societal impact.</a:t>
            </a:r>
          </a:p>
          <a:p>
            <a:pPr/>
            <a:r>
              <a:rPr i="1"/>
              <a:t>Proactive &amp; Collaborative Approach:</a:t>
            </a:r>
            <a:r>
              <a:t> Ethical AI demands integration into design, continuous monitoring, and collaboration across disciplines, sectors, and international borders.</a:t>
            </a:r>
          </a:p>
          <a:p>
            <a:pPr/>
            <a:r>
              <a:rPr i="1"/>
              <a:t>Human-Centric Design:</a:t>
            </a:r>
            <a:r>
              <a:t> Always prioritize human values, oversight, and well-being in the development and deployment of all AI systems.</a:t>
            </a:r>
          </a:p>
          <a:p>
            <a:pPr/>
            <a:r>
              <a:rPr i="1"/>
              <a:t>Call to Action:</a:t>
            </a:r>
            <a:r>
              <a:t> Engage in the ongoing dialogue, advocate for responsible AI policies, and commit to ethical practices in your own work and organizations to shape a positive AI future.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Thank you!</a:t>
            </a:r>
          </a:p>
        </p:txBody>
      </p:sp>
      <p:sp>
        <p:nvSpPr>
          <p:cNvPr id="3" name="Subtitle 2"/>
          <p:cNvSpPr>
            <a:spLocks noGrp="1"/>
          </p:cNvSpPr>
          <p:nvPr>
            <p:ph type="subTitle" idx="1"/>
          </p:nvPr>
        </p:nvSpPr>
        <p:spPr/>
        <p:txBody>
          <a:bodyPr/>
          <a:lstStyle/>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57</TotalTime>
  <Words>0</Words>
  <Application>Microsoft Office PowerPoint</Application>
  <PresentationFormat>Widescreen</PresentationFormat>
  <Paragraphs>0</Paragraphs>
  <Slides>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0</vt:i4>
      </vt:variant>
    </vt:vector>
  </HeadingPairs>
  <TitlesOfParts>
    <vt:vector size="4" baseType="lpstr">
      <vt:lpstr>Arial</vt:lpstr>
      <vt:lpstr>Calibri</vt:lpstr>
      <vt:lpstr>Calibri Light</vt:lpstr>
      <vt:lpstr>Office Theme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Barun Saha</dc:creator>
  <cp:lastModifiedBy>Barun Saha</cp:lastModifiedBy>
  <cp:revision>6</cp:revision>
  <dcterms:created xsi:type="dcterms:W3CDTF">2023-08-26T17:51:03Z</dcterms:created>
  <dcterms:modified xsi:type="dcterms:W3CDTF">2024-04-27T13:52:58Z</dcterms:modified>
</cp:coreProperties>
</file>